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483D4-8435-4D04-8609-C66EE9E10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0006B-E1B3-4263-9BCA-033F54013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245ED3-0FBE-48E3-8240-10D38925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44DB3A-7C11-4061-A6FE-C8DDF675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B02457-B9BA-40B7-9E4A-62546A7F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600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A4355-727A-45A4-9585-64046381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F7AC52-D1A0-4230-90EA-DE420191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D64D6A-0446-44C9-9300-8720939D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7D5504-DAF9-4668-A0CD-DB72F760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5AFD25-6D45-459E-9685-C0C4EF78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276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96DBF-56D0-4C40-A3E4-95E94A248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77BDE7-A1BD-4BCA-8F51-54DBC188B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039F7D-B51D-48DE-A1A5-C185C38A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F5E5C0-E605-4C76-8502-377B6260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855117-88AC-443A-B42B-EEF7F75C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447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21483-AF0D-44C8-83F7-5332AE56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500044-05DB-4555-8CF1-222B961B0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5A94D-A85F-465F-8784-928E6730F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90E948-39D3-47C6-9FF9-DD138091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FD67BD-59C0-44B0-ABA8-15FBBFA3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387336-731C-4A85-ACF4-79309737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528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3480B-1D0A-4B8F-B461-8CBA6C83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2D0CDE-7599-48B6-98AD-EC86D9FFF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DF73E2-C14E-4AF4-9EBC-AB91A3FD8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AE7539-4430-4AA6-84FA-084B60C7D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6E927-8DD9-4641-8021-4643E40EB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C99F24-1CFC-42AA-8209-EFDE6B5A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582E01-D766-4171-A2B2-E68474F1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13F42C-80AC-44F5-BEAF-59E33E5F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45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D6471-B1C8-4763-AAA0-8FDB519D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374994-2177-419C-9508-93D32209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A3C601-E0C0-45E1-95EE-CF20EC01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0F01F5-56B8-4AFF-9A29-39BEA386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762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A6F7D2-71DC-4BA3-95BF-99BAA0D7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9A9A55-99D4-437B-ACDA-AC4137C9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5321B5-AA5C-42BD-A257-C245C5D0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252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D521E-B6AD-43D3-92AA-6379CAD0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25A91B-B2C7-4BC1-8A58-62F4DFC7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9D56EE-CFBD-4E18-8BBE-E9F8A4AB6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5D5E-C40C-4D84-A2AC-22611DEE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9FC4F7-5B5F-4BAE-A682-BDBFC558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93F10D-7F8F-48D4-A546-97818CD8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709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6CAB6-90C7-4D59-BC9F-24B50A8C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DECB53-999E-4912-9B13-09F29A33B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721C41-AA88-4803-9A02-DE021F45D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3FAA4B-18C6-454C-B626-9E1F218A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3C2AB9-DFD3-4F06-8A39-A29A00D8A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A82BAE-192E-402B-9049-545B94CC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698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C5634-55D7-4657-B954-98352356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661C99-5041-4502-807A-B881C3259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1AA028-1FA7-4757-97D3-84BB383C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1A1FEF-379F-4643-8335-BA8DEB00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3D329F-6EC7-4550-8C0E-D434C62A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371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A9445D-E8A3-4303-9C3D-F2E0A1CEE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F73105-833E-497D-9BEC-F74C18BD5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3F990F-1685-466A-9F18-27DB2490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49A35-1B85-4BAB-8FE7-69555EEE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A9E9AB-1BA2-4ABB-BB25-F35AD198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67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82E909-A071-4033-80CA-AF96E9AA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8DC01E-32F4-4482-B0CB-8780F300D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0FF37-E932-48E1-882F-0ED4B545B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2516-E8F9-4F97-BCA8-2C4EAE2E0AC7}" type="datetimeFigureOut">
              <a:rPr lang="es-CL" smtClean="0"/>
              <a:t>15-01-2026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32A198-B2F7-4888-8E50-0D52946D6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67D433-3820-4987-B404-BDB33C4C9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A3E26-6585-4D5F-82C3-F09AC1482D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252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C487A-14AD-454A-BD16-ADDE85505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212" y="0"/>
            <a:ext cx="10848975" cy="2387600"/>
          </a:xfrm>
        </p:spPr>
        <p:txBody>
          <a:bodyPr>
            <a:normAutofit/>
          </a:bodyPr>
          <a:lstStyle/>
          <a:p>
            <a:r>
              <a:rPr lang="en-US" dirty="0"/>
              <a:t>Statistics and Scientific Methods </a:t>
            </a:r>
            <a:br>
              <a:rPr lang="en-US" dirty="0"/>
            </a:br>
            <a:r>
              <a:rPr lang="en-US" dirty="0"/>
              <a:t>University of Oxford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AF1A8F-A8D8-456B-A675-39E3AF5D4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620" y="2960743"/>
            <a:ext cx="10766157" cy="575109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PRACTICAL 1. Scientific Method: Introduction to practical statistics using R</a:t>
            </a:r>
            <a:endParaRPr lang="es-CL" sz="28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D46F339-77E5-4C89-A239-C721010D8827}"/>
              </a:ext>
            </a:extLst>
          </p:cNvPr>
          <p:cNvSpPr/>
          <p:nvPr/>
        </p:nvSpPr>
        <p:spPr>
          <a:xfrm>
            <a:off x="5549903" y="4170304"/>
            <a:ext cx="51053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Gadugi" panose="020B0502040204020203" pitchFamily="34" charset="0"/>
                <a:ea typeface="Times New Roman" panose="02020603050405020304" pitchFamily="18" charset="0"/>
              </a:rPr>
              <a:t>- Introduction to the practical side of the course</a:t>
            </a:r>
            <a:endParaRPr lang="es-C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rgbClr val="000000"/>
                </a:solidFill>
                <a:latin typeface="Gadugi" panose="020B0502040204020203" pitchFamily="34" charset="0"/>
                <a:ea typeface="Times New Roman" panose="02020603050405020304" pitchFamily="18" charset="0"/>
              </a:rPr>
              <a:t>- Checking R: Updating R/R Studio and installing packages</a:t>
            </a:r>
            <a:endParaRPr lang="es-C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rgbClr val="000000"/>
                </a:solidFill>
                <a:latin typeface="Gadugi" panose="020B0502040204020203" pitchFamily="34" charset="0"/>
                <a:ea typeface="Times New Roman" panose="02020603050405020304" pitchFamily="18" charset="0"/>
              </a:rPr>
              <a:t>- Reproducible science</a:t>
            </a:r>
            <a:endParaRPr lang="es-C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76" name="Picture 4" descr="Why statistics is not “just maths” | Dr Sarah Marley">
            <a:extLst>
              <a:ext uri="{FF2B5EF4-FFF2-40B4-BE49-F238E27FC236}">
                <a16:creationId xmlns:a16="http://schemas.microsoft.com/office/drawing/2014/main" id="{00A3FFBE-913D-4FFF-B9E9-B78FF335A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3757009"/>
            <a:ext cx="3886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8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D3AA9A0-020B-4FA8-8F8A-B35CA6372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769158"/>
              </p:ext>
            </p:extLst>
          </p:nvPr>
        </p:nvGraphicFramePr>
        <p:xfrm>
          <a:off x="433137" y="776170"/>
          <a:ext cx="11020925" cy="54864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055099">
                  <a:extLst>
                    <a:ext uri="{9D8B030D-6E8A-4147-A177-3AD203B41FA5}">
                      <a16:colId xmlns:a16="http://schemas.microsoft.com/office/drawing/2014/main" val="865642707"/>
                    </a:ext>
                  </a:extLst>
                </a:gridCol>
                <a:gridCol w="6741364">
                  <a:extLst>
                    <a:ext uri="{9D8B030D-6E8A-4147-A177-3AD203B41FA5}">
                      <a16:colId xmlns:a16="http://schemas.microsoft.com/office/drawing/2014/main" val="3020928333"/>
                    </a:ext>
                  </a:extLst>
                </a:gridCol>
                <a:gridCol w="3224462">
                  <a:extLst>
                    <a:ext uri="{9D8B030D-6E8A-4147-A177-3AD203B41FA5}">
                      <a16:colId xmlns:a16="http://schemas.microsoft.com/office/drawing/2014/main" val="1103517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Week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Topic 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Format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1746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</a:t>
                      </a:r>
                      <a:endParaRPr lang="es-CL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Scientific method R practical (data entry etc.)</a:t>
                      </a:r>
                      <a:endParaRPr lang="es-CL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Lecture online</a:t>
                      </a:r>
                      <a:endParaRPr lang="es-CL" sz="24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Practical</a:t>
                      </a:r>
                      <a:endParaRPr lang="es-CL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61179"/>
                  </a:ext>
                </a:extLst>
              </a:tr>
              <a:tr h="214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2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Statistical inference </a:t>
                      </a:r>
                      <a:endParaRPr lang="es-CL" sz="24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 practical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Lecture online</a:t>
                      </a:r>
                      <a:endParaRPr lang="es-CL" sz="24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Practical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996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3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Probability theory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 practical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Lecture online</a:t>
                      </a:r>
                      <a:endParaRPr lang="es-CL" sz="24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Practical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047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Hypothesis testing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 practical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Lecture online</a:t>
                      </a:r>
                      <a:endParaRPr lang="es-CL" sz="24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Practical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9643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5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Analysing proportions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 practical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Lecture online</a:t>
                      </a:r>
                      <a:endParaRPr lang="es-CL" sz="24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Practical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2418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6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Contingency analysis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Chi-squared test of association: Mendelian genetics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Lecture online</a:t>
                      </a:r>
                      <a:endParaRPr lang="es-CL" sz="24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Practical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619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7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Origin of SARS-COV-2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Practical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630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8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Drop-in question session</a:t>
                      </a:r>
                      <a:endParaRPr lang="es-C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Drop-in session</a:t>
                      </a:r>
                      <a:endParaRPr lang="es-C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6244007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F9EC5C5-3D9E-4B97-9759-A3C99750A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35" y="376060"/>
            <a:ext cx="4309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s-CL" sz="20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Hilary Term: Statistical analysis using R</a:t>
            </a:r>
            <a:endParaRPr kumimoji="0" lang="en-GB" altLang="es-CL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8C1918-5566-4ECF-BF94-F7CA25020E46}"/>
              </a:ext>
            </a:extLst>
          </p:cNvPr>
          <p:cNvSpPr/>
          <p:nvPr/>
        </p:nvSpPr>
        <p:spPr>
          <a:xfrm>
            <a:off x="0" y="6728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Gadugi" panose="020B0502040204020203" pitchFamily="34" charset="0"/>
                <a:ea typeface="Times New Roman" panose="02020603050405020304" pitchFamily="18" charset="0"/>
              </a:rPr>
              <a:t>Introduction to the practical side of the course</a:t>
            </a:r>
            <a:endParaRPr lang="es-C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09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65D37-CD28-47AD-AAC5-7CE66490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Checklist</a:t>
            </a:r>
            <a:r>
              <a:rPr lang="es-ES" dirty="0"/>
              <a:t> (Do/</a:t>
            </a:r>
            <a:r>
              <a:rPr lang="es-ES" dirty="0" err="1"/>
              <a:t>Have</a:t>
            </a:r>
            <a:r>
              <a:rPr lang="es-ES" dirty="0"/>
              <a:t> I…?)</a:t>
            </a:r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C216E5-F9B5-4521-820B-B96B0287E587}"/>
              </a:ext>
            </a:extLst>
          </p:cNvPr>
          <p:cNvSpPr/>
          <p:nvPr/>
        </p:nvSpPr>
        <p:spPr>
          <a:xfrm>
            <a:off x="1162050" y="3096294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Assignment: Chapters 1 and 2  Whitlock, M.C. and Schluter, D. 2020. Analysis of Biological Data. 3rd ed.  W.H. Freeman and Co.: New York, NY.</a:t>
            </a:r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9555CF-BEF5-4F4E-9694-83E4F470D33F}"/>
              </a:ext>
            </a:extLst>
          </p:cNvPr>
          <p:cNvSpPr/>
          <p:nvPr/>
        </p:nvSpPr>
        <p:spPr>
          <a:xfrm>
            <a:off x="1162050" y="3794288"/>
            <a:ext cx="8963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Assignment:  Chapter 1 and 2 Macmillan Achieve: Homework Problems and Assignment Problems</a:t>
            </a:r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7BC525-9844-4D64-94D7-7F9E404EF6AC}"/>
              </a:ext>
            </a:extLst>
          </p:cNvPr>
          <p:cNvSpPr/>
          <p:nvPr/>
        </p:nvSpPr>
        <p:spPr>
          <a:xfrm>
            <a:off x="1162050" y="4693587"/>
            <a:ext cx="3183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 err="1"/>
              <a:t>Own</a:t>
            </a:r>
            <a:r>
              <a:rPr lang="es-CL" dirty="0"/>
              <a:t> a ‘free‐standing’ </a:t>
            </a:r>
            <a:r>
              <a:rPr lang="es-CL" dirty="0" err="1"/>
              <a:t>calculator</a:t>
            </a:r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78F7D0-3AF3-4430-AAD2-B27C3A23059B}"/>
              </a:ext>
            </a:extLst>
          </p:cNvPr>
          <p:cNvSpPr/>
          <p:nvPr/>
        </p:nvSpPr>
        <p:spPr>
          <a:xfrm>
            <a:off x="1162050" y="2400850"/>
            <a:ext cx="7945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Gadugi" panose="020B0502040204020203" pitchFamily="34" charset="0"/>
              </a:rPr>
              <a:t>W</a:t>
            </a:r>
            <a:r>
              <a:rPr lang="en-US" b="0" dirty="0">
                <a:solidFill>
                  <a:srgbClr val="000000"/>
                </a:solidFill>
                <a:effectLst/>
                <a:latin typeface="Gadugi" panose="020B0502040204020203" pitchFamily="34" charset="0"/>
              </a:rPr>
              <a:t>atch the lecture recording on “</a:t>
            </a:r>
            <a:r>
              <a:rPr lang="es-CL" dirty="0" err="1"/>
              <a:t>Statistics</a:t>
            </a:r>
            <a:r>
              <a:rPr lang="es-CL" dirty="0"/>
              <a:t> and </a:t>
            </a:r>
            <a:r>
              <a:rPr lang="es-CL" dirty="0" err="1"/>
              <a:t>Scientific</a:t>
            </a:r>
            <a:r>
              <a:rPr lang="es-CL" dirty="0"/>
              <a:t> </a:t>
            </a:r>
            <a:r>
              <a:rPr lang="es-CL" dirty="0" err="1"/>
              <a:t>Methods</a:t>
            </a:r>
            <a:r>
              <a:rPr lang="es-CL" dirty="0"/>
              <a:t>”</a:t>
            </a:r>
            <a:r>
              <a:rPr lang="en-US" b="0" dirty="0">
                <a:solidFill>
                  <a:srgbClr val="000000"/>
                </a:solidFill>
                <a:effectLst/>
                <a:latin typeface="Gadugi" panose="020B0502040204020203" pitchFamily="34" charset="0"/>
              </a:rPr>
              <a:t> by Jeri </a:t>
            </a:r>
            <a:r>
              <a:rPr lang="en-US" b="0" dirty="0" err="1">
                <a:solidFill>
                  <a:srgbClr val="000000"/>
                </a:solidFill>
                <a:effectLst/>
                <a:latin typeface="Gadugi" panose="020B0502040204020203" pitchFamily="34" charset="0"/>
              </a:rPr>
              <a:t>Wrigh</a:t>
            </a:r>
            <a:endParaRPr lang="es-CL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1688D8-59C7-4C0A-B9FC-E4F66D71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753" y="1180976"/>
            <a:ext cx="1771897" cy="235300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C9BE23D-DE09-44C0-B013-F98A093E26B6}"/>
              </a:ext>
            </a:extLst>
          </p:cNvPr>
          <p:cNvSpPr/>
          <p:nvPr/>
        </p:nvSpPr>
        <p:spPr>
          <a:xfrm>
            <a:off x="1162050" y="1730493"/>
            <a:ext cx="5100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 err="1"/>
              <a:t>Remember</a:t>
            </a:r>
            <a:r>
              <a:rPr lang="es-CL" dirty="0"/>
              <a:t> Andy </a:t>
            </a:r>
            <a:r>
              <a:rPr lang="es-CL" dirty="0" err="1"/>
              <a:t>Hector’s</a:t>
            </a:r>
            <a:r>
              <a:rPr lang="es-CL" dirty="0"/>
              <a:t> </a:t>
            </a:r>
            <a:r>
              <a:rPr lang="es-CL" dirty="0" err="1"/>
              <a:t>lectures</a:t>
            </a:r>
            <a:r>
              <a:rPr lang="es-CL" dirty="0"/>
              <a:t> </a:t>
            </a:r>
            <a:r>
              <a:rPr lang="es-CL" dirty="0" err="1"/>
              <a:t>on</a:t>
            </a:r>
            <a:r>
              <a:rPr lang="es-CL" dirty="0"/>
              <a:t> R and R Studio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EA02A3-5304-4D45-A87D-91BA657B5BE7}"/>
              </a:ext>
            </a:extLst>
          </p:cNvPr>
          <p:cNvSpPr/>
          <p:nvPr/>
        </p:nvSpPr>
        <p:spPr>
          <a:xfrm>
            <a:off x="0" y="6728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Gadugi" panose="020B0502040204020203" pitchFamily="34" charset="0"/>
                <a:ea typeface="Times New Roman" panose="02020603050405020304" pitchFamily="18" charset="0"/>
              </a:rPr>
              <a:t>Introduction to the practical side of the course</a:t>
            </a:r>
            <a:endParaRPr lang="es-C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Gráfico 11" descr="Marca de verificación">
            <a:extLst>
              <a:ext uri="{FF2B5EF4-FFF2-40B4-BE49-F238E27FC236}">
                <a16:creationId xmlns:a16="http://schemas.microsoft.com/office/drawing/2014/main" id="{9500B8A0-BAF3-47B9-B489-17B1533FE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1615414"/>
            <a:ext cx="457200" cy="457200"/>
          </a:xfrm>
          <a:prstGeom prst="rect">
            <a:avLst/>
          </a:prstGeom>
        </p:spPr>
      </p:pic>
      <p:pic>
        <p:nvPicPr>
          <p:cNvPr id="13" name="Gráfico 12" descr="Marca de verificación">
            <a:extLst>
              <a:ext uri="{FF2B5EF4-FFF2-40B4-BE49-F238E27FC236}">
                <a16:creationId xmlns:a16="http://schemas.microsoft.com/office/drawing/2014/main" id="{343827EE-D1F3-4696-BC39-7E26274A8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2356916"/>
            <a:ext cx="457200" cy="457200"/>
          </a:xfrm>
          <a:prstGeom prst="rect">
            <a:avLst/>
          </a:prstGeom>
        </p:spPr>
      </p:pic>
      <p:pic>
        <p:nvPicPr>
          <p:cNvPr id="14" name="Gráfico 13" descr="Marca de verificación">
            <a:extLst>
              <a:ext uri="{FF2B5EF4-FFF2-40B4-BE49-F238E27FC236}">
                <a16:creationId xmlns:a16="http://schemas.microsoft.com/office/drawing/2014/main" id="{6C0326AD-EDF3-4B0F-A6EA-3C3BBA27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" y="3066473"/>
            <a:ext cx="457200" cy="457200"/>
          </a:xfrm>
          <a:prstGeom prst="rect">
            <a:avLst/>
          </a:prstGeom>
        </p:spPr>
      </p:pic>
      <p:pic>
        <p:nvPicPr>
          <p:cNvPr id="15" name="Gráfico 14" descr="Marca de verificación">
            <a:extLst>
              <a:ext uri="{FF2B5EF4-FFF2-40B4-BE49-F238E27FC236}">
                <a16:creationId xmlns:a16="http://schemas.microsoft.com/office/drawing/2014/main" id="{49FA9164-D16A-40C1-99B4-765B31875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" y="3885801"/>
            <a:ext cx="457200" cy="457200"/>
          </a:xfrm>
          <a:prstGeom prst="rect">
            <a:avLst/>
          </a:prstGeom>
        </p:spPr>
      </p:pic>
      <p:pic>
        <p:nvPicPr>
          <p:cNvPr id="16" name="Gráfico 15" descr="Marca de verificación">
            <a:extLst>
              <a:ext uri="{FF2B5EF4-FFF2-40B4-BE49-F238E27FC236}">
                <a16:creationId xmlns:a16="http://schemas.microsoft.com/office/drawing/2014/main" id="{37202CBC-796E-42F8-A1F2-8433EF909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4649653"/>
            <a:ext cx="457200" cy="457200"/>
          </a:xfrm>
          <a:prstGeom prst="rect">
            <a:avLst/>
          </a:prstGeom>
        </p:spPr>
      </p:pic>
      <p:pic>
        <p:nvPicPr>
          <p:cNvPr id="2050" name="Picture 2" descr="Macmillan Achieve :: Canvas @ UNM | The University of New Mexico">
            <a:extLst>
              <a:ext uri="{FF2B5EF4-FFF2-40B4-BE49-F238E27FC236}">
                <a16:creationId xmlns:a16="http://schemas.microsoft.com/office/drawing/2014/main" id="{D4A5833E-069C-4148-8651-903428290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589" y="3934559"/>
            <a:ext cx="2024074" cy="75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69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A93A29-994A-4B46-A32F-20D6FB3A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4925"/>
            <a:ext cx="10515600" cy="714375"/>
          </a:xfrm>
        </p:spPr>
        <p:txBody>
          <a:bodyPr/>
          <a:lstStyle/>
          <a:p>
            <a:pPr marL="0" indent="0" algn="ctr">
              <a:buNone/>
            </a:pPr>
            <a:r>
              <a:rPr lang="es-ES" dirty="0" err="1"/>
              <a:t>Download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.</a:t>
            </a:r>
            <a:r>
              <a:rPr lang="es-ES" dirty="0" err="1"/>
              <a:t>Qmd</a:t>
            </a:r>
            <a:r>
              <a:rPr lang="es-ES" dirty="0"/>
              <a:t> file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Canvas</a:t>
            </a:r>
            <a:r>
              <a:rPr lang="es-ES" dirty="0"/>
              <a:t> and complete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exercices</a:t>
            </a:r>
            <a:endParaRPr lang="es-CL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E79D07E-9D4E-4EAD-B716-A269576BB3F4}"/>
              </a:ext>
            </a:extLst>
          </p:cNvPr>
          <p:cNvSpPr txBox="1">
            <a:spLocks/>
          </p:cNvSpPr>
          <p:nvPr/>
        </p:nvSpPr>
        <p:spPr>
          <a:xfrm>
            <a:off x="838200" y="3860800"/>
            <a:ext cx="10515600" cy="714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dirty="0"/>
              <a:t>And </a:t>
            </a:r>
            <a:r>
              <a:rPr lang="es-ES" dirty="0" err="1"/>
              <a:t>contrast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answers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us</a:t>
            </a:r>
            <a:r>
              <a:rPr lang="es-ES" dirty="0"/>
              <a:t>, </a:t>
            </a:r>
            <a:r>
              <a:rPr lang="es-ES" dirty="0" err="1"/>
              <a:t>we</a:t>
            </a:r>
            <a:r>
              <a:rPr lang="es-ES" dirty="0"/>
              <a:t> are </a:t>
            </a:r>
            <a:r>
              <a:rPr lang="es-ES" dirty="0" err="1"/>
              <a:t>here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help</a:t>
            </a:r>
            <a:r>
              <a:rPr lang="es-ES" dirty="0"/>
              <a:t>!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83033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299</Words>
  <Application>Microsoft Office PowerPoint</Application>
  <PresentationFormat>Panorámica</PresentationFormat>
  <Paragraphs>54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Gadugi</vt:lpstr>
      <vt:lpstr>Times New Roman</vt:lpstr>
      <vt:lpstr>Tema de Office</vt:lpstr>
      <vt:lpstr>Statistics and Scientific Methods  University of Oxford</vt:lpstr>
      <vt:lpstr>Presentación de PowerPoint</vt:lpstr>
      <vt:lpstr>Checklist (Do/Have I…?)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 and Scientific Methods 2nd year MBiology, University of Oxford</dc:title>
  <dc:creator>Montserrat</dc:creator>
  <cp:lastModifiedBy>Montserrat</cp:lastModifiedBy>
  <cp:revision>12</cp:revision>
  <dcterms:created xsi:type="dcterms:W3CDTF">2026-01-15T19:16:14Z</dcterms:created>
  <dcterms:modified xsi:type="dcterms:W3CDTF">2026-01-16T02:42:37Z</dcterms:modified>
</cp:coreProperties>
</file>