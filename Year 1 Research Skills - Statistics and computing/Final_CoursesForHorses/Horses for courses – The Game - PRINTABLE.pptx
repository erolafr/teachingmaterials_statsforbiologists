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4"/>
  </p:notesMasterIdLst>
  <p:sldIdLst>
    <p:sldId id="256" r:id="rId2"/>
    <p:sldId id="302" r:id="rId3"/>
    <p:sldId id="303" r:id="rId4"/>
    <p:sldId id="269" r:id="rId5"/>
    <p:sldId id="270" r:id="rId6"/>
    <p:sldId id="274" r:id="rId7"/>
    <p:sldId id="275" r:id="rId8"/>
    <p:sldId id="279" r:id="rId9"/>
    <p:sldId id="281" r:id="rId10"/>
    <p:sldId id="282" r:id="rId11"/>
    <p:sldId id="283" r:id="rId12"/>
    <p:sldId id="284" r:id="rId13"/>
    <p:sldId id="285" r:id="rId14"/>
    <p:sldId id="286" r:id="rId15"/>
    <p:sldId id="299" r:id="rId16"/>
    <p:sldId id="289" r:id="rId17"/>
    <p:sldId id="290" r:id="rId18"/>
    <p:sldId id="291" r:id="rId19"/>
    <p:sldId id="306" r:id="rId20"/>
    <p:sldId id="305" r:id="rId21"/>
    <p:sldId id="304" r:id="rId22"/>
    <p:sldId id="296" r:id="rId23"/>
    <p:sldId id="297" r:id="rId24"/>
    <p:sldId id="298" r:id="rId25"/>
    <p:sldId id="301" r:id="rId26"/>
    <p:sldId id="280" r:id="rId27"/>
    <p:sldId id="310" r:id="rId28"/>
    <p:sldId id="259" r:id="rId29"/>
    <p:sldId id="300" r:id="rId30"/>
    <p:sldId id="307" r:id="rId31"/>
    <p:sldId id="308" r:id="rId32"/>
    <p:sldId id="309" r:id="rId33"/>
  </p:sldIdLst>
  <p:sldSz cx="9906000" cy="6858000" type="A4"/>
  <p:notesSz cx="9931400" cy="67945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7EAED"/>
    <a:srgbClr val="6B5B95"/>
    <a:srgbClr val="D9A441"/>
    <a:srgbClr val="2F5D5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0982" autoAdjust="0"/>
    <p:restoredTop sz="95874" autoAdjust="0"/>
  </p:normalViewPr>
  <p:slideViewPr>
    <p:cSldViewPr snapToGrid="0">
      <p:cViewPr>
        <p:scale>
          <a:sx n="66" d="100"/>
          <a:sy n="66" d="100"/>
        </p:scale>
        <p:origin x="228" y="123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303607" cy="340905"/>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5625495" y="0"/>
            <a:ext cx="4303607" cy="340905"/>
          </a:xfrm>
          <a:prstGeom prst="rect">
            <a:avLst/>
          </a:prstGeom>
        </p:spPr>
        <p:txBody>
          <a:bodyPr vert="horz" lIns="91440" tIns="45720" rIns="91440" bIns="45720" rtlCol="0"/>
          <a:lstStyle>
            <a:lvl1pPr algn="r">
              <a:defRPr sz="1200"/>
            </a:lvl1pPr>
          </a:lstStyle>
          <a:p>
            <a:fld id="{7B844621-09A2-40CD-91AD-A8BD103B19B6}" type="datetimeFigureOut">
              <a:rPr lang="en-GB" smtClean="0"/>
              <a:t>04/03/2026</a:t>
            </a:fld>
            <a:endParaRPr lang="en-GB"/>
          </a:p>
        </p:txBody>
      </p:sp>
      <p:sp>
        <p:nvSpPr>
          <p:cNvPr id="4" name="Slide Image Placeholder 3"/>
          <p:cNvSpPr>
            <a:spLocks noGrp="1" noRot="1" noChangeAspect="1"/>
          </p:cNvSpPr>
          <p:nvPr>
            <p:ph type="sldImg" idx="2"/>
          </p:nvPr>
        </p:nvSpPr>
        <p:spPr>
          <a:xfrm>
            <a:off x="3308350" y="849313"/>
            <a:ext cx="3314700" cy="2293937"/>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993140" y="3269853"/>
            <a:ext cx="7945120" cy="267533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6453596"/>
            <a:ext cx="4303607" cy="340904"/>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5625495" y="6453596"/>
            <a:ext cx="4303607" cy="340904"/>
          </a:xfrm>
          <a:prstGeom prst="rect">
            <a:avLst/>
          </a:prstGeom>
        </p:spPr>
        <p:txBody>
          <a:bodyPr vert="horz" lIns="91440" tIns="45720" rIns="91440" bIns="45720" rtlCol="0" anchor="b"/>
          <a:lstStyle>
            <a:lvl1pPr algn="r">
              <a:defRPr sz="1200"/>
            </a:lvl1pPr>
          </a:lstStyle>
          <a:p>
            <a:fld id="{8FC62727-B3CC-422B-B62F-92A96562ECBD}" type="slidenum">
              <a:rPr lang="en-GB" smtClean="0"/>
              <a:t>‹#›</a:t>
            </a:fld>
            <a:endParaRPr lang="en-GB"/>
          </a:p>
        </p:txBody>
      </p:sp>
    </p:spTree>
    <p:extLst>
      <p:ext uri="{BB962C8B-B14F-4D97-AF65-F5344CB8AC3E}">
        <p14:creationId xmlns:p14="http://schemas.microsoft.com/office/powerpoint/2010/main" val="21369227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308350" y="849313"/>
            <a:ext cx="3314700" cy="2293937"/>
          </a:xfrm>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0"/>
              </a:spcBef>
              <a:spcAft>
                <a:spcPct val="0"/>
              </a:spcAft>
              <a:buClrTx/>
              <a:buSzTx/>
              <a:buFontTx/>
              <a:buChar char="•"/>
              <a:tabLst/>
            </a:pPr>
            <a:br>
              <a:rPr lang="en-GB" dirty="0"/>
            </a:br>
            <a:endParaRPr lang="en-GB" dirty="0"/>
          </a:p>
          <a:p>
            <a:r>
              <a:rPr lang="en-GB" dirty="0"/>
              <a:t>“Today is our final tutorial of the year, and instead of introducing something new, we’re going to step back and look at everything you’ve learned.</a:t>
            </a:r>
          </a:p>
          <a:p>
            <a:r>
              <a:rPr lang="en-GB" dirty="0"/>
              <a:t>Over the past weeks, you’ve met a lot of tools — t-tests, chi-square tests, ANOVA, binomial probabilities, conditional probability, odds ratios… It can sometimes feel like a toolbox that just keeps getting bigger.</a:t>
            </a:r>
          </a:p>
          <a:p>
            <a:r>
              <a:rPr lang="en-GB" dirty="0"/>
              <a:t>But here’s the important thing: statistics is not about memorising tools.</a:t>
            </a:r>
          </a:p>
          <a:p>
            <a:r>
              <a:rPr lang="en-GB" dirty="0"/>
              <a:t>It’s about knowing </a:t>
            </a:r>
            <a:r>
              <a:rPr lang="en-GB" b="1" dirty="0"/>
              <a:t>which tool fits which question</a:t>
            </a:r>
            <a:r>
              <a:rPr lang="en-GB" dirty="0"/>
              <a:t>.</a:t>
            </a:r>
          </a:p>
          <a:p>
            <a:r>
              <a:rPr lang="en-GB" dirty="0"/>
              <a:t>That’s what today’s game — </a:t>
            </a:r>
            <a:r>
              <a:rPr lang="en-GB" i="1" dirty="0"/>
              <a:t>Horses for Courses</a:t>
            </a:r>
            <a:r>
              <a:rPr lang="en-GB" dirty="0"/>
              <a:t> — is about.</a:t>
            </a:r>
          </a:p>
          <a:p>
            <a:r>
              <a:rPr lang="en-GB" dirty="0"/>
              <a:t>Each statistical method is like a horse.</a:t>
            </a:r>
            <a:br>
              <a:rPr lang="en-GB" dirty="0"/>
            </a:br>
            <a:r>
              <a:rPr lang="en-GB" dirty="0"/>
              <a:t>Each research question is a course.</a:t>
            </a:r>
            <a:br>
              <a:rPr lang="en-GB" dirty="0"/>
            </a:br>
            <a:r>
              <a:rPr lang="en-GB" dirty="0"/>
              <a:t>Not every horse belongs on every course.</a:t>
            </a:r>
          </a:p>
          <a:p>
            <a:r>
              <a:rPr lang="en-GB" dirty="0"/>
              <a:t>Your challenge is to:</a:t>
            </a:r>
          </a:p>
          <a:p>
            <a:r>
              <a:rPr lang="en-GB" dirty="0"/>
              <a:t>Read each case carefully</a:t>
            </a:r>
          </a:p>
          <a:p>
            <a:r>
              <a:rPr lang="en-GB" dirty="0"/>
              <a:t>Identify the structure of the data</a:t>
            </a:r>
          </a:p>
          <a:p>
            <a:r>
              <a:rPr lang="en-GB" dirty="0"/>
              <a:t>Decide whether you’re calculating a probability or analysing data</a:t>
            </a:r>
          </a:p>
          <a:p>
            <a:r>
              <a:rPr lang="en-GB" dirty="0"/>
              <a:t>Match the correct tool</a:t>
            </a:r>
          </a:p>
          <a:p>
            <a:r>
              <a:rPr lang="en-GB" dirty="0"/>
              <a:t>And choose the most appropriate visualisation</a:t>
            </a:r>
          </a:p>
          <a:p>
            <a:r>
              <a:rPr lang="en-GB" dirty="0"/>
              <a:t>Some of the cards you’re holding won’t belong to your own cases. So you’ll need to read the board, think carefully, and justify your reasoning.</a:t>
            </a:r>
          </a:p>
          <a:p>
            <a:r>
              <a:rPr lang="en-GB" dirty="0"/>
              <a:t>This isn’t about speed.</a:t>
            </a:r>
            <a:br>
              <a:rPr lang="en-GB" dirty="0"/>
            </a:br>
            <a:r>
              <a:rPr lang="en-GB" dirty="0"/>
              <a:t>It’s about thinking clearly.</a:t>
            </a:r>
          </a:p>
          <a:p>
            <a:r>
              <a:rPr lang="en-GB" dirty="0"/>
              <a:t>By the end of today, you should feel more confident answering the most important statistical question of all:</a:t>
            </a:r>
          </a:p>
          <a:p>
            <a:r>
              <a:rPr lang="en-GB" dirty="0"/>
              <a:t>‘Which method should I use — and why?’”</a:t>
            </a:r>
          </a:p>
          <a:p>
            <a:endParaRPr lang="en-GB" dirty="0"/>
          </a:p>
        </p:txBody>
      </p:sp>
      <p:sp>
        <p:nvSpPr>
          <p:cNvPr id="4" name="Slide Number Placeholder 3"/>
          <p:cNvSpPr>
            <a:spLocks noGrp="1"/>
          </p:cNvSpPr>
          <p:nvPr>
            <p:ph type="sldNum" sz="quarter" idx="5"/>
          </p:nvPr>
        </p:nvSpPr>
        <p:spPr/>
        <p:txBody>
          <a:bodyPr/>
          <a:lstStyle/>
          <a:p>
            <a:fld id="{8FC62727-B3CC-422B-B62F-92A96562ECBD}" type="slidenum">
              <a:rPr lang="en-GB" smtClean="0"/>
              <a:t>1</a:t>
            </a:fld>
            <a:endParaRPr lang="en-GB"/>
          </a:p>
        </p:txBody>
      </p:sp>
    </p:spTree>
    <p:extLst>
      <p:ext uri="{BB962C8B-B14F-4D97-AF65-F5344CB8AC3E}">
        <p14:creationId xmlns:p14="http://schemas.microsoft.com/office/powerpoint/2010/main" val="11891605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308350" y="849313"/>
            <a:ext cx="3314700" cy="2293937"/>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Note that the question here is What is the probability exactly 2 of 5 plants are infected if p = 0.2? And NOT: You observe 2 infected out of 5. Is this evidence that p ≠ 0.2?</a:t>
            </a:r>
          </a:p>
          <a:p>
            <a:endParaRPr lang="en-GB" dirty="0"/>
          </a:p>
        </p:txBody>
      </p:sp>
      <p:sp>
        <p:nvSpPr>
          <p:cNvPr id="4" name="Slide Number Placeholder 3"/>
          <p:cNvSpPr>
            <a:spLocks noGrp="1"/>
          </p:cNvSpPr>
          <p:nvPr>
            <p:ph type="sldNum" sz="quarter" idx="5"/>
          </p:nvPr>
        </p:nvSpPr>
        <p:spPr/>
        <p:txBody>
          <a:bodyPr/>
          <a:lstStyle/>
          <a:p>
            <a:fld id="{8FC62727-B3CC-422B-B62F-92A96562ECBD}" type="slidenum">
              <a:rPr lang="en-GB" smtClean="0"/>
              <a:t>6</a:t>
            </a:fld>
            <a:endParaRPr lang="en-GB"/>
          </a:p>
        </p:txBody>
      </p:sp>
    </p:spTree>
    <p:extLst>
      <p:ext uri="{BB962C8B-B14F-4D97-AF65-F5344CB8AC3E}">
        <p14:creationId xmlns:p14="http://schemas.microsoft.com/office/powerpoint/2010/main" val="40146418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FE8C61-FFA2-091A-5F8D-95B87F98E2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548B66-AF25-79F3-A62F-E3E7142F2DBC}"/>
              </a:ext>
            </a:extLst>
          </p:cNvPr>
          <p:cNvSpPr>
            <a:spLocks noGrp="1" noRot="1" noChangeAspect="1"/>
          </p:cNvSpPr>
          <p:nvPr>
            <p:ph type="sldImg"/>
          </p:nvPr>
        </p:nvSpPr>
        <p:spPr>
          <a:xfrm>
            <a:off x="3308350" y="849313"/>
            <a:ext cx="3314700" cy="2293937"/>
          </a:xfrm>
        </p:spPr>
      </p:sp>
      <p:sp>
        <p:nvSpPr>
          <p:cNvPr id="3" name="Notes Placeholder 2">
            <a:extLst>
              <a:ext uri="{FF2B5EF4-FFF2-40B4-BE49-F238E27FC236}">
                <a16:creationId xmlns:a16="http://schemas.microsoft.com/office/drawing/2014/main" id="{5A3736D5-0C77-F5B0-895B-9811C43462B8}"/>
              </a:ext>
            </a:extLst>
          </p:cNvPr>
          <p:cNvSpPr>
            <a:spLocks noGrp="1"/>
          </p:cNvSpPr>
          <p:nvPr>
            <p:ph type="body" idx="1"/>
          </p:nvPr>
        </p:nvSpPr>
        <p:spPr/>
        <p:txBody>
          <a:bodyPr/>
          <a:lstStyle/>
          <a:p>
            <a:endParaRPr lang="en-GB" dirty="0"/>
          </a:p>
          <a:p>
            <a:r>
              <a:rPr lang="en-GB" dirty="0"/>
              <a:t>First check if observations are independent. If observations are not independent (for example repeated measures, clustering or nested data) use a mixed model. If observations are independent we will check if we have one variable, two variables ore more than two. </a:t>
            </a:r>
          </a:p>
          <a:p>
            <a:endParaRPr lang="en-GB" dirty="0"/>
          </a:p>
          <a:p>
            <a:r>
              <a:rPr lang="en-GB" dirty="0"/>
              <a:t>If one variable: check if the variable is numerical or categorical. If its numerical: if you want to estimate the mean obtain confidence intervals, if you want to test the mean do a one sample t-test. If data is not normal apply sign test. If the data is categorical and you want to test a proportion use the binomial test. If you need to fit a distribution use the chi-square goodness-of-fit</a:t>
            </a:r>
          </a:p>
          <a:p>
            <a:endParaRPr lang="en-GB" dirty="0"/>
          </a:p>
          <a:p>
            <a:endParaRPr lang="en-GB" dirty="0"/>
          </a:p>
          <a:p>
            <a:r>
              <a:rPr lang="en-GB" dirty="0"/>
              <a:t>If two variables: divide between Explanatory variable categorical and explanatory variable numerical. </a:t>
            </a:r>
          </a:p>
          <a:p>
            <a:endParaRPr lang="en-GB" dirty="0"/>
          </a:p>
          <a:p>
            <a:pPr marL="171450" indent="-171450">
              <a:buFontTx/>
              <a:buChar char="-"/>
            </a:pPr>
            <a:r>
              <a:rPr lang="en-GB" dirty="0"/>
              <a:t>Explanatory variable categorical: we have two options, response variable being numerical and being categorical. If response variable is numerical we will check the number of groups. If we have two groups and those are independent we will apply the </a:t>
            </a:r>
            <a:r>
              <a:rPr lang="en-GB" dirty="0" err="1"/>
              <a:t>welch’s</a:t>
            </a:r>
            <a:r>
              <a:rPr lang="en-GB" dirty="0"/>
              <a:t> test for normal data and the Mann-Whitney test for non-normal data. If the two groups are paired we will apply the paired t-test if the data is normal and the sign test if not. If we have more than two groups we will apply ANOVA if the data is normal and Kruskal-</a:t>
            </a:r>
            <a:r>
              <a:rPr lang="en-GB" dirty="0" err="1"/>
              <a:t>wallis</a:t>
            </a:r>
            <a:r>
              <a:rPr lang="en-GB" dirty="0"/>
              <a:t> if it is non normal. If the response variable is categorical we will use the chi-square test of independence or the Fisher’s exact test if the n is small, and the Odds ratio or relative risk to measure the association strength.</a:t>
            </a:r>
          </a:p>
          <a:p>
            <a:pPr marL="171450" indent="-171450">
              <a:buFontTx/>
              <a:buChar char="-"/>
            </a:pPr>
            <a:endParaRPr lang="en-GB" dirty="0"/>
          </a:p>
          <a:p>
            <a:pPr marL="171450" indent="-171450">
              <a:buFontTx/>
              <a:buChar char="-"/>
            </a:pPr>
            <a:r>
              <a:rPr lang="en-GB" dirty="0"/>
              <a:t>Explanatory variable numerical. If the response variable is numerical we will use linear regression for linear relationships, non-linear models for non-linear relationships. Pearson for linear and normal data and Spearman for non-normal data. If the response variable is categorical we will check the number of categories. If the response has two categories we will use logistic regression. If the response has more than two categories we will use multinomial logistic regression or ordinal logistic regression.</a:t>
            </a:r>
          </a:p>
          <a:p>
            <a:endParaRPr lang="en-GB" dirty="0"/>
          </a:p>
          <a:p>
            <a:endParaRPr lang="en-GB" dirty="0"/>
          </a:p>
          <a:p>
            <a:pPr>
              <a:buFont typeface="Arial" panose="020B0604020202020204" pitchFamily="34" charset="0"/>
              <a:buNone/>
            </a:pPr>
            <a:r>
              <a:rPr lang="en-GB" dirty="0"/>
              <a:t>If more than two variables: examples of applied techniques can be </a:t>
            </a:r>
            <a:r>
              <a:rPr lang="en-GB" sz="1200" dirty="0"/>
              <a:t> Multiple regression (linear, non-linear, logistic…), </a:t>
            </a:r>
            <a:r>
              <a:rPr lang="en-GB" dirty="0"/>
              <a:t> Principal component analysis or </a:t>
            </a:r>
            <a:r>
              <a:rPr lang="en-GB" sz="1200" dirty="0"/>
              <a:t> K-means clustering</a:t>
            </a:r>
            <a:endParaRPr lang="en-GB" dirty="0"/>
          </a:p>
          <a:p>
            <a:endParaRPr lang="en-GB" dirty="0"/>
          </a:p>
        </p:txBody>
      </p:sp>
      <p:sp>
        <p:nvSpPr>
          <p:cNvPr id="4" name="Slide Number Placeholder 3">
            <a:extLst>
              <a:ext uri="{FF2B5EF4-FFF2-40B4-BE49-F238E27FC236}">
                <a16:creationId xmlns:a16="http://schemas.microsoft.com/office/drawing/2014/main" id="{76BBF19C-9A44-D9DB-9503-5B1CAE8DE3A7}"/>
              </a:ext>
            </a:extLst>
          </p:cNvPr>
          <p:cNvSpPr>
            <a:spLocks noGrp="1"/>
          </p:cNvSpPr>
          <p:nvPr>
            <p:ph type="sldNum" sz="quarter" idx="5"/>
          </p:nvPr>
        </p:nvSpPr>
        <p:spPr/>
        <p:txBody>
          <a:bodyPr/>
          <a:lstStyle/>
          <a:p>
            <a:fld id="{8FC62727-B3CC-422B-B62F-92A96562ECBD}" type="slidenum">
              <a:rPr lang="en-GB" smtClean="0"/>
              <a:t>29</a:t>
            </a:fld>
            <a:endParaRPr lang="en-GB"/>
          </a:p>
        </p:txBody>
      </p:sp>
    </p:spTree>
    <p:extLst>
      <p:ext uri="{BB962C8B-B14F-4D97-AF65-F5344CB8AC3E}">
        <p14:creationId xmlns:p14="http://schemas.microsoft.com/office/powerpoint/2010/main" val="32327904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D191BC-A521-04AD-A43D-8F481E3DFF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97D734-C114-890C-5CB5-35D4CD758B1E}"/>
              </a:ext>
            </a:extLst>
          </p:cNvPr>
          <p:cNvSpPr>
            <a:spLocks noGrp="1" noRot="1" noChangeAspect="1"/>
          </p:cNvSpPr>
          <p:nvPr>
            <p:ph type="sldImg"/>
          </p:nvPr>
        </p:nvSpPr>
        <p:spPr>
          <a:xfrm>
            <a:off x="3308350" y="849313"/>
            <a:ext cx="3314700" cy="2293937"/>
          </a:xfrm>
        </p:spPr>
      </p:sp>
      <p:sp>
        <p:nvSpPr>
          <p:cNvPr id="3" name="Notes Placeholder 2">
            <a:extLst>
              <a:ext uri="{FF2B5EF4-FFF2-40B4-BE49-F238E27FC236}">
                <a16:creationId xmlns:a16="http://schemas.microsoft.com/office/drawing/2014/main" id="{16D36DC3-F977-7871-AF26-5003469CF8F8}"/>
              </a:ext>
            </a:extLst>
          </p:cNvPr>
          <p:cNvSpPr>
            <a:spLocks noGrp="1"/>
          </p:cNvSpPr>
          <p:nvPr>
            <p:ph type="body" idx="1"/>
          </p:nvPr>
        </p:nvSpPr>
        <p:spPr/>
        <p:txBody>
          <a:bodyPr/>
          <a:lstStyle/>
          <a:p>
            <a:endParaRPr lang="en-GB" dirty="0"/>
          </a:p>
          <a:p>
            <a:r>
              <a:rPr lang="en-GB" dirty="0"/>
              <a:t>First check if observations are independent. If observations are not independent (for example repeated measures, clustering or nested data) use a mixed model. If observations are independent we will check if we have one variable, two variables ore more than two. </a:t>
            </a:r>
          </a:p>
          <a:p>
            <a:endParaRPr lang="en-GB" dirty="0"/>
          </a:p>
          <a:p>
            <a:r>
              <a:rPr lang="en-GB" dirty="0"/>
              <a:t>If one variable: check if the variable is numerical or categorical. If its numerical: if you want to estimate the mean obtain confidence intervals, if you want to test the mean do a one sample t-test. If data is not normal apply sign test. If the data is categorical and you want to test a proportion use the binomial test. If you need to fit a distribution use the chi-square goodness-of-fit</a:t>
            </a:r>
          </a:p>
          <a:p>
            <a:endParaRPr lang="en-GB" dirty="0"/>
          </a:p>
          <a:p>
            <a:endParaRPr lang="en-GB" dirty="0"/>
          </a:p>
          <a:p>
            <a:r>
              <a:rPr lang="en-GB" dirty="0"/>
              <a:t>If two variables: divide between Explanatory variable categorical and explanatory variable numerical. </a:t>
            </a:r>
          </a:p>
          <a:p>
            <a:endParaRPr lang="en-GB" dirty="0"/>
          </a:p>
          <a:p>
            <a:pPr marL="171450" indent="-171450">
              <a:buFontTx/>
              <a:buChar char="-"/>
            </a:pPr>
            <a:r>
              <a:rPr lang="en-GB" dirty="0"/>
              <a:t>Explanatory variable categorical: we have two options, response variable being numerical and being categorical. If response variable is numerical we will check the number of groups. If we have two groups and those are independent we will apply the </a:t>
            </a:r>
            <a:r>
              <a:rPr lang="en-GB" dirty="0" err="1"/>
              <a:t>welch’s</a:t>
            </a:r>
            <a:r>
              <a:rPr lang="en-GB" dirty="0"/>
              <a:t> test for normal data and the Mann-Whitney test for non-normal data. If the two groups are paired we will apply the paired t-test if the data is normal and the sign test if not. If we have more than two groups we will apply ANOVA if the data is normal and Kruskal-</a:t>
            </a:r>
            <a:r>
              <a:rPr lang="en-GB" dirty="0" err="1"/>
              <a:t>wallis</a:t>
            </a:r>
            <a:r>
              <a:rPr lang="en-GB" dirty="0"/>
              <a:t> if it is non normal. If the response variable is categorical we will use the chi-square test of independence or the Fisher’s exact test if the n is small, and the Odds ratio or relative risk to measure the association strength.</a:t>
            </a:r>
          </a:p>
          <a:p>
            <a:pPr marL="171450" indent="-171450">
              <a:buFontTx/>
              <a:buChar char="-"/>
            </a:pPr>
            <a:endParaRPr lang="en-GB" dirty="0"/>
          </a:p>
          <a:p>
            <a:pPr marL="171450" indent="-171450">
              <a:buFontTx/>
              <a:buChar char="-"/>
            </a:pPr>
            <a:r>
              <a:rPr lang="en-GB" dirty="0"/>
              <a:t>Explanatory variable numerical. If the response variable is numerical we will use linear regression for linear relationships, non-linear models for non-linear relationships. Pearson for linear and normal data and Spearman for non-normal data. If the response variable is categorical we will check the number of categories. If the response has two categories we will use logistic regression. If the response has more than two categories we will use multinomial logistic regression or ordinal logistic regression.</a:t>
            </a:r>
          </a:p>
          <a:p>
            <a:endParaRPr lang="en-GB" dirty="0"/>
          </a:p>
          <a:p>
            <a:endParaRPr lang="en-GB" dirty="0"/>
          </a:p>
          <a:p>
            <a:pPr>
              <a:buFont typeface="Arial" panose="020B0604020202020204" pitchFamily="34" charset="0"/>
              <a:buNone/>
            </a:pPr>
            <a:r>
              <a:rPr lang="en-GB" dirty="0"/>
              <a:t>If more than two variables: examples of applied techniques can be </a:t>
            </a:r>
            <a:r>
              <a:rPr lang="en-GB" sz="1200" dirty="0"/>
              <a:t> Multiple regression (linear, non-linear, logistic…), </a:t>
            </a:r>
            <a:r>
              <a:rPr lang="en-GB" dirty="0"/>
              <a:t> Principal component analysis or </a:t>
            </a:r>
            <a:r>
              <a:rPr lang="en-GB" sz="1200" dirty="0"/>
              <a:t> K-means clustering</a:t>
            </a:r>
            <a:endParaRPr lang="en-GB" dirty="0"/>
          </a:p>
          <a:p>
            <a:endParaRPr lang="en-GB" dirty="0"/>
          </a:p>
        </p:txBody>
      </p:sp>
      <p:sp>
        <p:nvSpPr>
          <p:cNvPr id="4" name="Slide Number Placeholder 3">
            <a:extLst>
              <a:ext uri="{FF2B5EF4-FFF2-40B4-BE49-F238E27FC236}">
                <a16:creationId xmlns:a16="http://schemas.microsoft.com/office/drawing/2014/main" id="{31C42C52-9EFD-6257-66B7-E479DEF2D1A3}"/>
              </a:ext>
            </a:extLst>
          </p:cNvPr>
          <p:cNvSpPr>
            <a:spLocks noGrp="1"/>
          </p:cNvSpPr>
          <p:nvPr>
            <p:ph type="sldNum" sz="quarter" idx="5"/>
          </p:nvPr>
        </p:nvSpPr>
        <p:spPr/>
        <p:txBody>
          <a:bodyPr/>
          <a:lstStyle/>
          <a:p>
            <a:fld id="{8FC62727-B3CC-422B-B62F-92A96562ECBD}" type="slidenum">
              <a:rPr lang="en-GB" smtClean="0"/>
              <a:t>30</a:t>
            </a:fld>
            <a:endParaRPr lang="en-GB"/>
          </a:p>
        </p:txBody>
      </p:sp>
    </p:spTree>
    <p:extLst>
      <p:ext uri="{BB962C8B-B14F-4D97-AF65-F5344CB8AC3E}">
        <p14:creationId xmlns:p14="http://schemas.microsoft.com/office/powerpoint/2010/main" val="31916075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416CF9-246D-7489-E342-A5D612C690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104173-92CB-94BD-B778-EF0389A5EAFB}"/>
              </a:ext>
            </a:extLst>
          </p:cNvPr>
          <p:cNvSpPr>
            <a:spLocks noGrp="1" noRot="1" noChangeAspect="1"/>
          </p:cNvSpPr>
          <p:nvPr>
            <p:ph type="sldImg"/>
          </p:nvPr>
        </p:nvSpPr>
        <p:spPr>
          <a:xfrm>
            <a:off x="3308350" y="849313"/>
            <a:ext cx="3314700" cy="2293937"/>
          </a:xfrm>
        </p:spPr>
      </p:sp>
      <p:sp>
        <p:nvSpPr>
          <p:cNvPr id="3" name="Notes Placeholder 2">
            <a:extLst>
              <a:ext uri="{FF2B5EF4-FFF2-40B4-BE49-F238E27FC236}">
                <a16:creationId xmlns:a16="http://schemas.microsoft.com/office/drawing/2014/main" id="{BB5748B4-7F19-4C96-2B5B-9300F9792CE2}"/>
              </a:ext>
            </a:extLst>
          </p:cNvPr>
          <p:cNvSpPr>
            <a:spLocks noGrp="1"/>
          </p:cNvSpPr>
          <p:nvPr>
            <p:ph type="body" idx="1"/>
          </p:nvPr>
        </p:nvSpPr>
        <p:spPr/>
        <p:txBody>
          <a:bodyPr/>
          <a:lstStyle/>
          <a:p>
            <a:endParaRPr lang="en-GB" dirty="0"/>
          </a:p>
          <a:p>
            <a:r>
              <a:rPr lang="en-GB" dirty="0"/>
              <a:t>First check if observations are independent. If observations are not independent (for example repeated measures, clustering or nested data) use a mixed model. If observations are independent we will check if we have one variable, two variables ore more than two. </a:t>
            </a:r>
          </a:p>
          <a:p>
            <a:endParaRPr lang="en-GB" dirty="0"/>
          </a:p>
          <a:p>
            <a:r>
              <a:rPr lang="en-GB" dirty="0"/>
              <a:t>If one variable: check if the variable is numerical or categorical. If its numerical: if you want to estimate the mean obtain confidence intervals, if you want to test the mean do a one sample t-test. If data is not normal apply sign test. If the data is categorical and you want to test a proportion use the binomial test. If you need to fit a distribution use the chi-square goodness-of-fit</a:t>
            </a:r>
          </a:p>
          <a:p>
            <a:endParaRPr lang="en-GB" dirty="0"/>
          </a:p>
          <a:p>
            <a:endParaRPr lang="en-GB" dirty="0"/>
          </a:p>
          <a:p>
            <a:r>
              <a:rPr lang="en-GB" dirty="0"/>
              <a:t>If two variables: divide between Explanatory variable categorical and explanatory variable numerical. </a:t>
            </a:r>
          </a:p>
          <a:p>
            <a:endParaRPr lang="en-GB" dirty="0"/>
          </a:p>
          <a:p>
            <a:pPr marL="171450" indent="-171450">
              <a:buFontTx/>
              <a:buChar char="-"/>
            </a:pPr>
            <a:r>
              <a:rPr lang="en-GB" dirty="0"/>
              <a:t>Explanatory variable categorical: we have two options, response variable being numerical and being categorical. If response variable is numerical we will check the number of groups. If we have two groups and those are independent we will apply the </a:t>
            </a:r>
            <a:r>
              <a:rPr lang="en-GB" dirty="0" err="1"/>
              <a:t>welch’s</a:t>
            </a:r>
            <a:r>
              <a:rPr lang="en-GB" dirty="0"/>
              <a:t> test for normal data and the Mann-Whitney test for non-normal data. If the two groups are paired we will apply the paired t-test if the data is normal and the sign test if not. If we have more than two groups we will apply ANOVA if the data is normal and Kruskal-</a:t>
            </a:r>
            <a:r>
              <a:rPr lang="en-GB" dirty="0" err="1"/>
              <a:t>wallis</a:t>
            </a:r>
            <a:r>
              <a:rPr lang="en-GB" dirty="0"/>
              <a:t> if it is non normal. If the response variable is categorical we will use the chi-square test of independence or the Fisher’s exact test if the n is small, and the Odds ratio or relative risk to measure the association strength.</a:t>
            </a:r>
          </a:p>
          <a:p>
            <a:pPr marL="171450" indent="-171450">
              <a:buFontTx/>
              <a:buChar char="-"/>
            </a:pPr>
            <a:endParaRPr lang="en-GB" dirty="0"/>
          </a:p>
          <a:p>
            <a:pPr marL="171450" indent="-171450">
              <a:buFontTx/>
              <a:buChar char="-"/>
            </a:pPr>
            <a:r>
              <a:rPr lang="en-GB" dirty="0"/>
              <a:t>Explanatory variable numerical. If the response variable is numerical we will use linear regression for linear relationships, non-linear models for non-linear relationships. Pearson for linear and normal data and Spearman for non-normal data. If the response variable is categorical we will check the number of categories. If the response has two categories we will use logistic regression. If the response has more than two categories we will use multinomial logistic regression or ordinal logistic regression.</a:t>
            </a:r>
          </a:p>
          <a:p>
            <a:endParaRPr lang="en-GB" dirty="0"/>
          </a:p>
          <a:p>
            <a:endParaRPr lang="en-GB" dirty="0"/>
          </a:p>
          <a:p>
            <a:pPr>
              <a:buFont typeface="Arial" panose="020B0604020202020204" pitchFamily="34" charset="0"/>
              <a:buNone/>
            </a:pPr>
            <a:r>
              <a:rPr lang="en-GB" dirty="0"/>
              <a:t>If more than two variables: examples of applied techniques can be </a:t>
            </a:r>
            <a:r>
              <a:rPr lang="en-GB" sz="1200" dirty="0"/>
              <a:t> Multiple regression (linear, non-linear, logistic…), </a:t>
            </a:r>
            <a:r>
              <a:rPr lang="en-GB" dirty="0"/>
              <a:t> Principal component analysis or </a:t>
            </a:r>
            <a:r>
              <a:rPr lang="en-GB" sz="1200" dirty="0"/>
              <a:t> K-means clustering</a:t>
            </a:r>
            <a:endParaRPr lang="en-GB" dirty="0"/>
          </a:p>
          <a:p>
            <a:endParaRPr lang="en-GB" dirty="0"/>
          </a:p>
        </p:txBody>
      </p:sp>
      <p:sp>
        <p:nvSpPr>
          <p:cNvPr id="4" name="Slide Number Placeholder 3">
            <a:extLst>
              <a:ext uri="{FF2B5EF4-FFF2-40B4-BE49-F238E27FC236}">
                <a16:creationId xmlns:a16="http://schemas.microsoft.com/office/drawing/2014/main" id="{4F2A0AFF-FCE4-1B02-10AF-265445113E7D}"/>
              </a:ext>
            </a:extLst>
          </p:cNvPr>
          <p:cNvSpPr>
            <a:spLocks noGrp="1"/>
          </p:cNvSpPr>
          <p:nvPr>
            <p:ph type="sldNum" sz="quarter" idx="5"/>
          </p:nvPr>
        </p:nvSpPr>
        <p:spPr/>
        <p:txBody>
          <a:bodyPr/>
          <a:lstStyle/>
          <a:p>
            <a:fld id="{8FC62727-B3CC-422B-B62F-92A96562ECBD}" type="slidenum">
              <a:rPr lang="en-GB" smtClean="0"/>
              <a:t>31</a:t>
            </a:fld>
            <a:endParaRPr lang="en-GB"/>
          </a:p>
        </p:txBody>
      </p:sp>
    </p:spTree>
    <p:extLst>
      <p:ext uri="{BB962C8B-B14F-4D97-AF65-F5344CB8AC3E}">
        <p14:creationId xmlns:p14="http://schemas.microsoft.com/office/powerpoint/2010/main" val="29244699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97BDE9-860E-7CF3-006A-8B63C9D283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230E7C-5C3D-D694-7CDF-626C0A13A5BB}"/>
              </a:ext>
            </a:extLst>
          </p:cNvPr>
          <p:cNvSpPr>
            <a:spLocks noGrp="1" noRot="1" noChangeAspect="1"/>
          </p:cNvSpPr>
          <p:nvPr>
            <p:ph type="sldImg"/>
          </p:nvPr>
        </p:nvSpPr>
        <p:spPr>
          <a:xfrm>
            <a:off x="3308350" y="849313"/>
            <a:ext cx="3314700" cy="2293937"/>
          </a:xfrm>
        </p:spPr>
      </p:sp>
      <p:sp>
        <p:nvSpPr>
          <p:cNvPr id="3" name="Notes Placeholder 2">
            <a:extLst>
              <a:ext uri="{FF2B5EF4-FFF2-40B4-BE49-F238E27FC236}">
                <a16:creationId xmlns:a16="http://schemas.microsoft.com/office/drawing/2014/main" id="{8AD0BCE6-5B28-ABB5-2EC5-0CBE7514E52F}"/>
              </a:ext>
            </a:extLst>
          </p:cNvPr>
          <p:cNvSpPr>
            <a:spLocks noGrp="1"/>
          </p:cNvSpPr>
          <p:nvPr>
            <p:ph type="body" idx="1"/>
          </p:nvPr>
        </p:nvSpPr>
        <p:spPr/>
        <p:txBody>
          <a:bodyPr/>
          <a:lstStyle/>
          <a:p>
            <a:endParaRPr lang="en-GB" dirty="0"/>
          </a:p>
          <a:p>
            <a:r>
              <a:rPr lang="en-GB" dirty="0"/>
              <a:t>First check if observations are independent. If observations are not independent (for example repeated measures, clustering or nested data) use a mixed model. If observations are independent we will check if we have one variable, two variables ore more than two. </a:t>
            </a:r>
          </a:p>
          <a:p>
            <a:endParaRPr lang="en-GB" dirty="0"/>
          </a:p>
          <a:p>
            <a:r>
              <a:rPr lang="en-GB" dirty="0"/>
              <a:t>If one variable: check if the variable is numerical or categorical. If its numerical: if you want to estimate the mean obtain confidence intervals, if you want to test the mean do a one sample t-test. If data is not normal apply sign test. If the data is categorical and you want to test a proportion use the binomial test. If you need to fit a distribution use the chi-square goodness-of-fit</a:t>
            </a:r>
          </a:p>
          <a:p>
            <a:endParaRPr lang="en-GB" dirty="0"/>
          </a:p>
          <a:p>
            <a:endParaRPr lang="en-GB" dirty="0"/>
          </a:p>
          <a:p>
            <a:r>
              <a:rPr lang="en-GB" dirty="0"/>
              <a:t>If two variables: divide between Explanatory variable categorical and explanatory variable numerical. </a:t>
            </a:r>
          </a:p>
          <a:p>
            <a:endParaRPr lang="en-GB" dirty="0"/>
          </a:p>
          <a:p>
            <a:pPr marL="171450" indent="-171450">
              <a:buFontTx/>
              <a:buChar char="-"/>
            </a:pPr>
            <a:r>
              <a:rPr lang="en-GB" dirty="0"/>
              <a:t>Explanatory variable categorical: we have two options, response variable being numerical and being categorical. If response variable is numerical we will check the number of groups. If we have two groups and those are independent we will apply the </a:t>
            </a:r>
            <a:r>
              <a:rPr lang="en-GB" dirty="0" err="1"/>
              <a:t>welch’s</a:t>
            </a:r>
            <a:r>
              <a:rPr lang="en-GB" dirty="0"/>
              <a:t> test for normal data and the Mann-Whitney test for non-normal data. If the two groups are paired we will apply the paired t-test if the data is normal and the sign test if not. If we have more than two groups we will apply ANOVA if the data is normal and Kruskal-</a:t>
            </a:r>
            <a:r>
              <a:rPr lang="en-GB" dirty="0" err="1"/>
              <a:t>wallis</a:t>
            </a:r>
            <a:r>
              <a:rPr lang="en-GB" dirty="0"/>
              <a:t> if it is non normal. If the response variable is categorical we will use the chi-square test of independence or the Fisher’s exact test if the n is small, and the Odds ratio or relative risk to measure the association strength.</a:t>
            </a:r>
          </a:p>
          <a:p>
            <a:pPr marL="171450" indent="-171450">
              <a:buFontTx/>
              <a:buChar char="-"/>
            </a:pPr>
            <a:endParaRPr lang="en-GB" dirty="0"/>
          </a:p>
          <a:p>
            <a:pPr marL="171450" indent="-171450">
              <a:buFontTx/>
              <a:buChar char="-"/>
            </a:pPr>
            <a:r>
              <a:rPr lang="en-GB" dirty="0"/>
              <a:t>Explanatory variable numerical. If the response variable is numerical we will use linear regression for linear relationships, non-linear models for non-linear relationships. Pearson for linear and normal data and Spearman for non-normal data. If the response variable is categorical we will check the number of categories. If the response has two categories we will use logistic regression. If the response has more than two categories we will use multinomial logistic regression or ordinal logistic regression.</a:t>
            </a:r>
          </a:p>
          <a:p>
            <a:endParaRPr lang="en-GB" dirty="0"/>
          </a:p>
          <a:p>
            <a:endParaRPr lang="en-GB" dirty="0"/>
          </a:p>
          <a:p>
            <a:pPr>
              <a:buFont typeface="Arial" panose="020B0604020202020204" pitchFamily="34" charset="0"/>
              <a:buNone/>
            </a:pPr>
            <a:r>
              <a:rPr lang="en-GB" dirty="0"/>
              <a:t>If more than two variables: examples of applied techniques can be </a:t>
            </a:r>
            <a:r>
              <a:rPr lang="en-GB" sz="1200" dirty="0"/>
              <a:t> Multiple regression (linear, non-linear, logistic…), </a:t>
            </a:r>
            <a:r>
              <a:rPr lang="en-GB" dirty="0"/>
              <a:t> Principal component analysis or </a:t>
            </a:r>
            <a:r>
              <a:rPr lang="en-GB" sz="1200" dirty="0"/>
              <a:t> K-means clustering</a:t>
            </a:r>
            <a:endParaRPr lang="en-GB" dirty="0"/>
          </a:p>
          <a:p>
            <a:endParaRPr lang="en-GB" dirty="0"/>
          </a:p>
        </p:txBody>
      </p:sp>
      <p:sp>
        <p:nvSpPr>
          <p:cNvPr id="4" name="Slide Number Placeholder 3">
            <a:extLst>
              <a:ext uri="{FF2B5EF4-FFF2-40B4-BE49-F238E27FC236}">
                <a16:creationId xmlns:a16="http://schemas.microsoft.com/office/drawing/2014/main" id="{216217EA-A4C3-481D-A619-6844B46D98C4}"/>
              </a:ext>
            </a:extLst>
          </p:cNvPr>
          <p:cNvSpPr>
            <a:spLocks noGrp="1"/>
          </p:cNvSpPr>
          <p:nvPr>
            <p:ph type="sldNum" sz="quarter" idx="5"/>
          </p:nvPr>
        </p:nvSpPr>
        <p:spPr/>
        <p:txBody>
          <a:bodyPr/>
          <a:lstStyle/>
          <a:p>
            <a:fld id="{8FC62727-B3CC-422B-B62F-92A96562ECBD}" type="slidenum">
              <a:rPr lang="en-GB" smtClean="0"/>
              <a:t>32</a:t>
            </a:fld>
            <a:endParaRPr lang="en-GB"/>
          </a:p>
        </p:txBody>
      </p:sp>
    </p:spTree>
    <p:extLst>
      <p:ext uri="{BB962C8B-B14F-4D97-AF65-F5344CB8AC3E}">
        <p14:creationId xmlns:p14="http://schemas.microsoft.com/office/powerpoint/2010/main" val="22284461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42950" y="1122363"/>
            <a:ext cx="84201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238250" y="3602038"/>
            <a:ext cx="74295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597FCB4-DF74-46B5-BA28-74F19DE0E064}" type="datetimeFigureOut">
              <a:rPr lang="en-GB" smtClean="0"/>
              <a:t>04/03/2026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0D8EB6B-0DD7-4FE7-8C23-2E561196DD42}" type="slidenum">
              <a:rPr lang="en-GB" smtClean="0"/>
              <a:t>‹#›</a:t>
            </a:fld>
            <a:endParaRPr lang="en-GB"/>
          </a:p>
        </p:txBody>
      </p:sp>
    </p:spTree>
    <p:extLst>
      <p:ext uri="{BB962C8B-B14F-4D97-AF65-F5344CB8AC3E}">
        <p14:creationId xmlns:p14="http://schemas.microsoft.com/office/powerpoint/2010/main" val="13089089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597FCB4-DF74-46B5-BA28-74F19DE0E064}" type="datetimeFigureOut">
              <a:rPr lang="en-GB" smtClean="0"/>
              <a:t>04/03/2026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0D8EB6B-0DD7-4FE7-8C23-2E561196DD42}" type="slidenum">
              <a:rPr lang="en-GB" smtClean="0"/>
              <a:t>‹#›</a:t>
            </a:fld>
            <a:endParaRPr lang="en-GB"/>
          </a:p>
        </p:txBody>
      </p:sp>
    </p:spTree>
    <p:extLst>
      <p:ext uri="{BB962C8B-B14F-4D97-AF65-F5344CB8AC3E}">
        <p14:creationId xmlns:p14="http://schemas.microsoft.com/office/powerpoint/2010/main" val="23922931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5879" y="1709740"/>
            <a:ext cx="8543925"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75879" y="4589465"/>
            <a:ext cx="8543925"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597FCB4-DF74-46B5-BA28-74F19DE0E064}" type="datetimeFigureOut">
              <a:rPr lang="en-GB" smtClean="0"/>
              <a:t>04/03/2026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0D8EB6B-0DD7-4FE7-8C23-2E561196DD42}" type="slidenum">
              <a:rPr lang="en-GB" smtClean="0"/>
              <a:t>‹#›</a:t>
            </a:fld>
            <a:endParaRPr lang="en-GB"/>
          </a:p>
        </p:txBody>
      </p:sp>
    </p:spTree>
    <p:extLst>
      <p:ext uri="{BB962C8B-B14F-4D97-AF65-F5344CB8AC3E}">
        <p14:creationId xmlns:p14="http://schemas.microsoft.com/office/powerpoint/2010/main" val="1283347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1038" y="1825625"/>
            <a:ext cx="42100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14913" y="1825625"/>
            <a:ext cx="42100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597FCB4-DF74-46B5-BA28-74F19DE0E064}" type="datetimeFigureOut">
              <a:rPr lang="en-GB" smtClean="0"/>
              <a:t>04/03/2026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50D8EB6B-0DD7-4FE7-8C23-2E561196DD42}" type="slidenum">
              <a:rPr lang="en-GB" smtClean="0"/>
              <a:t>‹#›</a:t>
            </a:fld>
            <a:endParaRPr lang="en-GB"/>
          </a:p>
        </p:txBody>
      </p:sp>
    </p:spTree>
    <p:extLst>
      <p:ext uri="{BB962C8B-B14F-4D97-AF65-F5344CB8AC3E}">
        <p14:creationId xmlns:p14="http://schemas.microsoft.com/office/powerpoint/2010/main" val="14750576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82328" y="365127"/>
            <a:ext cx="8543925"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82329" y="1681163"/>
            <a:ext cx="419070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2329" y="2505075"/>
            <a:ext cx="4190702"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14913" y="1681163"/>
            <a:ext cx="4211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14913" y="2505075"/>
            <a:ext cx="4211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597FCB4-DF74-46B5-BA28-74F19DE0E064}" type="datetimeFigureOut">
              <a:rPr lang="en-GB" smtClean="0"/>
              <a:t>04/03/2026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50D8EB6B-0DD7-4FE7-8C23-2E561196DD42}" type="slidenum">
              <a:rPr lang="en-GB" smtClean="0"/>
              <a:t>‹#›</a:t>
            </a:fld>
            <a:endParaRPr lang="en-GB"/>
          </a:p>
        </p:txBody>
      </p:sp>
    </p:spTree>
    <p:extLst>
      <p:ext uri="{BB962C8B-B14F-4D97-AF65-F5344CB8AC3E}">
        <p14:creationId xmlns:p14="http://schemas.microsoft.com/office/powerpoint/2010/main" val="20466025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597FCB4-DF74-46B5-BA28-74F19DE0E064}" type="datetimeFigureOut">
              <a:rPr lang="en-GB" smtClean="0"/>
              <a:t>04/03/2026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50D8EB6B-0DD7-4FE7-8C23-2E561196DD42}" type="slidenum">
              <a:rPr lang="en-GB" smtClean="0"/>
              <a:t>‹#›</a:t>
            </a:fld>
            <a:endParaRPr lang="en-GB"/>
          </a:p>
        </p:txBody>
      </p:sp>
    </p:spTree>
    <p:extLst>
      <p:ext uri="{BB962C8B-B14F-4D97-AF65-F5344CB8AC3E}">
        <p14:creationId xmlns:p14="http://schemas.microsoft.com/office/powerpoint/2010/main" val="6253681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597FCB4-DF74-46B5-BA28-74F19DE0E064}" type="datetimeFigureOut">
              <a:rPr lang="en-GB" smtClean="0"/>
              <a:t>04/03/2026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50D8EB6B-0DD7-4FE7-8C23-2E561196DD42}" type="slidenum">
              <a:rPr lang="en-GB" smtClean="0"/>
              <a:t>‹#›</a:t>
            </a:fld>
            <a:endParaRPr lang="en-GB"/>
          </a:p>
        </p:txBody>
      </p:sp>
    </p:spTree>
    <p:extLst>
      <p:ext uri="{BB962C8B-B14F-4D97-AF65-F5344CB8AC3E}">
        <p14:creationId xmlns:p14="http://schemas.microsoft.com/office/powerpoint/2010/main" val="36571107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4211340" y="987427"/>
            <a:ext cx="5014913"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597FCB4-DF74-46B5-BA28-74F19DE0E064}" type="datetimeFigureOut">
              <a:rPr lang="en-GB" smtClean="0"/>
              <a:t>04/03/2026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50D8EB6B-0DD7-4FE7-8C23-2E561196DD42}" type="slidenum">
              <a:rPr lang="en-GB" smtClean="0"/>
              <a:t>‹#›</a:t>
            </a:fld>
            <a:endParaRPr lang="en-GB"/>
          </a:p>
        </p:txBody>
      </p:sp>
    </p:spTree>
    <p:extLst>
      <p:ext uri="{BB962C8B-B14F-4D97-AF65-F5344CB8AC3E}">
        <p14:creationId xmlns:p14="http://schemas.microsoft.com/office/powerpoint/2010/main" val="6512820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211340" y="987427"/>
            <a:ext cx="5014913"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597FCB4-DF74-46B5-BA28-74F19DE0E064}" type="datetimeFigureOut">
              <a:rPr lang="en-GB" smtClean="0"/>
              <a:t>04/03/2026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50D8EB6B-0DD7-4FE7-8C23-2E561196DD42}" type="slidenum">
              <a:rPr lang="en-GB" smtClean="0"/>
              <a:t>‹#›</a:t>
            </a:fld>
            <a:endParaRPr lang="en-GB"/>
          </a:p>
        </p:txBody>
      </p:sp>
    </p:spTree>
    <p:extLst>
      <p:ext uri="{BB962C8B-B14F-4D97-AF65-F5344CB8AC3E}">
        <p14:creationId xmlns:p14="http://schemas.microsoft.com/office/powerpoint/2010/main" val="27162665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597FCB4-DF74-46B5-BA28-74F19DE0E064}" type="datetimeFigureOut">
              <a:rPr lang="en-GB" smtClean="0"/>
              <a:t>04/03/2026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0D8EB6B-0DD7-4FE7-8C23-2E561196DD42}" type="slidenum">
              <a:rPr lang="en-GB" smtClean="0"/>
              <a:t>‹#›</a:t>
            </a:fld>
            <a:endParaRPr lang="en-GB"/>
          </a:p>
        </p:txBody>
      </p:sp>
    </p:spTree>
    <p:extLst>
      <p:ext uri="{BB962C8B-B14F-4D97-AF65-F5344CB8AC3E}">
        <p14:creationId xmlns:p14="http://schemas.microsoft.com/office/powerpoint/2010/main" val="20112103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88982" y="365125"/>
            <a:ext cx="2135981"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1038" y="365125"/>
            <a:ext cx="6284119"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597FCB4-DF74-46B5-BA28-74F19DE0E064}" type="datetimeFigureOut">
              <a:rPr lang="en-GB" smtClean="0"/>
              <a:t>04/03/2026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0D8EB6B-0DD7-4FE7-8C23-2E561196DD42}" type="slidenum">
              <a:rPr lang="en-GB" smtClean="0"/>
              <a:t>‹#›</a:t>
            </a:fld>
            <a:endParaRPr lang="en-GB"/>
          </a:p>
        </p:txBody>
      </p:sp>
    </p:spTree>
    <p:extLst>
      <p:ext uri="{BB962C8B-B14F-4D97-AF65-F5344CB8AC3E}">
        <p14:creationId xmlns:p14="http://schemas.microsoft.com/office/powerpoint/2010/main" val="29314856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1038" y="365127"/>
            <a:ext cx="8543925"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1038" y="1825625"/>
            <a:ext cx="8543925"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81038" y="6356352"/>
            <a:ext cx="222885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597FCB4-DF74-46B5-BA28-74F19DE0E064}" type="datetimeFigureOut">
              <a:rPr lang="en-GB" smtClean="0"/>
              <a:t>04/03/2026</a:t>
            </a:fld>
            <a:endParaRPr lang="en-GB"/>
          </a:p>
        </p:txBody>
      </p:sp>
      <p:sp>
        <p:nvSpPr>
          <p:cNvPr id="5" name="Footer Placeholder 4"/>
          <p:cNvSpPr>
            <a:spLocks noGrp="1"/>
          </p:cNvSpPr>
          <p:nvPr>
            <p:ph type="ftr" sz="quarter" idx="3"/>
          </p:nvPr>
        </p:nvSpPr>
        <p:spPr>
          <a:xfrm>
            <a:off x="3281363" y="6356352"/>
            <a:ext cx="3343275"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p:cNvSpPr>
            <a:spLocks noGrp="1"/>
          </p:cNvSpPr>
          <p:nvPr>
            <p:ph type="sldNum" sz="quarter" idx="4"/>
          </p:nvPr>
        </p:nvSpPr>
        <p:spPr>
          <a:xfrm>
            <a:off x="6996113" y="6356352"/>
            <a:ext cx="222885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0D8EB6B-0DD7-4FE7-8C23-2E561196DD42}" type="slidenum">
              <a:rPr lang="en-GB" smtClean="0"/>
              <a:t>‹#›</a:t>
            </a:fld>
            <a:endParaRPr lang="en-GB"/>
          </a:p>
        </p:txBody>
      </p:sp>
    </p:spTree>
    <p:extLst>
      <p:ext uri="{BB962C8B-B14F-4D97-AF65-F5344CB8AC3E}">
        <p14:creationId xmlns:p14="http://schemas.microsoft.com/office/powerpoint/2010/main" val="91417478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10.svg"/><Relationship Id="rId3" Type="http://schemas.openxmlformats.org/officeDocument/2006/relationships/image" Target="../media/image1.png"/><Relationship Id="rId7" Type="http://schemas.openxmlformats.org/officeDocument/2006/relationships/image" Target="../media/image4.png"/><Relationship Id="rId12"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3.png"/><Relationship Id="rId11" Type="http://schemas.openxmlformats.org/officeDocument/2006/relationships/image" Target="../media/image8.svg"/><Relationship Id="rId5" Type="http://schemas.openxmlformats.org/officeDocument/2006/relationships/image" Target="../media/image2.png"/><Relationship Id="rId10" Type="http://schemas.openxmlformats.org/officeDocument/2006/relationships/image" Target="../media/image7.png"/><Relationship Id="rId4" Type="http://schemas.microsoft.com/office/2007/relationships/hdphoto" Target="../media/hdphoto1.wdp"/><Relationship Id="rId9" Type="http://schemas.openxmlformats.org/officeDocument/2006/relationships/image" Target="../media/image6.svg"/></Relationships>
</file>

<file path=ppt/slides/_rels/slide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6.sv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0.svg"/></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6.svg"/></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8.sv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0.svg"/></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8.sv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3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3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3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D479BA-4146-225E-76BB-0C2842D3ABF9}"/>
              </a:ext>
            </a:extLst>
          </p:cNvPr>
          <p:cNvSpPr>
            <a:spLocks noGrp="1"/>
          </p:cNvSpPr>
          <p:nvPr>
            <p:ph type="ctrTitle"/>
          </p:nvPr>
        </p:nvSpPr>
        <p:spPr>
          <a:xfrm>
            <a:off x="12723" y="1161136"/>
            <a:ext cx="9338599" cy="925074"/>
          </a:xfrm>
        </p:spPr>
        <p:txBody>
          <a:bodyPr>
            <a:noAutofit/>
          </a:bodyPr>
          <a:lstStyle/>
          <a:p>
            <a:r>
              <a:rPr lang="en-GB" dirty="0">
                <a:latin typeface="Cascadia Code" panose="020B0609020000020004" pitchFamily="49" charset="0"/>
                <a:ea typeface="Cascadia Code" panose="020B0609020000020004" pitchFamily="49" charset="0"/>
                <a:cs typeface="Cascadia Code" panose="020B0609020000020004" pitchFamily="49" charset="0"/>
              </a:rPr>
              <a:t>Horses for courses The Game</a:t>
            </a:r>
          </a:p>
        </p:txBody>
      </p:sp>
      <p:sp>
        <p:nvSpPr>
          <p:cNvPr id="5" name="TextBox 4">
            <a:extLst>
              <a:ext uri="{FF2B5EF4-FFF2-40B4-BE49-F238E27FC236}">
                <a16:creationId xmlns:a16="http://schemas.microsoft.com/office/drawing/2014/main" id="{331DBF44-3A47-BDE4-BB9D-EA20B85CE124}"/>
              </a:ext>
            </a:extLst>
          </p:cNvPr>
          <p:cNvSpPr txBox="1"/>
          <p:nvPr/>
        </p:nvSpPr>
        <p:spPr>
          <a:xfrm>
            <a:off x="6429801" y="2800581"/>
            <a:ext cx="4951432" cy="542584"/>
          </a:xfrm>
          <a:prstGeom prst="rect">
            <a:avLst/>
          </a:prstGeom>
          <a:noFill/>
        </p:spPr>
        <p:txBody>
          <a:bodyPr wrap="square">
            <a:spAutoFit/>
          </a:bodyPr>
          <a:lstStyle/>
          <a:p>
            <a:r>
              <a:rPr lang="en-GB" sz="1463" dirty="0"/>
              <a:t>Statistics is not about memorising tests.</a:t>
            </a:r>
            <a:br>
              <a:rPr lang="en-GB" sz="1463" dirty="0"/>
            </a:br>
            <a:r>
              <a:rPr lang="en-GB" sz="1463" dirty="0"/>
              <a:t>It’s about recognising structure.</a:t>
            </a:r>
          </a:p>
        </p:txBody>
      </p:sp>
      <p:pic>
        <p:nvPicPr>
          <p:cNvPr id="6" name="Picture 3" descr="Tools Line Drawing Vector Art, Icons, and Graphics for Free ...">
            <a:extLst>
              <a:ext uri="{FF2B5EF4-FFF2-40B4-BE49-F238E27FC236}">
                <a16:creationId xmlns:a16="http://schemas.microsoft.com/office/drawing/2014/main" id="{64B6B366-D5A4-B017-FD7B-952FF9871205}"/>
              </a:ext>
            </a:extLst>
          </p:cNvPr>
          <p:cNvPicPr>
            <a:picLocks noChangeAspect="1" noChangeArrowheads="1"/>
          </p:cNvPicPr>
          <p:nvPr/>
        </p:nvPicPr>
        <p:blipFill rotWithShape="1">
          <a:blip r:embed="rId3">
            <a:duotone>
              <a:prstClr val="black"/>
              <a:srgbClr val="D9A441">
                <a:tint val="45000"/>
                <a:satMod val="400000"/>
              </a:srgbClr>
            </a:duotone>
            <a:extLst>
              <a:ext uri="{BEBA8EAE-BF5A-486C-A8C5-ECC9F3942E4B}">
                <a14:imgProps xmlns:a14="http://schemas.microsoft.com/office/drawing/2010/main">
                  <a14:imgLayer r:embed="rId4">
                    <a14:imgEffect>
                      <a14:backgroundRemoval t="10000" b="90000" l="10000" r="90000">
                        <a14:foregroundMark x1="21816" y1="52802" x2="22400" y2="57143"/>
                        <a14:foregroundMark x1="17400" y1="20000" x2="21739" y2="52234"/>
                        <a14:foregroundMark x1="22400" y1="57143" x2="21600" y2="72571"/>
                        <a14:foregroundMark x1="26539" y1="49110" x2="26785" y2="47941"/>
                        <a14:foregroundMark x1="21600" y1="72571" x2="24787" y2="57429"/>
                        <a14:foregroundMark x1="29400" y1="58857" x2="32292" y2="64447"/>
                        <a14:foregroundMark x1="45699" y1="23315" x2="47000" y2="59429"/>
                        <a14:foregroundMark x1="59200" y1="26286" x2="60049" y2="36647"/>
                        <a14:foregroundMark x1="57200" y1="33429" x2="57240" y2="36870"/>
                        <a14:foregroundMark x1="75200" y1="20857" x2="85600" y2="24286"/>
                        <a14:foregroundMark x1="75400" y1="30571" x2="75400" y2="62571"/>
                        <a14:foregroundMark x1="82200" y1="41429" x2="83000" y2="73429"/>
                        <a14:foregroundMark x1="65200" y1="82000" x2="58400" y2="81143"/>
                        <a14:foregroundMark x1="57600" y1="62000" x2="57600" y2="62000"/>
                        <a14:foregroundMark x1="67200" y1="36000" x2="65600" y2="47714"/>
                        <a14:foregroundMark x1="31400" y1="79714" x2="34000" y2="80571"/>
                        <a14:foregroundMark x1="32200" y1="34571" x2="37600" y2="36857"/>
                        <a14:backgroundMark x1="28600" y1="70571" x2="40600" y2="74000"/>
                        <a14:backgroundMark x1="40600" y1="74000" x2="50400" y2="69429"/>
                        <a14:backgroundMark x1="50400" y1="69429" x2="52400" y2="58857"/>
                        <a14:backgroundMark x1="54600" y1="71714" x2="67600" y2="66571"/>
                        <a14:backgroundMark x1="67600" y1="66571" x2="67800" y2="62286"/>
                        <a14:backgroundMark x1="61397" y1="46772" x2="61800" y2="57143"/>
                        <a14:backgroundMark x1="61000" y1="36571" x2="61388" y2="46555"/>
                        <a14:backgroundMark x1="61800" y1="57143" x2="62200" y2="57714"/>
                        <a14:backgroundMark x1="45000" y1="20857" x2="45000" y2="14571"/>
                        <a14:backgroundMark x1="44600" y1="21714" x2="46000" y2="10571"/>
                        <a14:backgroundMark x1="47000" y1="22000" x2="45000" y2="13714"/>
                        <a14:backgroundMark x1="46400" y1="21429" x2="43600" y2="16571"/>
                        <a14:backgroundMark x1="46800" y1="22000" x2="45800" y2="23429"/>
                        <a14:backgroundMark x1="35000" y1="40857" x2="35000" y2="48286"/>
                        <a14:backgroundMark x1="26800" y1="52286" x2="26800" y2="57429"/>
                        <a14:backgroundMark x1="29000" y1="41714" x2="32800" y2="41714"/>
                        <a14:backgroundMark x1="25400" y1="51143" x2="29800" y2="37429"/>
                        <a14:backgroundMark x1="29800" y1="37429" x2="29800" y2="37143"/>
                        <a14:backgroundMark x1="27200" y1="41143" x2="31000" y2="31714"/>
                        <a14:backgroundMark x1="27600" y1="42000" x2="29800" y2="41143"/>
                        <a14:backgroundMark x1="25600" y1="50000" x2="26800" y2="54000"/>
                        <a14:backgroundMark x1="31600" y1="66000" x2="33200" y2="66000"/>
                        <a14:backgroundMark x1="26400" y1="49143" x2="27000" y2="54286"/>
                      </a14:backgroundRemoval>
                    </a14:imgEffect>
                  </a14:imgLayer>
                </a14:imgProps>
              </a:ext>
              <a:ext uri="{28A0092B-C50C-407E-A947-70E740481C1C}">
                <a14:useLocalDpi xmlns:a14="http://schemas.microsoft.com/office/drawing/2010/main" val="0"/>
              </a:ext>
            </a:extLst>
          </a:blip>
          <a:srcRect l="41120" t="11362" r="48960" b="26924"/>
          <a:stretch>
            <a:fillRect/>
          </a:stretch>
        </p:blipFill>
        <p:spPr bwMode="auto">
          <a:xfrm>
            <a:off x="1721523" y="4871864"/>
            <a:ext cx="383858" cy="167163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3" descr="Tools Line Drawing Vector Art, Icons, and Graphics for Free ...">
            <a:extLst>
              <a:ext uri="{FF2B5EF4-FFF2-40B4-BE49-F238E27FC236}">
                <a16:creationId xmlns:a16="http://schemas.microsoft.com/office/drawing/2014/main" id="{6B074258-08CA-8B00-29E3-8A84F60C1C4D}"/>
              </a:ext>
            </a:extLst>
          </p:cNvPr>
          <p:cNvPicPr>
            <a:picLocks noChangeAspect="1" noChangeArrowheads="1"/>
          </p:cNvPicPr>
          <p:nvPr/>
        </p:nvPicPr>
        <p:blipFill rotWithShape="1">
          <a:blip r:embed="rId3">
            <a:duotone>
              <a:prstClr val="black"/>
              <a:srgbClr val="D9A441">
                <a:tint val="45000"/>
                <a:satMod val="400000"/>
              </a:srgbClr>
            </a:duotone>
            <a:extLst>
              <a:ext uri="{BEBA8EAE-BF5A-486C-A8C5-ECC9F3942E4B}">
                <a14:imgProps xmlns:a14="http://schemas.microsoft.com/office/drawing/2010/main">
                  <a14:imgLayer r:embed="rId4">
                    <a14:imgEffect>
                      <a14:backgroundRemoval t="10000" b="90000" l="10000" r="90000">
                        <a14:foregroundMark x1="21816" y1="52802" x2="22400" y2="57143"/>
                        <a14:foregroundMark x1="17400" y1="20000" x2="21739" y2="52234"/>
                        <a14:foregroundMark x1="22400" y1="57143" x2="21600" y2="72571"/>
                        <a14:foregroundMark x1="26539" y1="49110" x2="26785" y2="47941"/>
                        <a14:foregroundMark x1="21600" y1="72571" x2="24787" y2="57429"/>
                        <a14:foregroundMark x1="29400" y1="58857" x2="32292" y2="64447"/>
                        <a14:foregroundMark x1="45699" y1="23315" x2="47000" y2="59429"/>
                        <a14:foregroundMark x1="59200" y1="26286" x2="60049" y2="36647"/>
                        <a14:foregroundMark x1="57200" y1="33429" x2="57240" y2="36870"/>
                        <a14:foregroundMark x1="75200" y1="20857" x2="85600" y2="24286"/>
                        <a14:foregroundMark x1="75400" y1="30571" x2="75400" y2="62571"/>
                        <a14:foregroundMark x1="82200" y1="41429" x2="83000" y2="73429"/>
                        <a14:foregroundMark x1="65200" y1="82000" x2="58400" y2="81143"/>
                        <a14:foregroundMark x1="57600" y1="62000" x2="57600" y2="62000"/>
                        <a14:foregroundMark x1="67200" y1="36000" x2="65600" y2="47714"/>
                        <a14:foregroundMark x1="31400" y1="79714" x2="34000" y2="80571"/>
                        <a14:foregroundMark x1="32200" y1="34571" x2="37600" y2="36857"/>
                        <a14:backgroundMark x1="28600" y1="70571" x2="40600" y2="74000"/>
                        <a14:backgroundMark x1="40600" y1="74000" x2="50400" y2="69429"/>
                        <a14:backgroundMark x1="50400" y1="69429" x2="52400" y2="58857"/>
                        <a14:backgroundMark x1="54600" y1="71714" x2="67600" y2="66571"/>
                        <a14:backgroundMark x1="67600" y1="66571" x2="67800" y2="62286"/>
                        <a14:backgroundMark x1="61397" y1="46772" x2="61800" y2="57143"/>
                        <a14:backgroundMark x1="61000" y1="36571" x2="61388" y2="46555"/>
                        <a14:backgroundMark x1="61800" y1="57143" x2="62200" y2="57714"/>
                        <a14:backgroundMark x1="45000" y1="20857" x2="45000" y2="14571"/>
                        <a14:backgroundMark x1="44600" y1="21714" x2="46000" y2="10571"/>
                        <a14:backgroundMark x1="47000" y1="22000" x2="45000" y2="13714"/>
                        <a14:backgroundMark x1="46400" y1="21429" x2="43600" y2="16571"/>
                        <a14:backgroundMark x1="46800" y1="22000" x2="45800" y2="23429"/>
                        <a14:backgroundMark x1="35000" y1="40857" x2="35000" y2="48286"/>
                        <a14:backgroundMark x1="26800" y1="52286" x2="26800" y2="57429"/>
                        <a14:backgroundMark x1="29000" y1="41714" x2="32800" y2="41714"/>
                        <a14:backgroundMark x1="25400" y1="51143" x2="29800" y2="37429"/>
                        <a14:backgroundMark x1="29800" y1="37429" x2="29800" y2="37143"/>
                        <a14:backgroundMark x1="27200" y1="41143" x2="31000" y2="31714"/>
                        <a14:backgroundMark x1="27600" y1="42000" x2="29800" y2="41143"/>
                        <a14:backgroundMark x1="25600" y1="50000" x2="26800" y2="54000"/>
                        <a14:backgroundMark x1="31600" y1="66000" x2="33200" y2="66000"/>
                        <a14:backgroundMark x1="26400" y1="49143" x2="27000" y2="54286"/>
                      </a14:backgroundRemoval>
                    </a14:imgEffect>
                  </a14:imgLayer>
                </a14:imgProps>
              </a:ext>
              <a:ext uri="{28A0092B-C50C-407E-A947-70E740481C1C}">
                <a14:useLocalDpi xmlns:a14="http://schemas.microsoft.com/office/drawing/2010/main" val="0"/>
              </a:ext>
            </a:extLst>
          </a:blip>
          <a:srcRect l="63200" t="30693" r="30080" b="35248"/>
          <a:stretch>
            <a:fillRect/>
          </a:stretch>
        </p:blipFill>
        <p:spPr bwMode="auto">
          <a:xfrm>
            <a:off x="1263944" y="5774349"/>
            <a:ext cx="260033" cy="922564"/>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3" descr="Tools Line Drawing Vector Art, Icons, and Graphics for Free ...">
            <a:extLst>
              <a:ext uri="{FF2B5EF4-FFF2-40B4-BE49-F238E27FC236}">
                <a16:creationId xmlns:a16="http://schemas.microsoft.com/office/drawing/2014/main" id="{3E6D161C-59A3-E3EB-1588-2539AE0D0E8D}"/>
              </a:ext>
            </a:extLst>
          </p:cNvPr>
          <p:cNvPicPr>
            <a:picLocks noChangeAspect="1" noChangeArrowheads="1"/>
          </p:cNvPicPr>
          <p:nvPr/>
        </p:nvPicPr>
        <p:blipFill rotWithShape="1">
          <a:blip r:embed="rId3">
            <a:duotone>
              <a:prstClr val="black"/>
              <a:srgbClr val="D9A441">
                <a:tint val="45000"/>
                <a:satMod val="400000"/>
              </a:srgbClr>
            </a:duotone>
            <a:extLst>
              <a:ext uri="{BEBA8EAE-BF5A-486C-A8C5-ECC9F3942E4B}">
                <a14:imgProps xmlns:a14="http://schemas.microsoft.com/office/drawing/2010/main">
                  <a14:imgLayer r:embed="rId4">
                    <a14:imgEffect>
                      <a14:backgroundRemoval t="10000" b="90000" l="10000" r="90000">
                        <a14:foregroundMark x1="21816" y1="52802" x2="22400" y2="57143"/>
                        <a14:foregroundMark x1="17400" y1="20000" x2="21739" y2="52234"/>
                        <a14:foregroundMark x1="22400" y1="57143" x2="21600" y2="72571"/>
                        <a14:foregroundMark x1="26539" y1="49110" x2="26785" y2="47941"/>
                        <a14:foregroundMark x1="21600" y1="72571" x2="24787" y2="57429"/>
                        <a14:foregroundMark x1="29400" y1="58857" x2="32292" y2="64447"/>
                        <a14:foregroundMark x1="45699" y1="23315" x2="47000" y2="59429"/>
                        <a14:foregroundMark x1="59200" y1="26286" x2="60049" y2="36647"/>
                        <a14:foregroundMark x1="57200" y1="33429" x2="57240" y2="36870"/>
                        <a14:foregroundMark x1="75200" y1="20857" x2="85600" y2="24286"/>
                        <a14:foregroundMark x1="75400" y1="30571" x2="75400" y2="62571"/>
                        <a14:foregroundMark x1="82200" y1="41429" x2="83000" y2="73429"/>
                        <a14:foregroundMark x1="65200" y1="82000" x2="58400" y2="81143"/>
                        <a14:foregroundMark x1="57600" y1="62000" x2="57600" y2="62000"/>
                        <a14:foregroundMark x1="67200" y1="36000" x2="65600" y2="47714"/>
                        <a14:foregroundMark x1="31400" y1="79714" x2="34000" y2="80571"/>
                        <a14:foregroundMark x1="32200" y1="34571" x2="37600" y2="36857"/>
                        <a14:backgroundMark x1="28600" y1="70571" x2="40600" y2="74000"/>
                        <a14:backgroundMark x1="40600" y1="74000" x2="50400" y2="69429"/>
                        <a14:backgroundMark x1="50400" y1="69429" x2="52400" y2="58857"/>
                        <a14:backgroundMark x1="54600" y1="71714" x2="67600" y2="66571"/>
                        <a14:backgroundMark x1="67600" y1="66571" x2="67800" y2="62286"/>
                        <a14:backgroundMark x1="61397" y1="46772" x2="61800" y2="57143"/>
                        <a14:backgroundMark x1="61000" y1="36571" x2="61388" y2="46555"/>
                        <a14:backgroundMark x1="61800" y1="57143" x2="62200" y2="57714"/>
                        <a14:backgroundMark x1="45000" y1="20857" x2="45000" y2="14571"/>
                        <a14:backgroundMark x1="44600" y1="21714" x2="46000" y2="10571"/>
                        <a14:backgroundMark x1="47000" y1="22000" x2="45000" y2="13714"/>
                        <a14:backgroundMark x1="46400" y1="21429" x2="43600" y2="16571"/>
                        <a14:backgroundMark x1="46800" y1="22000" x2="45800" y2="23429"/>
                        <a14:backgroundMark x1="35000" y1="40857" x2="35000" y2="48286"/>
                        <a14:backgroundMark x1="26800" y1="52286" x2="26800" y2="57429"/>
                        <a14:backgroundMark x1="29000" y1="41714" x2="32800" y2="41714"/>
                        <a14:backgroundMark x1="25400" y1="51143" x2="29800" y2="37429"/>
                        <a14:backgroundMark x1="29800" y1="37429" x2="29800" y2="37143"/>
                        <a14:backgroundMark x1="27200" y1="41143" x2="31000" y2="31714"/>
                        <a14:backgroundMark x1="27600" y1="42000" x2="29800" y2="41143"/>
                        <a14:backgroundMark x1="25600" y1="50000" x2="26800" y2="54000"/>
                        <a14:backgroundMark x1="31600" y1="66000" x2="33200" y2="66000"/>
                        <a14:backgroundMark x1="26400" y1="49143" x2="27000" y2="54286"/>
                      </a14:backgroundRemoval>
                    </a14:imgEffect>
                  </a14:imgLayer>
                </a14:imgProps>
              </a:ext>
              <a:ext uri="{28A0092B-C50C-407E-A947-70E740481C1C}">
                <a14:useLocalDpi xmlns:a14="http://schemas.microsoft.com/office/drawing/2010/main" val="0"/>
              </a:ext>
            </a:extLst>
          </a:blip>
          <a:srcRect l="79118" t="37273" r="10962" b="16612"/>
          <a:stretch>
            <a:fillRect/>
          </a:stretch>
        </p:blipFill>
        <p:spPr bwMode="auto">
          <a:xfrm>
            <a:off x="2804603" y="5205341"/>
            <a:ext cx="383858" cy="1249136"/>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3" descr="Tools Line Drawing Vector Art, Icons, and Graphics for Free ...">
            <a:extLst>
              <a:ext uri="{FF2B5EF4-FFF2-40B4-BE49-F238E27FC236}">
                <a16:creationId xmlns:a16="http://schemas.microsoft.com/office/drawing/2014/main" id="{40B07C41-93BA-2E78-10EB-A66273FEDCAF}"/>
              </a:ext>
            </a:extLst>
          </p:cNvPr>
          <p:cNvPicPr>
            <a:picLocks noChangeAspect="1" noChangeArrowheads="1"/>
          </p:cNvPicPr>
          <p:nvPr/>
        </p:nvPicPr>
        <p:blipFill rotWithShape="1">
          <a:blip r:embed="rId3">
            <a:duotone>
              <a:prstClr val="black"/>
              <a:srgbClr val="D9A441">
                <a:tint val="45000"/>
                <a:satMod val="400000"/>
              </a:srgbClr>
            </a:duotone>
            <a:extLst>
              <a:ext uri="{BEBA8EAE-BF5A-486C-A8C5-ECC9F3942E4B}">
                <a14:imgProps xmlns:a14="http://schemas.microsoft.com/office/drawing/2010/main">
                  <a14:imgLayer r:embed="rId4">
                    <a14:imgEffect>
                      <a14:backgroundRemoval t="10000" b="90000" l="10000" r="90000">
                        <a14:foregroundMark x1="21816" y1="52802" x2="22400" y2="57143"/>
                        <a14:foregroundMark x1="17400" y1="20000" x2="21739" y2="52234"/>
                        <a14:foregroundMark x1="22400" y1="57143" x2="21600" y2="72571"/>
                        <a14:foregroundMark x1="26539" y1="49110" x2="26785" y2="47941"/>
                        <a14:foregroundMark x1="21600" y1="72571" x2="24787" y2="57429"/>
                        <a14:foregroundMark x1="29400" y1="58857" x2="32292" y2="64447"/>
                        <a14:foregroundMark x1="45699" y1="23315" x2="47000" y2="59429"/>
                        <a14:foregroundMark x1="59200" y1="26286" x2="60049" y2="36647"/>
                        <a14:foregroundMark x1="57200" y1="33429" x2="57240" y2="36870"/>
                        <a14:foregroundMark x1="75200" y1="20857" x2="85600" y2="24286"/>
                        <a14:foregroundMark x1="75400" y1="30571" x2="75400" y2="62571"/>
                        <a14:foregroundMark x1="82200" y1="41429" x2="83000" y2="73429"/>
                        <a14:foregroundMark x1="65200" y1="82000" x2="58400" y2="81143"/>
                        <a14:foregroundMark x1="57600" y1="62000" x2="57600" y2="62000"/>
                        <a14:foregroundMark x1="67200" y1="36000" x2="65600" y2="47714"/>
                        <a14:foregroundMark x1="31400" y1="79714" x2="34000" y2="80571"/>
                        <a14:foregroundMark x1="32200" y1="34571" x2="37600" y2="36857"/>
                        <a14:backgroundMark x1="28600" y1="70571" x2="40600" y2="74000"/>
                        <a14:backgroundMark x1="40600" y1="74000" x2="50400" y2="69429"/>
                        <a14:backgroundMark x1="50400" y1="69429" x2="52400" y2="58857"/>
                        <a14:backgroundMark x1="54600" y1="71714" x2="67600" y2="66571"/>
                        <a14:backgroundMark x1="67600" y1="66571" x2="67800" y2="62286"/>
                        <a14:backgroundMark x1="61397" y1="46772" x2="61800" y2="57143"/>
                        <a14:backgroundMark x1="61000" y1="36571" x2="61388" y2="46555"/>
                        <a14:backgroundMark x1="61800" y1="57143" x2="62200" y2="57714"/>
                        <a14:backgroundMark x1="45000" y1="20857" x2="45000" y2="14571"/>
                        <a14:backgroundMark x1="44600" y1="21714" x2="46000" y2="10571"/>
                        <a14:backgroundMark x1="47000" y1="22000" x2="45000" y2="13714"/>
                        <a14:backgroundMark x1="46400" y1="21429" x2="43600" y2="16571"/>
                        <a14:backgroundMark x1="46800" y1="22000" x2="45800" y2="23429"/>
                        <a14:backgroundMark x1="35000" y1="40857" x2="35000" y2="48286"/>
                        <a14:backgroundMark x1="26800" y1="52286" x2="26800" y2="57429"/>
                        <a14:backgroundMark x1="29000" y1="41714" x2="32800" y2="41714"/>
                        <a14:backgroundMark x1="25400" y1="51143" x2="29800" y2="37429"/>
                        <a14:backgroundMark x1="29800" y1="37429" x2="29800" y2="37143"/>
                        <a14:backgroundMark x1="27200" y1="41143" x2="31000" y2="31714"/>
                        <a14:backgroundMark x1="27600" y1="42000" x2="29800" y2="41143"/>
                        <a14:backgroundMark x1="25600" y1="50000" x2="26800" y2="54000"/>
                        <a14:backgroundMark x1="31600" y1="66000" x2="33200" y2="66000"/>
                        <a14:backgroundMark x1="26400" y1="49143" x2="27000" y2="54286"/>
                      </a14:backgroundRemoval>
                    </a14:imgEffect>
                  </a14:imgLayer>
                </a14:imgProps>
              </a:ext>
              <a:ext uri="{28A0092B-C50C-407E-A947-70E740481C1C}">
                <a14:useLocalDpi xmlns:a14="http://schemas.microsoft.com/office/drawing/2010/main" val="0"/>
              </a:ext>
            </a:extLst>
          </a:blip>
          <a:srcRect l="26089" t="71936" r="29389" b="13050"/>
          <a:stretch>
            <a:fillRect/>
          </a:stretch>
        </p:blipFill>
        <p:spPr bwMode="auto">
          <a:xfrm rot="5225176">
            <a:off x="8214347" y="5312233"/>
            <a:ext cx="1722801" cy="406680"/>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5" descr="Tools Line Drawing Vector Art, Icons, and Graphics for Free ...">
            <a:extLst>
              <a:ext uri="{FF2B5EF4-FFF2-40B4-BE49-F238E27FC236}">
                <a16:creationId xmlns:a16="http://schemas.microsoft.com/office/drawing/2014/main" id="{7C3AB192-2AC1-F14E-AEA4-13BABB9B13A7}"/>
              </a:ext>
            </a:extLst>
          </p:cNvPr>
          <p:cNvPicPr>
            <a:picLocks noChangeAspect="1" noChangeArrowheads="1"/>
          </p:cNvPicPr>
          <p:nvPr/>
        </p:nvPicPr>
        <p:blipFill rotWithShape="1">
          <a:blip r:embed="rId3">
            <a:duotone>
              <a:prstClr val="black"/>
              <a:srgbClr val="D9A441">
                <a:tint val="45000"/>
                <a:satMod val="400000"/>
              </a:srgbClr>
            </a:duotone>
            <a:extLst>
              <a:ext uri="{BEBA8EAE-BF5A-486C-A8C5-ECC9F3942E4B}">
                <a14:imgProps xmlns:a14="http://schemas.microsoft.com/office/drawing/2010/main">
                  <a14:imgLayer r:embed="rId4">
                    <a14:imgEffect>
                      <a14:backgroundRemoval t="10000" b="90000" l="10000" r="90000">
                        <a14:foregroundMark x1="21816" y1="52802" x2="22400" y2="57143"/>
                        <a14:foregroundMark x1="17400" y1="20000" x2="21739" y2="52234"/>
                        <a14:foregroundMark x1="22400" y1="57143" x2="21600" y2="72571"/>
                        <a14:foregroundMark x1="26539" y1="49110" x2="26785" y2="47941"/>
                        <a14:foregroundMark x1="21600" y1="72571" x2="24787" y2="57429"/>
                        <a14:foregroundMark x1="29400" y1="58857" x2="32292" y2="64447"/>
                        <a14:foregroundMark x1="45699" y1="23315" x2="47000" y2="59429"/>
                        <a14:foregroundMark x1="59200" y1="26286" x2="60049" y2="36647"/>
                        <a14:foregroundMark x1="57200" y1="33429" x2="57240" y2="36870"/>
                        <a14:foregroundMark x1="75200" y1="20857" x2="85600" y2="24286"/>
                        <a14:foregroundMark x1="75400" y1="30571" x2="75400" y2="62571"/>
                        <a14:foregroundMark x1="82200" y1="41429" x2="83000" y2="73429"/>
                        <a14:foregroundMark x1="65200" y1="82000" x2="58400" y2="81143"/>
                        <a14:foregroundMark x1="57600" y1="62000" x2="57600" y2="62000"/>
                        <a14:foregroundMark x1="67200" y1="36000" x2="65600" y2="47714"/>
                        <a14:foregroundMark x1="31400" y1="79714" x2="34000" y2="80571"/>
                        <a14:foregroundMark x1="32200" y1="34571" x2="37600" y2="36857"/>
                        <a14:backgroundMark x1="28600" y1="70571" x2="40600" y2="74000"/>
                        <a14:backgroundMark x1="40600" y1="74000" x2="50400" y2="69429"/>
                        <a14:backgroundMark x1="50400" y1="69429" x2="52400" y2="58857"/>
                        <a14:backgroundMark x1="54600" y1="71714" x2="67600" y2="66571"/>
                        <a14:backgroundMark x1="67600" y1="66571" x2="67800" y2="62286"/>
                        <a14:backgroundMark x1="61397" y1="46772" x2="61800" y2="57143"/>
                        <a14:backgroundMark x1="61000" y1="36571" x2="61388" y2="46555"/>
                        <a14:backgroundMark x1="61800" y1="57143" x2="62200" y2="57714"/>
                        <a14:backgroundMark x1="45000" y1="20857" x2="45000" y2="14571"/>
                        <a14:backgroundMark x1="44600" y1="21714" x2="46000" y2="10571"/>
                        <a14:backgroundMark x1="47000" y1="22000" x2="45000" y2="13714"/>
                        <a14:backgroundMark x1="46400" y1="21429" x2="43600" y2="16571"/>
                        <a14:backgroundMark x1="46800" y1="22000" x2="45800" y2="23429"/>
                        <a14:backgroundMark x1="35000" y1="40857" x2="35000" y2="48286"/>
                        <a14:backgroundMark x1="26800" y1="52286" x2="26800" y2="57429"/>
                        <a14:backgroundMark x1="29000" y1="41714" x2="32800" y2="41714"/>
                        <a14:backgroundMark x1="25400" y1="51143" x2="29800" y2="37429"/>
                        <a14:backgroundMark x1="29800" y1="37429" x2="29800" y2="37143"/>
                        <a14:backgroundMark x1="27200" y1="41143" x2="31000" y2="31714"/>
                        <a14:backgroundMark x1="27600" y1="42000" x2="29800" y2="41143"/>
                        <a14:backgroundMark x1="25600" y1="50000" x2="26800" y2="54000"/>
                        <a14:backgroundMark x1="31600" y1="66000" x2="33200" y2="66000"/>
                        <a14:backgroundMark x1="26400" y1="49143" x2="27000" y2="54286"/>
                      </a14:backgroundRemoval>
                    </a14:imgEffect>
                  </a14:imgLayer>
                </a14:imgProps>
              </a:ext>
              <a:ext uri="{28A0092B-C50C-407E-A947-70E740481C1C}">
                <a14:useLocalDpi xmlns:a14="http://schemas.microsoft.com/office/drawing/2010/main" val="0"/>
              </a:ext>
            </a:extLst>
          </a:blip>
          <a:srcRect l="64882" t="11918" r="12517" b="17038"/>
          <a:stretch>
            <a:fillRect/>
          </a:stretch>
        </p:blipFill>
        <p:spPr bwMode="auto">
          <a:xfrm rot="604486">
            <a:off x="2050355" y="4638527"/>
            <a:ext cx="874560" cy="1924362"/>
          </a:xfrm>
          <a:custGeom>
            <a:avLst/>
            <a:gdLst>
              <a:gd name="csX0" fmla="*/ 520387 w 1076381"/>
              <a:gd name="csY0" fmla="*/ 0 h 2368445"/>
              <a:gd name="csX1" fmla="*/ 561718 w 1076381"/>
              <a:gd name="csY1" fmla="*/ 2863 h 2368445"/>
              <a:gd name="csX2" fmla="*/ 1059453 w 1076381"/>
              <a:gd name="csY2" fmla="*/ 47102 h 2368445"/>
              <a:gd name="csX3" fmla="*/ 1076380 w 1076381"/>
              <a:gd name="csY3" fmla="*/ 52998 h 2368445"/>
              <a:gd name="csX4" fmla="*/ 1076381 w 1076381"/>
              <a:gd name="csY4" fmla="*/ 541364 h 2368445"/>
              <a:gd name="csX5" fmla="*/ 1073695 w 1076381"/>
              <a:gd name="csY5" fmla="*/ 543609 h 2368445"/>
              <a:gd name="csX6" fmla="*/ 1014108 w 1076381"/>
              <a:gd name="csY6" fmla="*/ 596063 h 2368445"/>
              <a:gd name="csX7" fmla="*/ 953644 w 1076381"/>
              <a:gd name="csY7" fmla="*/ 657834 h 2368445"/>
              <a:gd name="csX8" fmla="*/ 808307 w 1076381"/>
              <a:gd name="csY8" fmla="*/ 816330 h 2368445"/>
              <a:gd name="csX9" fmla="*/ 728054 w 1076381"/>
              <a:gd name="csY9" fmla="*/ 881618 h 2368445"/>
              <a:gd name="csX10" fmla="*/ 715050 w 1076381"/>
              <a:gd name="csY10" fmla="*/ 1210511 h 2368445"/>
              <a:gd name="csX11" fmla="*/ 700086 w 1076381"/>
              <a:gd name="csY11" fmla="*/ 1356050 h 2368445"/>
              <a:gd name="csX12" fmla="*/ 695015 w 1076381"/>
              <a:gd name="csY12" fmla="*/ 1499831 h 2368445"/>
              <a:gd name="csX13" fmla="*/ 687735 w 1076381"/>
              <a:gd name="csY13" fmla="*/ 1746063 h 2368445"/>
              <a:gd name="csX14" fmla="*/ 672117 w 1076381"/>
              <a:gd name="csY14" fmla="*/ 1830483 h 2368445"/>
              <a:gd name="csX15" fmla="*/ 712094 w 1076381"/>
              <a:gd name="csY15" fmla="*/ 2170374 h 2368445"/>
              <a:gd name="csX16" fmla="*/ 674932 w 1076381"/>
              <a:gd name="csY16" fmla="*/ 2248418 h 2368445"/>
              <a:gd name="csX17" fmla="*/ 669208 w 1076381"/>
              <a:gd name="csY17" fmla="*/ 2331080 h 2368445"/>
              <a:gd name="csX18" fmla="*/ 573789 w 1076381"/>
              <a:gd name="csY18" fmla="*/ 2368445 h 2368445"/>
              <a:gd name="csX19" fmla="*/ 499262 w 1076381"/>
              <a:gd name="csY19" fmla="*/ 2351069 h 2368445"/>
              <a:gd name="csX20" fmla="*/ 454414 w 1076381"/>
              <a:gd name="csY20" fmla="*/ 2328420 h 2368445"/>
              <a:gd name="csX21" fmla="*/ 391539 w 1076381"/>
              <a:gd name="csY21" fmla="*/ 2319181 h 2368445"/>
              <a:gd name="csX22" fmla="*/ 358343 w 1076381"/>
              <a:gd name="csY22" fmla="*/ 2304667 h 2368445"/>
              <a:gd name="csX23" fmla="*/ 331524 w 1076381"/>
              <a:gd name="csY23" fmla="*/ 2268608 h 2368445"/>
              <a:gd name="csX24" fmla="*/ 271309 w 1076381"/>
              <a:gd name="csY24" fmla="*/ 2044575 h 2368445"/>
              <a:gd name="csX25" fmla="*/ 272522 w 1076381"/>
              <a:gd name="csY25" fmla="*/ 1989767 h 2368445"/>
              <a:gd name="csX26" fmla="*/ 272610 w 1076381"/>
              <a:gd name="csY26" fmla="*/ 1986158 h 2368445"/>
              <a:gd name="csX27" fmla="*/ 272613 w 1076381"/>
              <a:gd name="csY27" fmla="*/ 1986057 h 2368445"/>
              <a:gd name="csX28" fmla="*/ 272879 w 1076381"/>
              <a:gd name="csY28" fmla="*/ 1975063 h 2368445"/>
              <a:gd name="csX29" fmla="*/ 272610 w 1076381"/>
              <a:gd name="csY29" fmla="*/ 1986158 h 2368445"/>
              <a:gd name="csX30" fmla="*/ 271952 w 1076381"/>
              <a:gd name="csY30" fmla="*/ 2008347 h 2368445"/>
              <a:gd name="csX31" fmla="*/ 270002 w 1076381"/>
              <a:gd name="csY31" fmla="*/ 1922339 h 2368445"/>
              <a:gd name="csX32" fmla="*/ 272865 w 1076381"/>
              <a:gd name="csY32" fmla="*/ 1881008 h 2368445"/>
              <a:gd name="csX33" fmla="*/ 211793 w 1076381"/>
              <a:gd name="csY33" fmla="*/ 1422396 h 2368445"/>
              <a:gd name="csX34" fmla="*/ 232684 w 1076381"/>
              <a:gd name="csY34" fmla="*/ 1367655 h 2368445"/>
              <a:gd name="csX35" fmla="*/ 230273 w 1076381"/>
              <a:gd name="csY35" fmla="*/ 1296643 h 2368445"/>
              <a:gd name="csX36" fmla="*/ 238860 w 1076381"/>
              <a:gd name="csY36" fmla="*/ 1172649 h 2368445"/>
              <a:gd name="csX37" fmla="*/ 246343 w 1076381"/>
              <a:gd name="csY37" fmla="*/ 1099880 h 2368445"/>
              <a:gd name="csX38" fmla="*/ 252066 w 1076381"/>
              <a:gd name="csY38" fmla="*/ 1017217 h 2368445"/>
              <a:gd name="csX39" fmla="*/ 263065 w 1076381"/>
              <a:gd name="csY39" fmla="*/ 964234 h 2368445"/>
              <a:gd name="csX40" fmla="*/ 230118 w 1076381"/>
              <a:gd name="csY40" fmla="*/ 663917 h 2368445"/>
              <a:gd name="csX41" fmla="*/ 208449 w 1076381"/>
              <a:gd name="csY41" fmla="*/ 656837 h 2368445"/>
              <a:gd name="csX42" fmla="*/ 167507 w 1076381"/>
              <a:gd name="csY42" fmla="*/ 636302 h 2368445"/>
              <a:gd name="csX43" fmla="*/ 115817 w 1076381"/>
              <a:gd name="csY43" fmla="*/ 596923 h 2368445"/>
              <a:gd name="csX44" fmla="*/ 0 w 1076381"/>
              <a:gd name="csY44" fmla="*/ 567551 h 2368445"/>
              <a:gd name="csX45" fmla="*/ 0 w 1076381"/>
              <a:gd name="csY45" fmla="*/ 167999 h 2368445"/>
              <a:gd name="csX46" fmla="*/ 23092 w 1076381"/>
              <a:gd name="csY46" fmla="*/ 158476 h 2368445"/>
              <a:gd name="csX47" fmla="*/ 83972 w 1076381"/>
              <a:gd name="csY47" fmla="*/ 128567 h 2368445"/>
              <a:gd name="csX48" fmla="*/ 215449 w 1076381"/>
              <a:gd name="csY48" fmla="*/ 64385 h 2368445"/>
              <a:gd name="csX49" fmla="*/ 520387 w 1076381"/>
              <a:gd name="csY49" fmla="*/ 0 h 23684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Lst>
            <a:rect l="l" t="t" r="r" b="b"/>
            <a:pathLst>
              <a:path w="1076381" h="2368445">
                <a:moveTo>
                  <a:pt x="520387" y="0"/>
                </a:moveTo>
                <a:cubicBezTo>
                  <a:pt x="520387" y="0"/>
                  <a:pt x="547961" y="1661"/>
                  <a:pt x="561718" y="2863"/>
                </a:cubicBezTo>
                <a:cubicBezTo>
                  <a:pt x="727651" y="17362"/>
                  <a:pt x="895180" y="19562"/>
                  <a:pt x="1059453" y="47102"/>
                </a:cubicBezTo>
                <a:lnTo>
                  <a:pt x="1076380" y="52998"/>
                </a:lnTo>
                <a:lnTo>
                  <a:pt x="1076381" y="541364"/>
                </a:lnTo>
                <a:lnTo>
                  <a:pt x="1073695" y="543609"/>
                </a:lnTo>
                <a:cubicBezTo>
                  <a:pt x="1058318" y="556831"/>
                  <a:pt x="1038862" y="573903"/>
                  <a:pt x="1014108" y="596063"/>
                </a:cubicBezTo>
                <a:cubicBezTo>
                  <a:pt x="992640" y="615280"/>
                  <a:pt x="974682" y="638147"/>
                  <a:pt x="953644" y="657834"/>
                </a:cubicBezTo>
                <a:cubicBezTo>
                  <a:pt x="816494" y="786171"/>
                  <a:pt x="866314" y="709873"/>
                  <a:pt x="808307" y="816330"/>
                </a:cubicBezTo>
                <a:cubicBezTo>
                  <a:pt x="781556" y="838093"/>
                  <a:pt x="753809" y="858686"/>
                  <a:pt x="728054" y="881618"/>
                </a:cubicBezTo>
                <a:cubicBezTo>
                  <a:pt x="625844" y="972627"/>
                  <a:pt x="699785" y="1001081"/>
                  <a:pt x="715050" y="1210511"/>
                </a:cubicBezTo>
                <a:cubicBezTo>
                  <a:pt x="715050" y="1210511"/>
                  <a:pt x="704718" y="1307501"/>
                  <a:pt x="700086" y="1356050"/>
                </a:cubicBezTo>
                <a:cubicBezTo>
                  <a:pt x="695931" y="1399601"/>
                  <a:pt x="694879" y="1462371"/>
                  <a:pt x="695015" y="1499831"/>
                </a:cubicBezTo>
                <a:cubicBezTo>
                  <a:pt x="695468" y="1624116"/>
                  <a:pt x="705087" y="1627983"/>
                  <a:pt x="687735" y="1746063"/>
                </a:cubicBezTo>
                <a:cubicBezTo>
                  <a:pt x="680522" y="1795143"/>
                  <a:pt x="667288" y="1780894"/>
                  <a:pt x="672117" y="1830483"/>
                </a:cubicBezTo>
                <a:cubicBezTo>
                  <a:pt x="683171" y="1944024"/>
                  <a:pt x="698768" y="2057077"/>
                  <a:pt x="712094" y="2170374"/>
                </a:cubicBezTo>
                <a:cubicBezTo>
                  <a:pt x="699707" y="2196388"/>
                  <a:pt x="682361" y="2220579"/>
                  <a:pt x="674932" y="2248418"/>
                </a:cubicBezTo>
                <a:cubicBezTo>
                  <a:pt x="667810" y="2275104"/>
                  <a:pt x="687007" y="2309959"/>
                  <a:pt x="669208" y="2331080"/>
                </a:cubicBezTo>
                <a:cubicBezTo>
                  <a:pt x="647197" y="2357201"/>
                  <a:pt x="605595" y="2355989"/>
                  <a:pt x="573789" y="2368445"/>
                </a:cubicBezTo>
                <a:cubicBezTo>
                  <a:pt x="543226" y="2363954"/>
                  <a:pt x="530312" y="2363570"/>
                  <a:pt x="499262" y="2351069"/>
                </a:cubicBezTo>
                <a:cubicBezTo>
                  <a:pt x="483726" y="2344814"/>
                  <a:pt x="469364" y="2335969"/>
                  <a:pt x="454414" y="2328420"/>
                </a:cubicBezTo>
                <a:cubicBezTo>
                  <a:pt x="433455" y="2325340"/>
                  <a:pt x="412103" y="2324264"/>
                  <a:pt x="391539" y="2319181"/>
                </a:cubicBezTo>
                <a:cubicBezTo>
                  <a:pt x="379815" y="2316282"/>
                  <a:pt x="367578" y="2312449"/>
                  <a:pt x="358343" y="2304667"/>
                </a:cubicBezTo>
                <a:cubicBezTo>
                  <a:pt x="346888" y="2295014"/>
                  <a:pt x="336278" y="2282814"/>
                  <a:pt x="331524" y="2268608"/>
                </a:cubicBezTo>
                <a:cubicBezTo>
                  <a:pt x="306986" y="2195277"/>
                  <a:pt x="291381" y="2119253"/>
                  <a:pt x="271309" y="2044575"/>
                </a:cubicBezTo>
                <a:cubicBezTo>
                  <a:pt x="271882" y="2018021"/>
                  <a:pt x="272273" y="2000552"/>
                  <a:pt x="272522" y="1989767"/>
                </a:cubicBezTo>
                <a:lnTo>
                  <a:pt x="272610" y="1986158"/>
                </a:lnTo>
                <a:lnTo>
                  <a:pt x="272613" y="1986057"/>
                </a:lnTo>
                <a:cubicBezTo>
                  <a:pt x="272780" y="1979710"/>
                  <a:pt x="272882" y="1975245"/>
                  <a:pt x="272879" y="1975063"/>
                </a:cubicBezTo>
                <a:lnTo>
                  <a:pt x="272610" y="1986158"/>
                </a:lnTo>
                <a:lnTo>
                  <a:pt x="271952" y="2008347"/>
                </a:lnTo>
                <a:cubicBezTo>
                  <a:pt x="270913" y="2039192"/>
                  <a:pt x="269442" y="2061741"/>
                  <a:pt x="270002" y="1922339"/>
                </a:cubicBezTo>
                <a:cubicBezTo>
                  <a:pt x="270057" y="1908530"/>
                  <a:pt x="274462" y="1894725"/>
                  <a:pt x="272865" y="1881008"/>
                </a:cubicBezTo>
                <a:cubicBezTo>
                  <a:pt x="255030" y="1727823"/>
                  <a:pt x="232150" y="1575267"/>
                  <a:pt x="211793" y="1422396"/>
                </a:cubicBezTo>
                <a:cubicBezTo>
                  <a:pt x="218756" y="1404149"/>
                  <a:pt x="229844" y="1386978"/>
                  <a:pt x="232684" y="1367655"/>
                </a:cubicBezTo>
                <a:cubicBezTo>
                  <a:pt x="236128" y="1344222"/>
                  <a:pt x="231076" y="1320313"/>
                  <a:pt x="230273" y="1296643"/>
                </a:cubicBezTo>
                <a:cubicBezTo>
                  <a:pt x="228867" y="1255236"/>
                  <a:pt x="235487" y="1213942"/>
                  <a:pt x="238860" y="1172649"/>
                </a:cubicBezTo>
                <a:cubicBezTo>
                  <a:pt x="240845" y="1148346"/>
                  <a:pt x="244278" y="1124177"/>
                  <a:pt x="246343" y="1099880"/>
                </a:cubicBezTo>
                <a:cubicBezTo>
                  <a:pt x="248681" y="1072358"/>
                  <a:pt x="248687" y="1044630"/>
                  <a:pt x="252066" y="1017217"/>
                </a:cubicBezTo>
                <a:cubicBezTo>
                  <a:pt x="254273" y="999315"/>
                  <a:pt x="262146" y="982249"/>
                  <a:pt x="263065" y="964234"/>
                </a:cubicBezTo>
                <a:cubicBezTo>
                  <a:pt x="266460" y="897651"/>
                  <a:pt x="231372" y="669757"/>
                  <a:pt x="230118" y="663917"/>
                </a:cubicBezTo>
                <a:cubicBezTo>
                  <a:pt x="225670" y="643204"/>
                  <a:pt x="218884" y="661440"/>
                  <a:pt x="208449" y="656837"/>
                </a:cubicBezTo>
                <a:cubicBezTo>
                  <a:pt x="198013" y="652235"/>
                  <a:pt x="173734" y="652205"/>
                  <a:pt x="167507" y="636302"/>
                </a:cubicBezTo>
                <a:lnTo>
                  <a:pt x="115817" y="596923"/>
                </a:lnTo>
                <a:lnTo>
                  <a:pt x="0" y="567551"/>
                </a:lnTo>
                <a:lnTo>
                  <a:pt x="0" y="167999"/>
                </a:lnTo>
                <a:lnTo>
                  <a:pt x="23092" y="158476"/>
                </a:lnTo>
                <a:cubicBezTo>
                  <a:pt x="41118" y="150254"/>
                  <a:pt x="58881" y="140816"/>
                  <a:pt x="83972" y="128567"/>
                </a:cubicBezTo>
                <a:cubicBezTo>
                  <a:pt x="127797" y="107173"/>
                  <a:pt x="168669" y="78167"/>
                  <a:pt x="215449" y="64385"/>
                </a:cubicBezTo>
                <a:cubicBezTo>
                  <a:pt x="315102" y="35028"/>
                  <a:pt x="418741" y="21462"/>
                  <a:pt x="520387" y="0"/>
                </a:cubicBezTo>
                <a:close/>
              </a:path>
            </a:pathLst>
          </a:custGeom>
          <a:noFill/>
          <a:extLst>
            <a:ext uri="{909E8E84-426E-40DD-AFC4-6F175D3DCCD1}">
              <a14:hiddenFill xmlns:a14="http://schemas.microsoft.com/office/drawing/2010/main">
                <a:solidFill>
                  <a:srgbClr val="FFFFFF"/>
                </a:solidFill>
              </a14:hiddenFill>
            </a:ext>
          </a:extLst>
        </p:spPr>
      </p:pic>
      <p:grpSp>
        <p:nvGrpSpPr>
          <p:cNvPr id="14" name="Group 13">
            <a:extLst>
              <a:ext uri="{FF2B5EF4-FFF2-40B4-BE49-F238E27FC236}">
                <a16:creationId xmlns:a16="http://schemas.microsoft.com/office/drawing/2014/main" id="{0537895B-4318-AA93-7E5C-4642447E7B53}"/>
              </a:ext>
            </a:extLst>
          </p:cNvPr>
          <p:cNvGrpSpPr/>
          <p:nvPr/>
        </p:nvGrpSpPr>
        <p:grpSpPr>
          <a:xfrm>
            <a:off x="4485655" y="4562453"/>
            <a:ext cx="1065218" cy="2186176"/>
            <a:chOff x="6044355" y="3127318"/>
            <a:chExt cx="1311038" cy="2690678"/>
          </a:xfrm>
        </p:grpSpPr>
        <p:pic>
          <p:nvPicPr>
            <p:cNvPr id="10" name="Picture 3" descr="Tools Line Drawing Vector Art, Icons, and Graphics for Free ...">
              <a:extLst>
                <a:ext uri="{FF2B5EF4-FFF2-40B4-BE49-F238E27FC236}">
                  <a16:creationId xmlns:a16="http://schemas.microsoft.com/office/drawing/2014/main" id="{D212F76D-AF1A-3152-0738-81B7C9CF0D83}"/>
                </a:ext>
              </a:extLst>
            </p:cNvPr>
            <p:cNvPicPr>
              <a:picLocks noChangeAspect="1" noChangeArrowheads="1"/>
            </p:cNvPicPr>
            <p:nvPr/>
          </p:nvPicPr>
          <p:blipFill rotWithShape="1">
            <a:blip r:embed="rId3">
              <a:duotone>
                <a:prstClr val="black"/>
                <a:srgbClr val="D9A441">
                  <a:tint val="45000"/>
                  <a:satMod val="400000"/>
                </a:srgbClr>
              </a:duotone>
              <a:extLst>
                <a:ext uri="{BEBA8EAE-BF5A-486C-A8C5-ECC9F3942E4B}">
                  <a14:imgProps xmlns:a14="http://schemas.microsoft.com/office/drawing/2010/main">
                    <a14:imgLayer r:embed="rId4">
                      <a14:imgEffect>
                        <a14:backgroundRemoval t="10000" b="90000" l="10000" r="90000">
                          <a14:foregroundMark x1="21816" y1="52802" x2="22400" y2="57143"/>
                          <a14:foregroundMark x1="17400" y1="20000" x2="21739" y2="52234"/>
                          <a14:foregroundMark x1="22400" y1="57143" x2="21600" y2="72571"/>
                          <a14:foregroundMark x1="26539" y1="49110" x2="26785" y2="47941"/>
                          <a14:foregroundMark x1="21600" y1="72571" x2="24787" y2="57429"/>
                          <a14:foregroundMark x1="29400" y1="58857" x2="32292" y2="64447"/>
                          <a14:foregroundMark x1="45699" y1="23315" x2="47000" y2="59429"/>
                          <a14:foregroundMark x1="59200" y1="26286" x2="60049" y2="36647"/>
                          <a14:foregroundMark x1="57200" y1="33429" x2="57240" y2="36870"/>
                          <a14:foregroundMark x1="75200" y1="20857" x2="85600" y2="24286"/>
                          <a14:foregroundMark x1="75400" y1="30571" x2="75400" y2="62571"/>
                          <a14:foregroundMark x1="82200" y1="41429" x2="83000" y2="73429"/>
                          <a14:foregroundMark x1="65200" y1="82000" x2="58400" y2="81143"/>
                          <a14:foregroundMark x1="57600" y1="62000" x2="57600" y2="62000"/>
                          <a14:foregroundMark x1="67200" y1="36000" x2="65600" y2="47714"/>
                          <a14:foregroundMark x1="31400" y1="79714" x2="34000" y2="80571"/>
                          <a14:foregroundMark x1="32200" y1="34571" x2="37600" y2="36857"/>
                          <a14:backgroundMark x1="28600" y1="70571" x2="40600" y2="74000"/>
                          <a14:backgroundMark x1="40600" y1="74000" x2="50400" y2="69429"/>
                          <a14:backgroundMark x1="50400" y1="69429" x2="52400" y2="58857"/>
                          <a14:backgroundMark x1="54600" y1="71714" x2="67600" y2="66571"/>
                          <a14:backgroundMark x1="67600" y1="66571" x2="67800" y2="62286"/>
                          <a14:backgroundMark x1="61397" y1="46772" x2="61800" y2="57143"/>
                          <a14:backgroundMark x1="61000" y1="36571" x2="61388" y2="46555"/>
                          <a14:backgroundMark x1="61800" y1="57143" x2="62200" y2="57714"/>
                          <a14:backgroundMark x1="45000" y1="20857" x2="45000" y2="14571"/>
                          <a14:backgroundMark x1="44600" y1="21714" x2="46000" y2="10571"/>
                          <a14:backgroundMark x1="47000" y1="22000" x2="45000" y2="13714"/>
                          <a14:backgroundMark x1="46400" y1="21429" x2="43600" y2="16571"/>
                          <a14:backgroundMark x1="46800" y1="22000" x2="45800" y2="23429"/>
                          <a14:backgroundMark x1="35000" y1="40857" x2="35000" y2="48286"/>
                          <a14:backgroundMark x1="26800" y1="52286" x2="26800" y2="57429"/>
                          <a14:backgroundMark x1="29000" y1="41714" x2="32800" y2="41714"/>
                          <a14:backgroundMark x1="25400" y1="51143" x2="29800" y2="37429"/>
                          <a14:backgroundMark x1="29800" y1="37429" x2="29800" y2="37143"/>
                          <a14:backgroundMark x1="27200" y1="41143" x2="31000" y2="31714"/>
                          <a14:backgroundMark x1="27600" y1="42000" x2="29800" y2="41143"/>
                          <a14:backgroundMark x1="25600" y1="50000" x2="26800" y2="54000"/>
                          <a14:backgroundMark x1="31600" y1="66000" x2="33200" y2="66000"/>
                          <a14:backgroundMark x1="26400" y1="49143" x2="27000" y2="54286"/>
                        </a14:backgroundRemoval>
                      </a14:imgEffect>
                    </a14:imgLayer>
                  </a14:imgProps>
                </a:ext>
                <a:ext uri="{28A0092B-C50C-407E-A947-70E740481C1C}">
                  <a14:useLocalDpi xmlns:a14="http://schemas.microsoft.com/office/drawing/2010/main" val="0"/>
                </a:ext>
              </a:extLst>
            </a:blip>
            <a:srcRect l="11662" t="8805" r="66904" b="13052"/>
            <a:stretch>
              <a:fillRect/>
            </a:stretch>
          </p:blipFill>
          <p:spPr bwMode="auto">
            <a:xfrm rot="604486">
              <a:off x="6044355" y="3127318"/>
              <a:ext cx="1020789" cy="2605109"/>
            </a:xfrm>
            <a:prstGeom prst="rect">
              <a:avLst/>
            </a:prstGeom>
            <a:noFill/>
            <a:extLst>
              <a:ext uri="{909E8E84-426E-40DD-AFC4-6F175D3DCCD1}">
                <a14:hiddenFill xmlns:a14="http://schemas.microsoft.com/office/drawing/2010/main">
                  <a:solidFill>
                    <a:srgbClr val="FFFFFF"/>
                  </a:solidFill>
                </a14:hiddenFill>
              </a:ext>
            </a:extLst>
          </p:spPr>
        </p:pic>
        <p:sp>
          <p:nvSpPr>
            <p:cNvPr id="12" name="Freeform: Shape 11">
              <a:extLst>
                <a:ext uri="{FF2B5EF4-FFF2-40B4-BE49-F238E27FC236}">
                  <a16:creationId xmlns:a16="http://schemas.microsoft.com/office/drawing/2014/main" id="{A9EA5936-C951-71C7-13E6-8A2E2A5DBBB5}"/>
                </a:ext>
              </a:extLst>
            </p:cNvPr>
            <p:cNvSpPr/>
            <p:nvPr/>
          </p:nvSpPr>
          <p:spPr>
            <a:xfrm>
              <a:off x="6580871" y="3946875"/>
              <a:ext cx="774522" cy="1871121"/>
            </a:xfrm>
            <a:custGeom>
              <a:avLst/>
              <a:gdLst>
                <a:gd name="csX0" fmla="*/ 593652 w 774522"/>
                <a:gd name="csY0" fmla="*/ 12176 h 1871121"/>
                <a:gd name="csX1" fmla="*/ 493169 w 774522"/>
                <a:gd name="csY1" fmla="*/ 42321 h 1871121"/>
                <a:gd name="csX2" fmla="*/ 463024 w 774522"/>
                <a:gd name="csY2" fmla="*/ 62417 h 1871121"/>
                <a:gd name="csX3" fmla="*/ 422830 w 774522"/>
                <a:gd name="csY3" fmla="*/ 82514 h 1871121"/>
                <a:gd name="csX4" fmla="*/ 362540 w 774522"/>
                <a:gd name="csY4" fmla="*/ 162901 h 1871121"/>
                <a:gd name="csX5" fmla="*/ 332395 w 774522"/>
                <a:gd name="csY5" fmla="*/ 223191 h 1871121"/>
                <a:gd name="csX6" fmla="*/ 211815 w 774522"/>
                <a:gd name="csY6" fmla="*/ 363868 h 1871121"/>
                <a:gd name="csX7" fmla="*/ 181670 w 774522"/>
                <a:gd name="csY7" fmla="*/ 404061 h 1871121"/>
                <a:gd name="csX8" fmla="*/ 161573 w 774522"/>
                <a:gd name="csY8" fmla="*/ 444255 h 1871121"/>
                <a:gd name="csX9" fmla="*/ 151525 w 774522"/>
                <a:gd name="csY9" fmla="*/ 494496 h 1871121"/>
                <a:gd name="csX10" fmla="*/ 141476 w 774522"/>
                <a:gd name="csY10" fmla="*/ 534690 h 1871121"/>
                <a:gd name="csX11" fmla="*/ 131428 w 774522"/>
                <a:gd name="csY11" fmla="*/ 615077 h 1871121"/>
                <a:gd name="csX12" fmla="*/ 101283 w 774522"/>
                <a:gd name="csY12" fmla="*/ 685415 h 1871121"/>
                <a:gd name="csX13" fmla="*/ 61089 w 774522"/>
                <a:gd name="csY13" fmla="*/ 1137591 h 1871121"/>
                <a:gd name="csX14" fmla="*/ 30944 w 774522"/>
                <a:gd name="csY14" fmla="*/ 1197881 h 1871121"/>
                <a:gd name="csX15" fmla="*/ 799 w 774522"/>
                <a:gd name="csY15" fmla="*/ 1559622 h 1871121"/>
                <a:gd name="csX16" fmla="*/ 51041 w 774522"/>
                <a:gd name="csY16" fmla="*/ 1800782 h 1871121"/>
                <a:gd name="csX17" fmla="*/ 302250 w 774522"/>
                <a:gd name="csY17" fmla="*/ 1871121 h 1871121"/>
                <a:gd name="csX18" fmla="*/ 432878 w 774522"/>
                <a:gd name="csY18" fmla="*/ 1800782 h 1871121"/>
                <a:gd name="csX19" fmla="*/ 503217 w 774522"/>
                <a:gd name="csY19" fmla="*/ 1700299 h 1871121"/>
                <a:gd name="csX20" fmla="*/ 553459 w 774522"/>
                <a:gd name="csY20" fmla="*/ 1408896 h 1871121"/>
                <a:gd name="csX21" fmla="*/ 633845 w 774522"/>
                <a:gd name="csY21" fmla="*/ 816044 h 1871121"/>
                <a:gd name="csX22" fmla="*/ 724281 w 774522"/>
                <a:gd name="csY22" fmla="*/ 444255 h 1871121"/>
                <a:gd name="csX23" fmla="*/ 774522 w 774522"/>
                <a:gd name="csY23" fmla="*/ 273433 h 1871121"/>
                <a:gd name="csX24" fmla="*/ 754426 w 774522"/>
                <a:gd name="csY24" fmla="*/ 112659 h 1871121"/>
                <a:gd name="csX25" fmla="*/ 704184 w 774522"/>
                <a:gd name="csY25" fmla="*/ 32272 h 1871121"/>
                <a:gd name="csX26" fmla="*/ 663991 w 774522"/>
                <a:gd name="csY26" fmla="*/ 2127 h 1871121"/>
                <a:gd name="csX27" fmla="*/ 593652 w 774522"/>
                <a:gd name="csY27" fmla="*/ 12176 h 187112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Lst>
              <a:rect l="l" t="t" r="r" b="b"/>
              <a:pathLst>
                <a:path w="774522" h="1871121">
                  <a:moveTo>
                    <a:pt x="593652" y="12176"/>
                  </a:moveTo>
                  <a:cubicBezTo>
                    <a:pt x="565182" y="18875"/>
                    <a:pt x="537238" y="20287"/>
                    <a:pt x="493169" y="42321"/>
                  </a:cubicBezTo>
                  <a:cubicBezTo>
                    <a:pt x="482367" y="47722"/>
                    <a:pt x="473509" y="56425"/>
                    <a:pt x="463024" y="62417"/>
                  </a:cubicBezTo>
                  <a:cubicBezTo>
                    <a:pt x="450018" y="69849"/>
                    <a:pt x="436228" y="75815"/>
                    <a:pt x="422830" y="82514"/>
                  </a:cubicBezTo>
                  <a:cubicBezTo>
                    <a:pt x="412974" y="94834"/>
                    <a:pt x="373203" y="141575"/>
                    <a:pt x="362540" y="162901"/>
                  </a:cubicBezTo>
                  <a:cubicBezTo>
                    <a:pt x="339305" y="209370"/>
                    <a:pt x="369048" y="178683"/>
                    <a:pt x="332395" y="223191"/>
                  </a:cubicBezTo>
                  <a:cubicBezTo>
                    <a:pt x="293133" y="270866"/>
                    <a:pt x="248872" y="314460"/>
                    <a:pt x="211815" y="363868"/>
                  </a:cubicBezTo>
                  <a:cubicBezTo>
                    <a:pt x="201767" y="377266"/>
                    <a:pt x="190546" y="389859"/>
                    <a:pt x="181670" y="404061"/>
                  </a:cubicBezTo>
                  <a:cubicBezTo>
                    <a:pt x="173731" y="416764"/>
                    <a:pt x="168272" y="430857"/>
                    <a:pt x="161573" y="444255"/>
                  </a:cubicBezTo>
                  <a:cubicBezTo>
                    <a:pt x="158224" y="461002"/>
                    <a:pt x="155230" y="477824"/>
                    <a:pt x="151525" y="494496"/>
                  </a:cubicBezTo>
                  <a:cubicBezTo>
                    <a:pt x="148529" y="507978"/>
                    <a:pt x="143746" y="521068"/>
                    <a:pt x="141476" y="534690"/>
                  </a:cubicBezTo>
                  <a:cubicBezTo>
                    <a:pt x="137037" y="561327"/>
                    <a:pt x="138386" y="588985"/>
                    <a:pt x="131428" y="615077"/>
                  </a:cubicBezTo>
                  <a:cubicBezTo>
                    <a:pt x="124855" y="639724"/>
                    <a:pt x="111331" y="661969"/>
                    <a:pt x="101283" y="685415"/>
                  </a:cubicBezTo>
                  <a:cubicBezTo>
                    <a:pt x="98039" y="740557"/>
                    <a:pt x="95339" y="1021142"/>
                    <a:pt x="61089" y="1137591"/>
                  </a:cubicBezTo>
                  <a:cubicBezTo>
                    <a:pt x="54749" y="1159147"/>
                    <a:pt x="40992" y="1177784"/>
                    <a:pt x="30944" y="1197881"/>
                  </a:cubicBezTo>
                  <a:cubicBezTo>
                    <a:pt x="17057" y="1308984"/>
                    <a:pt x="-4416" y="1469229"/>
                    <a:pt x="799" y="1559622"/>
                  </a:cubicBezTo>
                  <a:cubicBezTo>
                    <a:pt x="5528" y="1641598"/>
                    <a:pt x="13316" y="1727848"/>
                    <a:pt x="51041" y="1800782"/>
                  </a:cubicBezTo>
                  <a:cubicBezTo>
                    <a:pt x="80745" y="1858209"/>
                    <a:pt x="271568" y="1867030"/>
                    <a:pt x="302250" y="1871121"/>
                  </a:cubicBezTo>
                  <a:cubicBezTo>
                    <a:pt x="345793" y="1847675"/>
                    <a:pt x="395197" y="1832811"/>
                    <a:pt x="432878" y="1800782"/>
                  </a:cubicBezTo>
                  <a:cubicBezTo>
                    <a:pt x="464030" y="1774303"/>
                    <a:pt x="491193" y="1739376"/>
                    <a:pt x="503217" y="1700299"/>
                  </a:cubicBezTo>
                  <a:cubicBezTo>
                    <a:pt x="532204" y="1606090"/>
                    <a:pt x="539054" y="1506405"/>
                    <a:pt x="553459" y="1408896"/>
                  </a:cubicBezTo>
                  <a:cubicBezTo>
                    <a:pt x="582603" y="1211611"/>
                    <a:pt x="590583" y="1010721"/>
                    <a:pt x="633845" y="816044"/>
                  </a:cubicBezTo>
                  <a:cubicBezTo>
                    <a:pt x="665806" y="672221"/>
                    <a:pt x="682304" y="586980"/>
                    <a:pt x="724281" y="444255"/>
                  </a:cubicBezTo>
                  <a:lnTo>
                    <a:pt x="774522" y="273433"/>
                  </a:lnTo>
                  <a:cubicBezTo>
                    <a:pt x="767823" y="219842"/>
                    <a:pt x="765018" y="165619"/>
                    <a:pt x="754426" y="112659"/>
                  </a:cubicBezTo>
                  <a:cubicBezTo>
                    <a:pt x="750447" y="92762"/>
                    <a:pt x="716922" y="45010"/>
                    <a:pt x="704184" y="32272"/>
                  </a:cubicBezTo>
                  <a:cubicBezTo>
                    <a:pt x="692342" y="20430"/>
                    <a:pt x="680238" y="6189"/>
                    <a:pt x="663991" y="2127"/>
                  </a:cubicBezTo>
                  <a:cubicBezTo>
                    <a:pt x="637995" y="-4372"/>
                    <a:pt x="622122" y="5477"/>
                    <a:pt x="593652" y="12176"/>
                  </a:cubicBezTo>
                  <a:close/>
                </a:path>
              </a:pathLst>
            </a:cu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63"/>
            </a:p>
          </p:txBody>
        </p:sp>
      </p:grpSp>
      <p:pic>
        <p:nvPicPr>
          <p:cNvPr id="17" name="Picture 3" descr="Tools Line Drawing Vector Art, Icons, and Graphics for Free ...">
            <a:extLst>
              <a:ext uri="{FF2B5EF4-FFF2-40B4-BE49-F238E27FC236}">
                <a16:creationId xmlns:a16="http://schemas.microsoft.com/office/drawing/2014/main" id="{E6761677-4BFE-1F0D-9AF0-DECA6353538D}"/>
              </a:ext>
            </a:extLst>
          </p:cNvPr>
          <p:cNvPicPr>
            <a:picLocks noChangeAspect="1" noChangeArrowheads="1"/>
          </p:cNvPicPr>
          <p:nvPr/>
        </p:nvPicPr>
        <p:blipFill rotWithShape="1">
          <a:blip r:embed="rId3">
            <a:duotone>
              <a:prstClr val="black"/>
              <a:srgbClr val="2F5D50">
                <a:tint val="45000"/>
                <a:satMod val="400000"/>
              </a:srgbClr>
            </a:duotone>
            <a:extLst>
              <a:ext uri="{BEBA8EAE-BF5A-486C-A8C5-ECC9F3942E4B}">
                <a14:imgProps xmlns:a14="http://schemas.microsoft.com/office/drawing/2010/main">
                  <a14:imgLayer r:embed="rId4">
                    <a14:imgEffect>
                      <a14:backgroundRemoval t="10000" b="90000" l="10000" r="90000">
                        <a14:foregroundMark x1="21816" y1="52802" x2="22400" y2="57143"/>
                        <a14:foregroundMark x1="17400" y1="20000" x2="21739" y2="52234"/>
                        <a14:foregroundMark x1="22400" y1="57143" x2="21600" y2="72571"/>
                        <a14:foregroundMark x1="26539" y1="49110" x2="26785" y2="47941"/>
                        <a14:foregroundMark x1="21600" y1="72571" x2="24787" y2="57429"/>
                        <a14:foregroundMark x1="29400" y1="58857" x2="32292" y2="64447"/>
                        <a14:foregroundMark x1="45699" y1="23315" x2="47000" y2="59429"/>
                        <a14:foregroundMark x1="59200" y1="26286" x2="60049" y2="36647"/>
                        <a14:foregroundMark x1="57200" y1="33429" x2="57240" y2="36870"/>
                        <a14:foregroundMark x1="75200" y1="20857" x2="85600" y2="24286"/>
                        <a14:foregroundMark x1="75400" y1="30571" x2="75400" y2="62571"/>
                        <a14:foregroundMark x1="82200" y1="41429" x2="83000" y2="73429"/>
                        <a14:foregroundMark x1="65200" y1="82000" x2="58400" y2="81143"/>
                        <a14:foregroundMark x1="57600" y1="62000" x2="57600" y2="62000"/>
                        <a14:foregroundMark x1="67200" y1="36000" x2="65600" y2="47714"/>
                        <a14:foregroundMark x1="31400" y1="79714" x2="34000" y2="80571"/>
                        <a14:foregroundMark x1="32200" y1="34571" x2="37600" y2="36857"/>
                        <a14:backgroundMark x1="28600" y1="70571" x2="40600" y2="74000"/>
                        <a14:backgroundMark x1="40600" y1="74000" x2="50400" y2="69429"/>
                        <a14:backgroundMark x1="50400" y1="69429" x2="52400" y2="58857"/>
                        <a14:backgroundMark x1="54600" y1="71714" x2="67600" y2="66571"/>
                        <a14:backgroundMark x1="67600" y1="66571" x2="67800" y2="62286"/>
                        <a14:backgroundMark x1="61397" y1="46772" x2="61800" y2="57143"/>
                        <a14:backgroundMark x1="61000" y1="36571" x2="61388" y2="46555"/>
                        <a14:backgroundMark x1="61800" y1="57143" x2="62200" y2="57714"/>
                        <a14:backgroundMark x1="45000" y1="20857" x2="45000" y2="14571"/>
                        <a14:backgroundMark x1="44600" y1="21714" x2="46000" y2="10571"/>
                        <a14:backgroundMark x1="47000" y1="22000" x2="45000" y2="13714"/>
                        <a14:backgroundMark x1="46400" y1="21429" x2="43600" y2="16571"/>
                        <a14:backgroundMark x1="46800" y1="22000" x2="45800" y2="23429"/>
                        <a14:backgroundMark x1="35000" y1="40857" x2="35000" y2="48286"/>
                        <a14:backgroundMark x1="26800" y1="52286" x2="26800" y2="57429"/>
                        <a14:backgroundMark x1="29000" y1="41714" x2="32800" y2="41714"/>
                        <a14:backgroundMark x1="25400" y1="51143" x2="29800" y2="37429"/>
                        <a14:backgroundMark x1="29800" y1="37429" x2="29800" y2="37143"/>
                        <a14:backgroundMark x1="27200" y1="41143" x2="31000" y2="31714"/>
                        <a14:backgroundMark x1="27600" y1="42000" x2="29800" y2="41143"/>
                        <a14:backgroundMark x1="25600" y1="50000" x2="26800" y2="54000"/>
                        <a14:backgroundMark x1="31600" y1="66000" x2="33200" y2="66000"/>
                        <a14:backgroundMark x1="26400" y1="49143" x2="27000" y2="54286"/>
                      </a14:backgroundRemoval>
                    </a14:imgEffect>
                  </a14:imgLayer>
                </a14:imgProps>
              </a:ext>
              <a:ext uri="{28A0092B-C50C-407E-A947-70E740481C1C}">
                <a14:useLocalDpi xmlns:a14="http://schemas.microsoft.com/office/drawing/2010/main" val="0"/>
              </a:ext>
            </a:extLst>
          </a:blip>
          <a:srcRect l="41120" t="11362" r="48960" b="26924"/>
          <a:stretch>
            <a:fillRect/>
          </a:stretch>
        </p:blipFill>
        <p:spPr bwMode="auto">
          <a:xfrm rot="385654">
            <a:off x="6596183" y="4888096"/>
            <a:ext cx="383858" cy="1671638"/>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3" descr="Tools Line Drawing Vector Art, Icons, and Graphics for Free ...">
            <a:extLst>
              <a:ext uri="{FF2B5EF4-FFF2-40B4-BE49-F238E27FC236}">
                <a16:creationId xmlns:a16="http://schemas.microsoft.com/office/drawing/2014/main" id="{284DEB34-1BB8-E197-6060-9657D515A0E6}"/>
              </a:ext>
            </a:extLst>
          </p:cNvPr>
          <p:cNvPicPr>
            <a:picLocks noChangeAspect="1" noChangeArrowheads="1"/>
          </p:cNvPicPr>
          <p:nvPr/>
        </p:nvPicPr>
        <p:blipFill rotWithShape="1">
          <a:blip r:embed="rId3">
            <a:duotone>
              <a:prstClr val="black"/>
              <a:srgbClr val="2F5D50">
                <a:tint val="45000"/>
                <a:satMod val="400000"/>
              </a:srgbClr>
            </a:duotone>
            <a:extLst>
              <a:ext uri="{BEBA8EAE-BF5A-486C-A8C5-ECC9F3942E4B}">
                <a14:imgProps xmlns:a14="http://schemas.microsoft.com/office/drawing/2010/main">
                  <a14:imgLayer r:embed="rId4">
                    <a14:imgEffect>
                      <a14:backgroundRemoval t="10000" b="90000" l="10000" r="90000">
                        <a14:foregroundMark x1="21816" y1="52802" x2="22400" y2="57143"/>
                        <a14:foregroundMark x1="17400" y1="20000" x2="21739" y2="52234"/>
                        <a14:foregroundMark x1="22400" y1="57143" x2="21600" y2="72571"/>
                        <a14:foregroundMark x1="26539" y1="49110" x2="26785" y2="47941"/>
                        <a14:foregroundMark x1="21600" y1="72571" x2="24787" y2="57429"/>
                        <a14:foregroundMark x1="29400" y1="58857" x2="32292" y2="64447"/>
                        <a14:foregroundMark x1="45699" y1="23315" x2="47000" y2="59429"/>
                        <a14:foregroundMark x1="59200" y1="26286" x2="60049" y2="36647"/>
                        <a14:foregroundMark x1="57200" y1="33429" x2="57240" y2="36870"/>
                        <a14:foregroundMark x1="75200" y1="20857" x2="85600" y2="24286"/>
                        <a14:foregroundMark x1="75400" y1="30571" x2="75400" y2="62571"/>
                        <a14:foregroundMark x1="82200" y1="41429" x2="83000" y2="73429"/>
                        <a14:foregroundMark x1="65200" y1="82000" x2="58400" y2="81143"/>
                        <a14:foregroundMark x1="57600" y1="62000" x2="57600" y2="62000"/>
                        <a14:foregroundMark x1="67200" y1="36000" x2="65600" y2="47714"/>
                        <a14:foregroundMark x1="31400" y1="79714" x2="34000" y2="80571"/>
                        <a14:foregroundMark x1="32200" y1="34571" x2="37600" y2="36857"/>
                        <a14:backgroundMark x1="28600" y1="70571" x2="40600" y2="74000"/>
                        <a14:backgroundMark x1="40600" y1="74000" x2="50400" y2="69429"/>
                        <a14:backgroundMark x1="50400" y1="69429" x2="52400" y2="58857"/>
                        <a14:backgroundMark x1="54600" y1="71714" x2="67600" y2="66571"/>
                        <a14:backgroundMark x1="67600" y1="66571" x2="67800" y2="62286"/>
                        <a14:backgroundMark x1="61397" y1="46772" x2="61800" y2="57143"/>
                        <a14:backgroundMark x1="61000" y1="36571" x2="61388" y2="46555"/>
                        <a14:backgroundMark x1="61800" y1="57143" x2="62200" y2="57714"/>
                        <a14:backgroundMark x1="45000" y1="20857" x2="45000" y2="14571"/>
                        <a14:backgroundMark x1="44600" y1="21714" x2="46000" y2="10571"/>
                        <a14:backgroundMark x1="47000" y1="22000" x2="45000" y2="13714"/>
                        <a14:backgroundMark x1="46400" y1="21429" x2="43600" y2="16571"/>
                        <a14:backgroundMark x1="46800" y1="22000" x2="45800" y2="23429"/>
                        <a14:backgroundMark x1="35000" y1="40857" x2="35000" y2="48286"/>
                        <a14:backgroundMark x1="26800" y1="52286" x2="26800" y2="57429"/>
                        <a14:backgroundMark x1="29000" y1="41714" x2="32800" y2="41714"/>
                        <a14:backgroundMark x1="25400" y1="51143" x2="29800" y2="37429"/>
                        <a14:backgroundMark x1="29800" y1="37429" x2="29800" y2="37143"/>
                        <a14:backgroundMark x1="27200" y1="41143" x2="31000" y2="31714"/>
                        <a14:backgroundMark x1="27600" y1="42000" x2="29800" y2="41143"/>
                        <a14:backgroundMark x1="25600" y1="50000" x2="26800" y2="54000"/>
                        <a14:backgroundMark x1="31600" y1="66000" x2="33200" y2="66000"/>
                        <a14:backgroundMark x1="26400" y1="49143" x2="27000" y2="54286"/>
                      </a14:backgroundRemoval>
                    </a14:imgEffect>
                  </a14:imgLayer>
                </a14:imgProps>
              </a:ext>
              <a:ext uri="{28A0092B-C50C-407E-A947-70E740481C1C}">
                <a14:useLocalDpi xmlns:a14="http://schemas.microsoft.com/office/drawing/2010/main" val="0"/>
              </a:ext>
            </a:extLst>
          </a:blip>
          <a:srcRect l="63200" t="30693" r="30080" b="35248"/>
          <a:stretch>
            <a:fillRect/>
          </a:stretch>
        </p:blipFill>
        <p:spPr bwMode="auto">
          <a:xfrm>
            <a:off x="8505004" y="5492059"/>
            <a:ext cx="260033" cy="922564"/>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3" descr="Tools Line Drawing Vector Art, Icons, and Graphics for Free ...">
            <a:extLst>
              <a:ext uri="{FF2B5EF4-FFF2-40B4-BE49-F238E27FC236}">
                <a16:creationId xmlns:a16="http://schemas.microsoft.com/office/drawing/2014/main" id="{7BA2EB60-1206-2446-09E4-1ED7757DC15C}"/>
              </a:ext>
            </a:extLst>
          </p:cNvPr>
          <p:cNvPicPr>
            <a:picLocks noChangeAspect="1" noChangeArrowheads="1"/>
          </p:cNvPicPr>
          <p:nvPr/>
        </p:nvPicPr>
        <p:blipFill rotWithShape="1">
          <a:blip r:embed="rId3">
            <a:duotone>
              <a:prstClr val="black"/>
              <a:srgbClr val="2F5D50">
                <a:tint val="45000"/>
                <a:satMod val="400000"/>
              </a:srgbClr>
            </a:duotone>
            <a:extLst>
              <a:ext uri="{BEBA8EAE-BF5A-486C-A8C5-ECC9F3942E4B}">
                <a14:imgProps xmlns:a14="http://schemas.microsoft.com/office/drawing/2010/main">
                  <a14:imgLayer r:embed="rId4">
                    <a14:imgEffect>
                      <a14:backgroundRemoval t="10000" b="90000" l="10000" r="90000">
                        <a14:foregroundMark x1="21816" y1="52802" x2="22400" y2="57143"/>
                        <a14:foregroundMark x1="17400" y1="20000" x2="21739" y2="52234"/>
                        <a14:foregroundMark x1="22400" y1="57143" x2="21600" y2="72571"/>
                        <a14:foregroundMark x1="26539" y1="49110" x2="26785" y2="47941"/>
                        <a14:foregroundMark x1="21600" y1="72571" x2="24787" y2="57429"/>
                        <a14:foregroundMark x1="29400" y1="58857" x2="32292" y2="64447"/>
                        <a14:foregroundMark x1="45699" y1="23315" x2="47000" y2="59429"/>
                        <a14:foregroundMark x1="59200" y1="26286" x2="60049" y2="36647"/>
                        <a14:foregroundMark x1="57200" y1="33429" x2="57240" y2="36870"/>
                        <a14:foregroundMark x1="75200" y1="20857" x2="85600" y2="24286"/>
                        <a14:foregroundMark x1="75400" y1="30571" x2="75400" y2="62571"/>
                        <a14:foregroundMark x1="82200" y1="41429" x2="83000" y2="73429"/>
                        <a14:foregroundMark x1="65200" y1="82000" x2="58400" y2="81143"/>
                        <a14:foregroundMark x1="57600" y1="62000" x2="57600" y2="62000"/>
                        <a14:foregroundMark x1="67200" y1="36000" x2="65600" y2="47714"/>
                        <a14:foregroundMark x1="31400" y1="79714" x2="34000" y2="80571"/>
                        <a14:foregroundMark x1="32200" y1="34571" x2="37600" y2="36857"/>
                        <a14:backgroundMark x1="28600" y1="70571" x2="40600" y2="74000"/>
                        <a14:backgroundMark x1="40600" y1="74000" x2="50400" y2="69429"/>
                        <a14:backgroundMark x1="50400" y1="69429" x2="52400" y2="58857"/>
                        <a14:backgroundMark x1="54600" y1="71714" x2="67600" y2="66571"/>
                        <a14:backgroundMark x1="67600" y1="66571" x2="67800" y2="62286"/>
                        <a14:backgroundMark x1="61397" y1="46772" x2="61800" y2="57143"/>
                        <a14:backgroundMark x1="61000" y1="36571" x2="61388" y2="46555"/>
                        <a14:backgroundMark x1="61800" y1="57143" x2="62200" y2="57714"/>
                        <a14:backgroundMark x1="45000" y1="20857" x2="45000" y2="14571"/>
                        <a14:backgroundMark x1="44600" y1="21714" x2="46000" y2="10571"/>
                        <a14:backgroundMark x1="47000" y1="22000" x2="45000" y2="13714"/>
                        <a14:backgroundMark x1="46400" y1="21429" x2="43600" y2="16571"/>
                        <a14:backgroundMark x1="46800" y1="22000" x2="45800" y2="23429"/>
                        <a14:backgroundMark x1="35000" y1="40857" x2="35000" y2="48286"/>
                        <a14:backgroundMark x1="26800" y1="52286" x2="26800" y2="57429"/>
                        <a14:backgroundMark x1="29000" y1="41714" x2="32800" y2="41714"/>
                        <a14:backgroundMark x1="25400" y1="51143" x2="29800" y2="37429"/>
                        <a14:backgroundMark x1="29800" y1="37429" x2="29800" y2="37143"/>
                        <a14:backgroundMark x1="27200" y1="41143" x2="31000" y2="31714"/>
                        <a14:backgroundMark x1="27600" y1="42000" x2="29800" y2="41143"/>
                        <a14:backgroundMark x1="25600" y1="50000" x2="26800" y2="54000"/>
                        <a14:backgroundMark x1="31600" y1="66000" x2="33200" y2="66000"/>
                        <a14:backgroundMark x1="26400" y1="49143" x2="27000" y2="54286"/>
                      </a14:backgroundRemoval>
                    </a14:imgEffect>
                  </a14:imgLayer>
                </a14:imgProps>
              </a:ext>
              <a:ext uri="{28A0092B-C50C-407E-A947-70E740481C1C}">
                <a14:useLocalDpi xmlns:a14="http://schemas.microsoft.com/office/drawing/2010/main" val="0"/>
              </a:ext>
            </a:extLst>
          </a:blip>
          <a:srcRect l="79118" t="37273" r="10962" b="16612"/>
          <a:stretch>
            <a:fillRect/>
          </a:stretch>
        </p:blipFill>
        <p:spPr bwMode="auto">
          <a:xfrm>
            <a:off x="3367040" y="5290277"/>
            <a:ext cx="383858" cy="1249136"/>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3" descr="Tools Line Drawing Vector Art, Icons, and Graphics for Free ...">
            <a:extLst>
              <a:ext uri="{FF2B5EF4-FFF2-40B4-BE49-F238E27FC236}">
                <a16:creationId xmlns:a16="http://schemas.microsoft.com/office/drawing/2014/main" id="{F3D0E49A-3347-AE2E-1035-6721789A8450}"/>
              </a:ext>
            </a:extLst>
          </p:cNvPr>
          <p:cNvPicPr>
            <a:picLocks noChangeAspect="1" noChangeArrowheads="1"/>
          </p:cNvPicPr>
          <p:nvPr/>
        </p:nvPicPr>
        <p:blipFill rotWithShape="1">
          <a:blip r:embed="rId3">
            <a:duotone>
              <a:prstClr val="black"/>
              <a:srgbClr val="2F5D50">
                <a:tint val="45000"/>
                <a:satMod val="400000"/>
              </a:srgbClr>
            </a:duotone>
            <a:extLst>
              <a:ext uri="{BEBA8EAE-BF5A-486C-A8C5-ECC9F3942E4B}">
                <a14:imgProps xmlns:a14="http://schemas.microsoft.com/office/drawing/2010/main">
                  <a14:imgLayer r:embed="rId4">
                    <a14:imgEffect>
                      <a14:backgroundRemoval t="10000" b="90000" l="10000" r="90000">
                        <a14:foregroundMark x1="21816" y1="52802" x2="22400" y2="57143"/>
                        <a14:foregroundMark x1="17400" y1="20000" x2="21739" y2="52234"/>
                        <a14:foregroundMark x1="22400" y1="57143" x2="21600" y2="72571"/>
                        <a14:foregroundMark x1="26539" y1="49110" x2="26785" y2="47941"/>
                        <a14:foregroundMark x1="21600" y1="72571" x2="24787" y2="57429"/>
                        <a14:foregroundMark x1="29400" y1="58857" x2="32292" y2="64447"/>
                        <a14:foregroundMark x1="45699" y1="23315" x2="47000" y2="59429"/>
                        <a14:foregroundMark x1="59200" y1="26286" x2="60049" y2="36647"/>
                        <a14:foregroundMark x1="57200" y1="33429" x2="57240" y2="36870"/>
                        <a14:foregroundMark x1="75200" y1="20857" x2="85600" y2="24286"/>
                        <a14:foregroundMark x1="75400" y1="30571" x2="75400" y2="62571"/>
                        <a14:foregroundMark x1="82200" y1="41429" x2="83000" y2="73429"/>
                        <a14:foregroundMark x1="65200" y1="82000" x2="58400" y2="81143"/>
                        <a14:foregroundMark x1="57600" y1="62000" x2="57600" y2="62000"/>
                        <a14:foregroundMark x1="67200" y1="36000" x2="65600" y2="47714"/>
                        <a14:foregroundMark x1="31400" y1="79714" x2="34000" y2="80571"/>
                        <a14:foregroundMark x1="32200" y1="34571" x2="37600" y2="36857"/>
                        <a14:backgroundMark x1="28600" y1="70571" x2="40600" y2="74000"/>
                        <a14:backgroundMark x1="40600" y1="74000" x2="50400" y2="69429"/>
                        <a14:backgroundMark x1="50400" y1="69429" x2="52400" y2="58857"/>
                        <a14:backgroundMark x1="54600" y1="71714" x2="67600" y2="66571"/>
                        <a14:backgroundMark x1="67600" y1="66571" x2="67800" y2="62286"/>
                        <a14:backgroundMark x1="61397" y1="46772" x2="61800" y2="57143"/>
                        <a14:backgroundMark x1="61000" y1="36571" x2="61388" y2="46555"/>
                        <a14:backgroundMark x1="61800" y1="57143" x2="62200" y2="57714"/>
                        <a14:backgroundMark x1="45000" y1="20857" x2="45000" y2="14571"/>
                        <a14:backgroundMark x1="44600" y1="21714" x2="46000" y2="10571"/>
                        <a14:backgroundMark x1="47000" y1="22000" x2="45000" y2="13714"/>
                        <a14:backgroundMark x1="46400" y1="21429" x2="43600" y2="16571"/>
                        <a14:backgroundMark x1="46800" y1="22000" x2="45800" y2="23429"/>
                        <a14:backgroundMark x1="35000" y1="40857" x2="35000" y2="48286"/>
                        <a14:backgroundMark x1="26800" y1="52286" x2="26800" y2="57429"/>
                        <a14:backgroundMark x1="29000" y1="41714" x2="32800" y2="41714"/>
                        <a14:backgroundMark x1="25400" y1="51143" x2="29800" y2="37429"/>
                        <a14:backgroundMark x1="29800" y1="37429" x2="29800" y2="37143"/>
                        <a14:backgroundMark x1="27200" y1="41143" x2="31000" y2="31714"/>
                        <a14:backgroundMark x1="27600" y1="42000" x2="29800" y2="41143"/>
                        <a14:backgroundMark x1="25600" y1="50000" x2="26800" y2="54000"/>
                        <a14:backgroundMark x1="31600" y1="66000" x2="33200" y2="66000"/>
                        <a14:backgroundMark x1="26400" y1="49143" x2="27000" y2="54286"/>
                      </a14:backgroundRemoval>
                    </a14:imgEffect>
                  </a14:imgLayer>
                </a14:imgProps>
              </a:ext>
              <a:ext uri="{28A0092B-C50C-407E-A947-70E740481C1C}">
                <a14:useLocalDpi xmlns:a14="http://schemas.microsoft.com/office/drawing/2010/main" val="0"/>
              </a:ext>
            </a:extLst>
          </a:blip>
          <a:srcRect l="26089" t="71936" r="29389" b="13050"/>
          <a:stretch>
            <a:fillRect/>
          </a:stretch>
        </p:blipFill>
        <p:spPr bwMode="auto">
          <a:xfrm rot="6360690">
            <a:off x="8699905" y="5244840"/>
            <a:ext cx="1722801" cy="406680"/>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0" descr="Tools Line Drawing Vector Art, Icons, and Graphics for Free ...">
            <a:extLst>
              <a:ext uri="{FF2B5EF4-FFF2-40B4-BE49-F238E27FC236}">
                <a16:creationId xmlns:a16="http://schemas.microsoft.com/office/drawing/2014/main" id="{5A32B4D2-7CFC-B225-9C70-AA6B4430625E}"/>
              </a:ext>
            </a:extLst>
          </p:cNvPr>
          <p:cNvPicPr>
            <a:picLocks noChangeAspect="1" noChangeArrowheads="1"/>
          </p:cNvPicPr>
          <p:nvPr/>
        </p:nvPicPr>
        <p:blipFill rotWithShape="1">
          <a:blip r:embed="rId3">
            <a:duotone>
              <a:prstClr val="black"/>
              <a:srgbClr val="2F5D50">
                <a:tint val="45000"/>
                <a:satMod val="400000"/>
              </a:srgbClr>
            </a:duotone>
            <a:extLst>
              <a:ext uri="{BEBA8EAE-BF5A-486C-A8C5-ECC9F3942E4B}">
                <a14:imgProps xmlns:a14="http://schemas.microsoft.com/office/drawing/2010/main">
                  <a14:imgLayer r:embed="rId4">
                    <a14:imgEffect>
                      <a14:backgroundRemoval t="10000" b="90000" l="10000" r="90000">
                        <a14:foregroundMark x1="21816" y1="52802" x2="22400" y2="57143"/>
                        <a14:foregroundMark x1="17400" y1="20000" x2="21739" y2="52234"/>
                        <a14:foregroundMark x1="22400" y1="57143" x2="21600" y2="72571"/>
                        <a14:foregroundMark x1="26539" y1="49110" x2="26785" y2="47941"/>
                        <a14:foregroundMark x1="21600" y1="72571" x2="24787" y2="57429"/>
                        <a14:foregroundMark x1="29400" y1="58857" x2="32292" y2="64447"/>
                        <a14:foregroundMark x1="45699" y1="23315" x2="47000" y2="59429"/>
                        <a14:foregroundMark x1="59200" y1="26286" x2="60049" y2="36647"/>
                        <a14:foregroundMark x1="57200" y1="33429" x2="57240" y2="36870"/>
                        <a14:foregroundMark x1="75200" y1="20857" x2="85600" y2="24286"/>
                        <a14:foregroundMark x1="75400" y1="30571" x2="75400" y2="62571"/>
                        <a14:foregroundMark x1="82200" y1="41429" x2="83000" y2="73429"/>
                        <a14:foregroundMark x1="65200" y1="82000" x2="58400" y2="81143"/>
                        <a14:foregroundMark x1="57600" y1="62000" x2="57600" y2="62000"/>
                        <a14:foregroundMark x1="67200" y1="36000" x2="65600" y2="47714"/>
                        <a14:foregroundMark x1="31400" y1="79714" x2="34000" y2="80571"/>
                        <a14:foregroundMark x1="32200" y1="34571" x2="37600" y2="36857"/>
                        <a14:backgroundMark x1="28600" y1="70571" x2="40600" y2="74000"/>
                        <a14:backgroundMark x1="40600" y1="74000" x2="50400" y2="69429"/>
                        <a14:backgroundMark x1="50400" y1="69429" x2="52400" y2="58857"/>
                        <a14:backgroundMark x1="54600" y1="71714" x2="67600" y2="66571"/>
                        <a14:backgroundMark x1="67600" y1="66571" x2="67800" y2="62286"/>
                        <a14:backgroundMark x1="61397" y1="46772" x2="61800" y2="57143"/>
                        <a14:backgroundMark x1="61000" y1="36571" x2="61388" y2="46555"/>
                        <a14:backgroundMark x1="61800" y1="57143" x2="62200" y2="57714"/>
                        <a14:backgroundMark x1="45000" y1="20857" x2="45000" y2="14571"/>
                        <a14:backgroundMark x1="44600" y1="21714" x2="46000" y2="10571"/>
                        <a14:backgroundMark x1="47000" y1="22000" x2="45000" y2="13714"/>
                        <a14:backgroundMark x1="46400" y1="21429" x2="43600" y2="16571"/>
                        <a14:backgroundMark x1="46800" y1="22000" x2="45800" y2="23429"/>
                        <a14:backgroundMark x1="35000" y1="40857" x2="35000" y2="48286"/>
                        <a14:backgroundMark x1="26800" y1="52286" x2="26800" y2="57429"/>
                        <a14:backgroundMark x1="29000" y1="41714" x2="32800" y2="41714"/>
                        <a14:backgroundMark x1="25400" y1="51143" x2="29800" y2="37429"/>
                        <a14:backgroundMark x1="29800" y1="37429" x2="29800" y2="37143"/>
                        <a14:backgroundMark x1="27200" y1="41143" x2="31000" y2="31714"/>
                        <a14:backgroundMark x1="27600" y1="42000" x2="29800" y2="41143"/>
                        <a14:backgroundMark x1="25600" y1="50000" x2="26800" y2="54000"/>
                        <a14:backgroundMark x1="31600" y1="66000" x2="33200" y2="66000"/>
                        <a14:backgroundMark x1="26400" y1="49143" x2="27000" y2="54286"/>
                      </a14:backgroundRemoval>
                    </a14:imgEffect>
                  </a14:imgLayer>
                </a14:imgProps>
              </a:ext>
              <a:ext uri="{28A0092B-C50C-407E-A947-70E740481C1C}">
                <a14:useLocalDpi xmlns:a14="http://schemas.microsoft.com/office/drawing/2010/main" val="0"/>
              </a:ext>
            </a:extLst>
          </a:blip>
          <a:srcRect l="64882" t="11918" r="12517" b="17038"/>
          <a:stretch>
            <a:fillRect/>
          </a:stretch>
        </p:blipFill>
        <p:spPr bwMode="auto">
          <a:xfrm rot="20780050" flipH="1">
            <a:off x="3336309" y="4638526"/>
            <a:ext cx="874560" cy="1924362"/>
          </a:xfrm>
          <a:custGeom>
            <a:avLst/>
            <a:gdLst>
              <a:gd name="csX0" fmla="*/ 520387 w 1076381"/>
              <a:gd name="csY0" fmla="*/ 0 h 2368445"/>
              <a:gd name="csX1" fmla="*/ 561718 w 1076381"/>
              <a:gd name="csY1" fmla="*/ 2863 h 2368445"/>
              <a:gd name="csX2" fmla="*/ 1059453 w 1076381"/>
              <a:gd name="csY2" fmla="*/ 47102 h 2368445"/>
              <a:gd name="csX3" fmla="*/ 1076380 w 1076381"/>
              <a:gd name="csY3" fmla="*/ 52998 h 2368445"/>
              <a:gd name="csX4" fmla="*/ 1076381 w 1076381"/>
              <a:gd name="csY4" fmla="*/ 541364 h 2368445"/>
              <a:gd name="csX5" fmla="*/ 1073695 w 1076381"/>
              <a:gd name="csY5" fmla="*/ 543609 h 2368445"/>
              <a:gd name="csX6" fmla="*/ 1014108 w 1076381"/>
              <a:gd name="csY6" fmla="*/ 596063 h 2368445"/>
              <a:gd name="csX7" fmla="*/ 953644 w 1076381"/>
              <a:gd name="csY7" fmla="*/ 657834 h 2368445"/>
              <a:gd name="csX8" fmla="*/ 808307 w 1076381"/>
              <a:gd name="csY8" fmla="*/ 816330 h 2368445"/>
              <a:gd name="csX9" fmla="*/ 728054 w 1076381"/>
              <a:gd name="csY9" fmla="*/ 881618 h 2368445"/>
              <a:gd name="csX10" fmla="*/ 715050 w 1076381"/>
              <a:gd name="csY10" fmla="*/ 1210511 h 2368445"/>
              <a:gd name="csX11" fmla="*/ 700086 w 1076381"/>
              <a:gd name="csY11" fmla="*/ 1356050 h 2368445"/>
              <a:gd name="csX12" fmla="*/ 695015 w 1076381"/>
              <a:gd name="csY12" fmla="*/ 1499831 h 2368445"/>
              <a:gd name="csX13" fmla="*/ 687735 w 1076381"/>
              <a:gd name="csY13" fmla="*/ 1746063 h 2368445"/>
              <a:gd name="csX14" fmla="*/ 672117 w 1076381"/>
              <a:gd name="csY14" fmla="*/ 1830483 h 2368445"/>
              <a:gd name="csX15" fmla="*/ 712094 w 1076381"/>
              <a:gd name="csY15" fmla="*/ 2170374 h 2368445"/>
              <a:gd name="csX16" fmla="*/ 674932 w 1076381"/>
              <a:gd name="csY16" fmla="*/ 2248418 h 2368445"/>
              <a:gd name="csX17" fmla="*/ 669208 w 1076381"/>
              <a:gd name="csY17" fmla="*/ 2331080 h 2368445"/>
              <a:gd name="csX18" fmla="*/ 573789 w 1076381"/>
              <a:gd name="csY18" fmla="*/ 2368445 h 2368445"/>
              <a:gd name="csX19" fmla="*/ 499262 w 1076381"/>
              <a:gd name="csY19" fmla="*/ 2351069 h 2368445"/>
              <a:gd name="csX20" fmla="*/ 454414 w 1076381"/>
              <a:gd name="csY20" fmla="*/ 2328420 h 2368445"/>
              <a:gd name="csX21" fmla="*/ 391539 w 1076381"/>
              <a:gd name="csY21" fmla="*/ 2319181 h 2368445"/>
              <a:gd name="csX22" fmla="*/ 358343 w 1076381"/>
              <a:gd name="csY22" fmla="*/ 2304667 h 2368445"/>
              <a:gd name="csX23" fmla="*/ 331524 w 1076381"/>
              <a:gd name="csY23" fmla="*/ 2268608 h 2368445"/>
              <a:gd name="csX24" fmla="*/ 271309 w 1076381"/>
              <a:gd name="csY24" fmla="*/ 2044575 h 2368445"/>
              <a:gd name="csX25" fmla="*/ 272522 w 1076381"/>
              <a:gd name="csY25" fmla="*/ 1989767 h 2368445"/>
              <a:gd name="csX26" fmla="*/ 272610 w 1076381"/>
              <a:gd name="csY26" fmla="*/ 1986158 h 2368445"/>
              <a:gd name="csX27" fmla="*/ 272613 w 1076381"/>
              <a:gd name="csY27" fmla="*/ 1986057 h 2368445"/>
              <a:gd name="csX28" fmla="*/ 272879 w 1076381"/>
              <a:gd name="csY28" fmla="*/ 1975063 h 2368445"/>
              <a:gd name="csX29" fmla="*/ 272610 w 1076381"/>
              <a:gd name="csY29" fmla="*/ 1986158 h 2368445"/>
              <a:gd name="csX30" fmla="*/ 271952 w 1076381"/>
              <a:gd name="csY30" fmla="*/ 2008347 h 2368445"/>
              <a:gd name="csX31" fmla="*/ 270002 w 1076381"/>
              <a:gd name="csY31" fmla="*/ 1922339 h 2368445"/>
              <a:gd name="csX32" fmla="*/ 272865 w 1076381"/>
              <a:gd name="csY32" fmla="*/ 1881008 h 2368445"/>
              <a:gd name="csX33" fmla="*/ 211793 w 1076381"/>
              <a:gd name="csY33" fmla="*/ 1422396 h 2368445"/>
              <a:gd name="csX34" fmla="*/ 232684 w 1076381"/>
              <a:gd name="csY34" fmla="*/ 1367655 h 2368445"/>
              <a:gd name="csX35" fmla="*/ 230273 w 1076381"/>
              <a:gd name="csY35" fmla="*/ 1296643 h 2368445"/>
              <a:gd name="csX36" fmla="*/ 238860 w 1076381"/>
              <a:gd name="csY36" fmla="*/ 1172649 h 2368445"/>
              <a:gd name="csX37" fmla="*/ 246343 w 1076381"/>
              <a:gd name="csY37" fmla="*/ 1099880 h 2368445"/>
              <a:gd name="csX38" fmla="*/ 252066 w 1076381"/>
              <a:gd name="csY38" fmla="*/ 1017217 h 2368445"/>
              <a:gd name="csX39" fmla="*/ 263065 w 1076381"/>
              <a:gd name="csY39" fmla="*/ 964234 h 2368445"/>
              <a:gd name="csX40" fmla="*/ 230118 w 1076381"/>
              <a:gd name="csY40" fmla="*/ 663917 h 2368445"/>
              <a:gd name="csX41" fmla="*/ 208449 w 1076381"/>
              <a:gd name="csY41" fmla="*/ 656837 h 2368445"/>
              <a:gd name="csX42" fmla="*/ 167507 w 1076381"/>
              <a:gd name="csY42" fmla="*/ 636302 h 2368445"/>
              <a:gd name="csX43" fmla="*/ 115817 w 1076381"/>
              <a:gd name="csY43" fmla="*/ 596923 h 2368445"/>
              <a:gd name="csX44" fmla="*/ 0 w 1076381"/>
              <a:gd name="csY44" fmla="*/ 567551 h 2368445"/>
              <a:gd name="csX45" fmla="*/ 0 w 1076381"/>
              <a:gd name="csY45" fmla="*/ 167999 h 2368445"/>
              <a:gd name="csX46" fmla="*/ 23092 w 1076381"/>
              <a:gd name="csY46" fmla="*/ 158476 h 2368445"/>
              <a:gd name="csX47" fmla="*/ 83972 w 1076381"/>
              <a:gd name="csY47" fmla="*/ 128567 h 2368445"/>
              <a:gd name="csX48" fmla="*/ 215449 w 1076381"/>
              <a:gd name="csY48" fmla="*/ 64385 h 2368445"/>
              <a:gd name="csX49" fmla="*/ 520387 w 1076381"/>
              <a:gd name="csY49" fmla="*/ 0 h 23684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Lst>
            <a:rect l="l" t="t" r="r" b="b"/>
            <a:pathLst>
              <a:path w="1076381" h="2368445">
                <a:moveTo>
                  <a:pt x="520387" y="0"/>
                </a:moveTo>
                <a:cubicBezTo>
                  <a:pt x="520387" y="0"/>
                  <a:pt x="547961" y="1661"/>
                  <a:pt x="561718" y="2863"/>
                </a:cubicBezTo>
                <a:cubicBezTo>
                  <a:pt x="727651" y="17362"/>
                  <a:pt x="895180" y="19562"/>
                  <a:pt x="1059453" y="47102"/>
                </a:cubicBezTo>
                <a:lnTo>
                  <a:pt x="1076380" y="52998"/>
                </a:lnTo>
                <a:lnTo>
                  <a:pt x="1076381" y="541364"/>
                </a:lnTo>
                <a:lnTo>
                  <a:pt x="1073695" y="543609"/>
                </a:lnTo>
                <a:cubicBezTo>
                  <a:pt x="1058318" y="556831"/>
                  <a:pt x="1038862" y="573903"/>
                  <a:pt x="1014108" y="596063"/>
                </a:cubicBezTo>
                <a:cubicBezTo>
                  <a:pt x="992640" y="615280"/>
                  <a:pt x="974682" y="638147"/>
                  <a:pt x="953644" y="657834"/>
                </a:cubicBezTo>
                <a:cubicBezTo>
                  <a:pt x="816494" y="786171"/>
                  <a:pt x="866314" y="709873"/>
                  <a:pt x="808307" y="816330"/>
                </a:cubicBezTo>
                <a:cubicBezTo>
                  <a:pt x="781556" y="838093"/>
                  <a:pt x="753809" y="858686"/>
                  <a:pt x="728054" y="881618"/>
                </a:cubicBezTo>
                <a:cubicBezTo>
                  <a:pt x="625844" y="972627"/>
                  <a:pt x="699785" y="1001081"/>
                  <a:pt x="715050" y="1210511"/>
                </a:cubicBezTo>
                <a:cubicBezTo>
                  <a:pt x="715050" y="1210511"/>
                  <a:pt x="704718" y="1307501"/>
                  <a:pt x="700086" y="1356050"/>
                </a:cubicBezTo>
                <a:cubicBezTo>
                  <a:pt x="695931" y="1399601"/>
                  <a:pt x="694879" y="1462371"/>
                  <a:pt x="695015" y="1499831"/>
                </a:cubicBezTo>
                <a:cubicBezTo>
                  <a:pt x="695468" y="1624116"/>
                  <a:pt x="705087" y="1627983"/>
                  <a:pt x="687735" y="1746063"/>
                </a:cubicBezTo>
                <a:cubicBezTo>
                  <a:pt x="680522" y="1795143"/>
                  <a:pt x="667288" y="1780894"/>
                  <a:pt x="672117" y="1830483"/>
                </a:cubicBezTo>
                <a:cubicBezTo>
                  <a:pt x="683171" y="1944024"/>
                  <a:pt x="698768" y="2057077"/>
                  <a:pt x="712094" y="2170374"/>
                </a:cubicBezTo>
                <a:cubicBezTo>
                  <a:pt x="699707" y="2196388"/>
                  <a:pt x="682361" y="2220579"/>
                  <a:pt x="674932" y="2248418"/>
                </a:cubicBezTo>
                <a:cubicBezTo>
                  <a:pt x="667810" y="2275104"/>
                  <a:pt x="687007" y="2309959"/>
                  <a:pt x="669208" y="2331080"/>
                </a:cubicBezTo>
                <a:cubicBezTo>
                  <a:pt x="647197" y="2357201"/>
                  <a:pt x="605595" y="2355989"/>
                  <a:pt x="573789" y="2368445"/>
                </a:cubicBezTo>
                <a:cubicBezTo>
                  <a:pt x="543226" y="2363954"/>
                  <a:pt x="530312" y="2363570"/>
                  <a:pt x="499262" y="2351069"/>
                </a:cubicBezTo>
                <a:cubicBezTo>
                  <a:pt x="483726" y="2344814"/>
                  <a:pt x="469364" y="2335969"/>
                  <a:pt x="454414" y="2328420"/>
                </a:cubicBezTo>
                <a:cubicBezTo>
                  <a:pt x="433455" y="2325340"/>
                  <a:pt x="412103" y="2324264"/>
                  <a:pt x="391539" y="2319181"/>
                </a:cubicBezTo>
                <a:cubicBezTo>
                  <a:pt x="379815" y="2316282"/>
                  <a:pt x="367578" y="2312449"/>
                  <a:pt x="358343" y="2304667"/>
                </a:cubicBezTo>
                <a:cubicBezTo>
                  <a:pt x="346888" y="2295014"/>
                  <a:pt x="336278" y="2282814"/>
                  <a:pt x="331524" y="2268608"/>
                </a:cubicBezTo>
                <a:cubicBezTo>
                  <a:pt x="306986" y="2195277"/>
                  <a:pt x="291381" y="2119253"/>
                  <a:pt x="271309" y="2044575"/>
                </a:cubicBezTo>
                <a:cubicBezTo>
                  <a:pt x="271882" y="2018021"/>
                  <a:pt x="272273" y="2000552"/>
                  <a:pt x="272522" y="1989767"/>
                </a:cubicBezTo>
                <a:lnTo>
                  <a:pt x="272610" y="1986158"/>
                </a:lnTo>
                <a:lnTo>
                  <a:pt x="272613" y="1986057"/>
                </a:lnTo>
                <a:cubicBezTo>
                  <a:pt x="272780" y="1979710"/>
                  <a:pt x="272882" y="1975245"/>
                  <a:pt x="272879" y="1975063"/>
                </a:cubicBezTo>
                <a:lnTo>
                  <a:pt x="272610" y="1986158"/>
                </a:lnTo>
                <a:lnTo>
                  <a:pt x="271952" y="2008347"/>
                </a:lnTo>
                <a:cubicBezTo>
                  <a:pt x="270913" y="2039192"/>
                  <a:pt x="269442" y="2061741"/>
                  <a:pt x="270002" y="1922339"/>
                </a:cubicBezTo>
                <a:cubicBezTo>
                  <a:pt x="270057" y="1908530"/>
                  <a:pt x="274462" y="1894725"/>
                  <a:pt x="272865" y="1881008"/>
                </a:cubicBezTo>
                <a:cubicBezTo>
                  <a:pt x="255030" y="1727823"/>
                  <a:pt x="232150" y="1575267"/>
                  <a:pt x="211793" y="1422396"/>
                </a:cubicBezTo>
                <a:cubicBezTo>
                  <a:pt x="218756" y="1404149"/>
                  <a:pt x="229844" y="1386978"/>
                  <a:pt x="232684" y="1367655"/>
                </a:cubicBezTo>
                <a:cubicBezTo>
                  <a:pt x="236128" y="1344222"/>
                  <a:pt x="231076" y="1320313"/>
                  <a:pt x="230273" y="1296643"/>
                </a:cubicBezTo>
                <a:cubicBezTo>
                  <a:pt x="228867" y="1255236"/>
                  <a:pt x="235487" y="1213942"/>
                  <a:pt x="238860" y="1172649"/>
                </a:cubicBezTo>
                <a:cubicBezTo>
                  <a:pt x="240845" y="1148346"/>
                  <a:pt x="244278" y="1124177"/>
                  <a:pt x="246343" y="1099880"/>
                </a:cubicBezTo>
                <a:cubicBezTo>
                  <a:pt x="248681" y="1072358"/>
                  <a:pt x="248687" y="1044630"/>
                  <a:pt x="252066" y="1017217"/>
                </a:cubicBezTo>
                <a:cubicBezTo>
                  <a:pt x="254273" y="999315"/>
                  <a:pt x="262146" y="982249"/>
                  <a:pt x="263065" y="964234"/>
                </a:cubicBezTo>
                <a:cubicBezTo>
                  <a:pt x="266460" y="897651"/>
                  <a:pt x="231372" y="669757"/>
                  <a:pt x="230118" y="663917"/>
                </a:cubicBezTo>
                <a:cubicBezTo>
                  <a:pt x="225670" y="643204"/>
                  <a:pt x="218884" y="661440"/>
                  <a:pt x="208449" y="656837"/>
                </a:cubicBezTo>
                <a:cubicBezTo>
                  <a:pt x="198013" y="652235"/>
                  <a:pt x="173734" y="652205"/>
                  <a:pt x="167507" y="636302"/>
                </a:cubicBezTo>
                <a:lnTo>
                  <a:pt x="115817" y="596923"/>
                </a:lnTo>
                <a:lnTo>
                  <a:pt x="0" y="567551"/>
                </a:lnTo>
                <a:lnTo>
                  <a:pt x="0" y="167999"/>
                </a:lnTo>
                <a:lnTo>
                  <a:pt x="23092" y="158476"/>
                </a:lnTo>
                <a:cubicBezTo>
                  <a:pt x="41118" y="150254"/>
                  <a:pt x="58881" y="140816"/>
                  <a:pt x="83972" y="128567"/>
                </a:cubicBezTo>
                <a:cubicBezTo>
                  <a:pt x="127797" y="107173"/>
                  <a:pt x="168669" y="78167"/>
                  <a:pt x="215449" y="64385"/>
                </a:cubicBezTo>
                <a:cubicBezTo>
                  <a:pt x="315102" y="35028"/>
                  <a:pt x="418741" y="21462"/>
                  <a:pt x="520387" y="0"/>
                </a:cubicBezTo>
                <a:close/>
              </a:path>
            </a:pathLst>
          </a:custGeom>
          <a:noFill/>
          <a:extLst>
            <a:ext uri="{909E8E84-426E-40DD-AFC4-6F175D3DCCD1}">
              <a14:hiddenFill xmlns:a14="http://schemas.microsoft.com/office/drawing/2010/main">
                <a:solidFill>
                  <a:srgbClr val="FFFFFF"/>
                </a:solidFill>
              </a14:hiddenFill>
            </a:ext>
          </a:extLst>
        </p:spPr>
      </p:pic>
      <p:grpSp>
        <p:nvGrpSpPr>
          <p:cNvPr id="22" name="Group 21">
            <a:extLst>
              <a:ext uri="{FF2B5EF4-FFF2-40B4-BE49-F238E27FC236}">
                <a16:creationId xmlns:a16="http://schemas.microsoft.com/office/drawing/2014/main" id="{229106D0-703D-9772-52E4-D6C7F13150B2}"/>
              </a:ext>
            </a:extLst>
          </p:cNvPr>
          <p:cNvGrpSpPr/>
          <p:nvPr/>
        </p:nvGrpSpPr>
        <p:grpSpPr>
          <a:xfrm>
            <a:off x="189166" y="4633093"/>
            <a:ext cx="1065218" cy="2186176"/>
            <a:chOff x="6044355" y="3127318"/>
            <a:chExt cx="1311038" cy="2690678"/>
          </a:xfrm>
        </p:grpSpPr>
        <p:pic>
          <p:nvPicPr>
            <p:cNvPr id="23" name="Picture 3" descr="Tools Line Drawing Vector Art, Icons, and Graphics for Free ...">
              <a:extLst>
                <a:ext uri="{FF2B5EF4-FFF2-40B4-BE49-F238E27FC236}">
                  <a16:creationId xmlns:a16="http://schemas.microsoft.com/office/drawing/2014/main" id="{C99864A7-1D9D-F459-64CE-BCA19A022C4B}"/>
                </a:ext>
              </a:extLst>
            </p:cNvPr>
            <p:cNvPicPr>
              <a:picLocks noChangeAspect="1" noChangeArrowheads="1"/>
            </p:cNvPicPr>
            <p:nvPr/>
          </p:nvPicPr>
          <p:blipFill rotWithShape="1">
            <a:blip r:embed="rId3">
              <a:duotone>
                <a:prstClr val="black"/>
                <a:srgbClr val="2F5D50">
                  <a:tint val="45000"/>
                  <a:satMod val="400000"/>
                </a:srgbClr>
              </a:duotone>
              <a:extLst>
                <a:ext uri="{BEBA8EAE-BF5A-486C-A8C5-ECC9F3942E4B}">
                  <a14:imgProps xmlns:a14="http://schemas.microsoft.com/office/drawing/2010/main">
                    <a14:imgLayer r:embed="rId4">
                      <a14:imgEffect>
                        <a14:backgroundRemoval t="10000" b="90000" l="10000" r="90000">
                          <a14:foregroundMark x1="21816" y1="52802" x2="22400" y2="57143"/>
                          <a14:foregroundMark x1="17400" y1="20000" x2="21739" y2="52234"/>
                          <a14:foregroundMark x1="22400" y1="57143" x2="21600" y2="72571"/>
                          <a14:foregroundMark x1="26539" y1="49110" x2="26785" y2="47941"/>
                          <a14:foregroundMark x1="21600" y1="72571" x2="24787" y2="57429"/>
                          <a14:foregroundMark x1="29400" y1="58857" x2="32292" y2="64447"/>
                          <a14:foregroundMark x1="45699" y1="23315" x2="47000" y2="59429"/>
                          <a14:foregroundMark x1="59200" y1="26286" x2="60049" y2="36647"/>
                          <a14:foregroundMark x1="57200" y1="33429" x2="57240" y2="36870"/>
                          <a14:foregroundMark x1="75200" y1="20857" x2="85600" y2="24286"/>
                          <a14:foregroundMark x1="75400" y1="30571" x2="75400" y2="62571"/>
                          <a14:foregroundMark x1="82200" y1="41429" x2="83000" y2="73429"/>
                          <a14:foregroundMark x1="65200" y1="82000" x2="58400" y2="81143"/>
                          <a14:foregroundMark x1="57600" y1="62000" x2="57600" y2="62000"/>
                          <a14:foregroundMark x1="67200" y1="36000" x2="65600" y2="47714"/>
                          <a14:foregroundMark x1="31400" y1="79714" x2="34000" y2="80571"/>
                          <a14:foregroundMark x1="32200" y1="34571" x2="37600" y2="36857"/>
                          <a14:backgroundMark x1="28600" y1="70571" x2="40600" y2="74000"/>
                          <a14:backgroundMark x1="40600" y1="74000" x2="50400" y2="69429"/>
                          <a14:backgroundMark x1="50400" y1="69429" x2="52400" y2="58857"/>
                          <a14:backgroundMark x1="54600" y1="71714" x2="67600" y2="66571"/>
                          <a14:backgroundMark x1="67600" y1="66571" x2="67800" y2="62286"/>
                          <a14:backgroundMark x1="61397" y1="46772" x2="61800" y2="57143"/>
                          <a14:backgroundMark x1="61000" y1="36571" x2="61388" y2="46555"/>
                          <a14:backgroundMark x1="61800" y1="57143" x2="62200" y2="57714"/>
                          <a14:backgroundMark x1="45000" y1="20857" x2="45000" y2="14571"/>
                          <a14:backgroundMark x1="44600" y1="21714" x2="46000" y2="10571"/>
                          <a14:backgroundMark x1="47000" y1="22000" x2="45000" y2="13714"/>
                          <a14:backgroundMark x1="46400" y1="21429" x2="43600" y2="16571"/>
                          <a14:backgroundMark x1="46800" y1="22000" x2="45800" y2="23429"/>
                          <a14:backgroundMark x1="35000" y1="40857" x2="35000" y2="48286"/>
                          <a14:backgroundMark x1="26800" y1="52286" x2="26800" y2="57429"/>
                          <a14:backgroundMark x1="29000" y1="41714" x2="32800" y2="41714"/>
                          <a14:backgroundMark x1="25400" y1="51143" x2="29800" y2="37429"/>
                          <a14:backgroundMark x1="29800" y1="37429" x2="29800" y2="37143"/>
                          <a14:backgroundMark x1="27200" y1="41143" x2="31000" y2="31714"/>
                          <a14:backgroundMark x1="27600" y1="42000" x2="29800" y2="41143"/>
                          <a14:backgroundMark x1="25600" y1="50000" x2="26800" y2="54000"/>
                          <a14:backgroundMark x1="31600" y1="66000" x2="33200" y2="66000"/>
                          <a14:backgroundMark x1="26400" y1="49143" x2="27000" y2="54286"/>
                        </a14:backgroundRemoval>
                      </a14:imgEffect>
                    </a14:imgLayer>
                  </a14:imgProps>
                </a:ext>
                <a:ext uri="{28A0092B-C50C-407E-A947-70E740481C1C}">
                  <a14:useLocalDpi xmlns:a14="http://schemas.microsoft.com/office/drawing/2010/main" val="0"/>
                </a:ext>
              </a:extLst>
            </a:blip>
            <a:srcRect l="11662" t="8805" r="66904" b="13052"/>
            <a:stretch>
              <a:fillRect/>
            </a:stretch>
          </p:blipFill>
          <p:spPr bwMode="auto">
            <a:xfrm rot="604486">
              <a:off x="6044355" y="3127318"/>
              <a:ext cx="1020789" cy="2605109"/>
            </a:xfrm>
            <a:prstGeom prst="rect">
              <a:avLst/>
            </a:prstGeom>
            <a:noFill/>
            <a:extLst>
              <a:ext uri="{909E8E84-426E-40DD-AFC4-6F175D3DCCD1}">
                <a14:hiddenFill xmlns:a14="http://schemas.microsoft.com/office/drawing/2010/main">
                  <a:solidFill>
                    <a:srgbClr val="FFFFFF"/>
                  </a:solidFill>
                </a14:hiddenFill>
              </a:ext>
            </a:extLst>
          </p:spPr>
        </p:pic>
        <p:sp>
          <p:nvSpPr>
            <p:cNvPr id="24" name="Freeform: Shape 23">
              <a:extLst>
                <a:ext uri="{FF2B5EF4-FFF2-40B4-BE49-F238E27FC236}">
                  <a16:creationId xmlns:a16="http://schemas.microsoft.com/office/drawing/2014/main" id="{A96F4C03-F892-86E7-5132-D68F9350AEC7}"/>
                </a:ext>
              </a:extLst>
            </p:cNvPr>
            <p:cNvSpPr/>
            <p:nvPr/>
          </p:nvSpPr>
          <p:spPr>
            <a:xfrm>
              <a:off x="6580871" y="3946875"/>
              <a:ext cx="774522" cy="1871121"/>
            </a:xfrm>
            <a:custGeom>
              <a:avLst/>
              <a:gdLst>
                <a:gd name="csX0" fmla="*/ 593652 w 774522"/>
                <a:gd name="csY0" fmla="*/ 12176 h 1871121"/>
                <a:gd name="csX1" fmla="*/ 493169 w 774522"/>
                <a:gd name="csY1" fmla="*/ 42321 h 1871121"/>
                <a:gd name="csX2" fmla="*/ 463024 w 774522"/>
                <a:gd name="csY2" fmla="*/ 62417 h 1871121"/>
                <a:gd name="csX3" fmla="*/ 422830 w 774522"/>
                <a:gd name="csY3" fmla="*/ 82514 h 1871121"/>
                <a:gd name="csX4" fmla="*/ 362540 w 774522"/>
                <a:gd name="csY4" fmla="*/ 162901 h 1871121"/>
                <a:gd name="csX5" fmla="*/ 332395 w 774522"/>
                <a:gd name="csY5" fmla="*/ 223191 h 1871121"/>
                <a:gd name="csX6" fmla="*/ 211815 w 774522"/>
                <a:gd name="csY6" fmla="*/ 363868 h 1871121"/>
                <a:gd name="csX7" fmla="*/ 181670 w 774522"/>
                <a:gd name="csY7" fmla="*/ 404061 h 1871121"/>
                <a:gd name="csX8" fmla="*/ 161573 w 774522"/>
                <a:gd name="csY8" fmla="*/ 444255 h 1871121"/>
                <a:gd name="csX9" fmla="*/ 151525 w 774522"/>
                <a:gd name="csY9" fmla="*/ 494496 h 1871121"/>
                <a:gd name="csX10" fmla="*/ 141476 w 774522"/>
                <a:gd name="csY10" fmla="*/ 534690 h 1871121"/>
                <a:gd name="csX11" fmla="*/ 131428 w 774522"/>
                <a:gd name="csY11" fmla="*/ 615077 h 1871121"/>
                <a:gd name="csX12" fmla="*/ 101283 w 774522"/>
                <a:gd name="csY12" fmla="*/ 685415 h 1871121"/>
                <a:gd name="csX13" fmla="*/ 61089 w 774522"/>
                <a:gd name="csY13" fmla="*/ 1137591 h 1871121"/>
                <a:gd name="csX14" fmla="*/ 30944 w 774522"/>
                <a:gd name="csY14" fmla="*/ 1197881 h 1871121"/>
                <a:gd name="csX15" fmla="*/ 799 w 774522"/>
                <a:gd name="csY15" fmla="*/ 1559622 h 1871121"/>
                <a:gd name="csX16" fmla="*/ 51041 w 774522"/>
                <a:gd name="csY16" fmla="*/ 1800782 h 1871121"/>
                <a:gd name="csX17" fmla="*/ 302250 w 774522"/>
                <a:gd name="csY17" fmla="*/ 1871121 h 1871121"/>
                <a:gd name="csX18" fmla="*/ 432878 w 774522"/>
                <a:gd name="csY18" fmla="*/ 1800782 h 1871121"/>
                <a:gd name="csX19" fmla="*/ 503217 w 774522"/>
                <a:gd name="csY19" fmla="*/ 1700299 h 1871121"/>
                <a:gd name="csX20" fmla="*/ 553459 w 774522"/>
                <a:gd name="csY20" fmla="*/ 1408896 h 1871121"/>
                <a:gd name="csX21" fmla="*/ 633845 w 774522"/>
                <a:gd name="csY21" fmla="*/ 816044 h 1871121"/>
                <a:gd name="csX22" fmla="*/ 724281 w 774522"/>
                <a:gd name="csY22" fmla="*/ 444255 h 1871121"/>
                <a:gd name="csX23" fmla="*/ 774522 w 774522"/>
                <a:gd name="csY23" fmla="*/ 273433 h 1871121"/>
                <a:gd name="csX24" fmla="*/ 754426 w 774522"/>
                <a:gd name="csY24" fmla="*/ 112659 h 1871121"/>
                <a:gd name="csX25" fmla="*/ 704184 w 774522"/>
                <a:gd name="csY25" fmla="*/ 32272 h 1871121"/>
                <a:gd name="csX26" fmla="*/ 663991 w 774522"/>
                <a:gd name="csY26" fmla="*/ 2127 h 1871121"/>
                <a:gd name="csX27" fmla="*/ 593652 w 774522"/>
                <a:gd name="csY27" fmla="*/ 12176 h 187112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Lst>
              <a:rect l="l" t="t" r="r" b="b"/>
              <a:pathLst>
                <a:path w="774522" h="1871121">
                  <a:moveTo>
                    <a:pt x="593652" y="12176"/>
                  </a:moveTo>
                  <a:cubicBezTo>
                    <a:pt x="565182" y="18875"/>
                    <a:pt x="537238" y="20287"/>
                    <a:pt x="493169" y="42321"/>
                  </a:cubicBezTo>
                  <a:cubicBezTo>
                    <a:pt x="482367" y="47722"/>
                    <a:pt x="473509" y="56425"/>
                    <a:pt x="463024" y="62417"/>
                  </a:cubicBezTo>
                  <a:cubicBezTo>
                    <a:pt x="450018" y="69849"/>
                    <a:pt x="436228" y="75815"/>
                    <a:pt x="422830" y="82514"/>
                  </a:cubicBezTo>
                  <a:cubicBezTo>
                    <a:pt x="412974" y="94834"/>
                    <a:pt x="373203" y="141575"/>
                    <a:pt x="362540" y="162901"/>
                  </a:cubicBezTo>
                  <a:cubicBezTo>
                    <a:pt x="339305" y="209370"/>
                    <a:pt x="369048" y="178683"/>
                    <a:pt x="332395" y="223191"/>
                  </a:cubicBezTo>
                  <a:cubicBezTo>
                    <a:pt x="293133" y="270866"/>
                    <a:pt x="248872" y="314460"/>
                    <a:pt x="211815" y="363868"/>
                  </a:cubicBezTo>
                  <a:cubicBezTo>
                    <a:pt x="201767" y="377266"/>
                    <a:pt x="190546" y="389859"/>
                    <a:pt x="181670" y="404061"/>
                  </a:cubicBezTo>
                  <a:cubicBezTo>
                    <a:pt x="173731" y="416764"/>
                    <a:pt x="168272" y="430857"/>
                    <a:pt x="161573" y="444255"/>
                  </a:cubicBezTo>
                  <a:cubicBezTo>
                    <a:pt x="158224" y="461002"/>
                    <a:pt x="155230" y="477824"/>
                    <a:pt x="151525" y="494496"/>
                  </a:cubicBezTo>
                  <a:cubicBezTo>
                    <a:pt x="148529" y="507978"/>
                    <a:pt x="143746" y="521068"/>
                    <a:pt x="141476" y="534690"/>
                  </a:cubicBezTo>
                  <a:cubicBezTo>
                    <a:pt x="137037" y="561327"/>
                    <a:pt x="138386" y="588985"/>
                    <a:pt x="131428" y="615077"/>
                  </a:cubicBezTo>
                  <a:cubicBezTo>
                    <a:pt x="124855" y="639724"/>
                    <a:pt x="111331" y="661969"/>
                    <a:pt x="101283" y="685415"/>
                  </a:cubicBezTo>
                  <a:cubicBezTo>
                    <a:pt x="98039" y="740557"/>
                    <a:pt x="95339" y="1021142"/>
                    <a:pt x="61089" y="1137591"/>
                  </a:cubicBezTo>
                  <a:cubicBezTo>
                    <a:pt x="54749" y="1159147"/>
                    <a:pt x="40992" y="1177784"/>
                    <a:pt x="30944" y="1197881"/>
                  </a:cubicBezTo>
                  <a:cubicBezTo>
                    <a:pt x="17057" y="1308984"/>
                    <a:pt x="-4416" y="1469229"/>
                    <a:pt x="799" y="1559622"/>
                  </a:cubicBezTo>
                  <a:cubicBezTo>
                    <a:pt x="5528" y="1641598"/>
                    <a:pt x="13316" y="1727848"/>
                    <a:pt x="51041" y="1800782"/>
                  </a:cubicBezTo>
                  <a:cubicBezTo>
                    <a:pt x="80745" y="1858209"/>
                    <a:pt x="271568" y="1867030"/>
                    <a:pt x="302250" y="1871121"/>
                  </a:cubicBezTo>
                  <a:cubicBezTo>
                    <a:pt x="345793" y="1847675"/>
                    <a:pt x="395197" y="1832811"/>
                    <a:pt x="432878" y="1800782"/>
                  </a:cubicBezTo>
                  <a:cubicBezTo>
                    <a:pt x="464030" y="1774303"/>
                    <a:pt x="491193" y="1739376"/>
                    <a:pt x="503217" y="1700299"/>
                  </a:cubicBezTo>
                  <a:cubicBezTo>
                    <a:pt x="532204" y="1606090"/>
                    <a:pt x="539054" y="1506405"/>
                    <a:pt x="553459" y="1408896"/>
                  </a:cubicBezTo>
                  <a:cubicBezTo>
                    <a:pt x="582603" y="1211611"/>
                    <a:pt x="590583" y="1010721"/>
                    <a:pt x="633845" y="816044"/>
                  </a:cubicBezTo>
                  <a:cubicBezTo>
                    <a:pt x="665806" y="672221"/>
                    <a:pt x="682304" y="586980"/>
                    <a:pt x="724281" y="444255"/>
                  </a:cubicBezTo>
                  <a:lnTo>
                    <a:pt x="774522" y="273433"/>
                  </a:lnTo>
                  <a:cubicBezTo>
                    <a:pt x="767823" y="219842"/>
                    <a:pt x="765018" y="165619"/>
                    <a:pt x="754426" y="112659"/>
                  </a:cubicBezTo>
                  <a:cubicBezTo>
                    <a:pt x="750447" y="92762"/>
                    <a:pt x="716922" y="45010"/>
                    <a:pt x="704184" y="32272"/>
                  </a:cubicBezTo>
                  <a:cubicBezTo>
                    <a:pt x="692342" y="20430"/>
                    <a:pt x="680238" y="6189"/>
                    <a:pt x="663991" y="2127"/>
                  </a:cubicBezTo>
                  <a:cubicBezTo>
                    <a:pt x="637995" y="-4372"/>
                    <a:pt x="622122" y="5477"/>
                    <a:pt x="593652" y="12176"/>
                  </a:cubicBezTo>
                  <a:close/>
                </a:path>
              </a:pathLst>
            </a:cu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63"/>
            </a:p>
          </p:txBody>
        </p:sp>
      </p:grpSp>
      <p:pic>
        <p:nvPicPr>
          <p:cNvPr id="25" name="Picture 3" descr="Tools Line Drawing Vector Art, Icons, and Graphics for Free ...">
            <a:extLst>
              <a:ext uri="{FF2B5EF4-FFF2-40B4-BE49-F238E27FC236}">
                <a16:creationId xmlns:a16="http://schemas.microsoft.com/office/drawing/2014/main" id="{82719620-78C7-44B9-8B9E-0AE9C4C3413F}"/>
              </a:ext>
            </a:extLst>
          </p:cNvPr>
          <p:cNvPicPr>
            <a:picLocks noChangeAspect="1" noChangeArrowheads="1"/>
          </p:cNvPicPr>
          <p:nvPr/>
        </p:nvPicPr>
        <p:blipFill rotWithShape="1">
          <a:blip r:embed="rId3">
            <a:duotone>
              <a:prstClr val="black"/>
              <a:srgbClr val="6B5B95">
                <a:tint val="45000"/>
                <a:satMod val="400000"/>
              </a:srgbClr>
            </a:duotone>
            <a:extLst>
              <a:ext uri="{BEBA8EAE-BF5A-486C-A8C5-ECC9F3942E4B}">
                <a14:imgProps xmlns:a14="http://schemas.microsoft.com/office/drawing/2010/main">
                  <a14:imgLayer r:embed="rId4">
                    <a14:imgEffect>
                      <a14:backgroundRemoval t="10000" b="90000" l="10000" r="90000">
                        <a14:foregroundMark x1="21816" y1="52802" x2="22400" y2="57143"/>
                        <a14:foregroundMark x1="17400" y1="20000" x2="21739" y2="52234"/>
                        <a14:foregroundMark x1="22400" y1="57143" x2="21600" y2="72571"/>
                        <a14:foregroundMark x1="26539" y1="49110" x2="26785" y2="47941"/>
                        <a14:foregroundMark x1="21600" y1="72571" x2="24787" y2="57429"/>
                        <a14:foregroundMark x1="29400" y1="58857" x2="32292" y2="64447"/>
                        <a14:foregroundMark x1="45699" y1="23315" x2="47000" y2="59429"/>
                        <a14:foregroundMark x1="59200" y1="26286" x2="60049" y2="36647"/>
                        <a14:foregroundMark x1="57200" y1="33429" x2="57240" y2="36870"/>
                        <a14:foregroundMark x1="75200" y1="20857" x2="85600" y2="24286"/>
                        <a14:foregroundMark x1="75400" y1="30571" x2="75400" y2="62571"/>
                        <a14:foregroundMark x1="82200" y1="41429" x2="83000" y2="73429"/>
                        <a14:foregroundMark x1="65200" y1="82000" x2="58400" y2="81143"/>
                        <a14:foregroundMark x1="57600" y1="62000" x2="57600" y2="62000"/>
                        <a14:foregroundMark x1="67200" y1="36000" x2="65600" y2="47714"/>
                        <a14:foregroundMark x1="31400" y1="79714" x2="34000" y2="80571"/>
                        <a14:foregroundMark x1="32200" y1="34571" x2="37600" y2="36857"/>
                        <a14:backgroundMark x1="28600" y1="70571" x2="40600" y2="74000"/>
                        <a14:backgroundMark x1="40600" y1="74000" x2="50400" y2="69429"/>
                        <a14:backgroundMark x1="50400" y1="69429" x2="52400" y2="58857"/>
                        <a14:backgroundMark x1="54600" y1="71714" x2="67600" y2="66571"/>
                        <a14:backgroundMark x1="67600" y1="66571" x2="67800" y2="62286"/>
                        <a14:backgroundMark x1="61397" y1="46772" x2="61800" y2="57143"/>
                        <a14:backgroundMark x1="61000" y1="36571" x2="61388" y2="46555"/>
                        <a14:backgroundMark x1="61800" y1="57143" x2="62200" y2="57714"/>
                        <a14:backgroundMark x1="45000" y1="20857" x2="45000" y2="14571"/>
                        <a14:backgroundMark x1="44600" y1="21714" x2="46000" y2="10571"/>
                        <a14:backgroundMark x1="47000" y1="22000" x2="45000" y2="13714"/>
                        <a14:backgroundMark x1="46400" y1="21429" x2="43600" y2="16571"/>
                        <a14:backgroundMark x1="46800" y1="22000" x2="45800" y2="23429"/>
                        <a14:backgroundMark x1="35000" y1="40857" x2="35000" y2="48286"/>
                        <a14:backgroundMark x1="26800" y1="52286" x2="26800" y2="57429"/>
                        <a14:backgroundMark x1="29000" y1="41714" x2="32800" y2="41714"/>
                        <a14:backgroundMark x1="25400" y1="51143" x2="29800" y2="37429"/>
                        <a14:backgroundMark x1="29800" y1="37429" x2="29800" y2="37143"/>
                        <a14:backgroundMark x1="27200" y1="41143" x2="31000" y2="31714"/>
                        <a14:backgroundMark x1="27600" y1="42000" x2="29800" y2="41143"/>
                        <a14:backgroundMark x1="25600" y1="50000" x2="26800" y2="54000"/>
                        <a14:backgroundMark x1="31600" y1="66000" x2="33200" y2="66000"/>
                        <a14:backgroundMark x1="26400" y1="49143" x2="27000" y2="54286"/>
                      </a14:backgroundRemoval>
                    </a14:imgEffect>
                  </a14:imgLayer>
                </a14:imgProps>
              </a:ext>
              <a:ext uri="{28A0092B-C50C-407E-A947-70E740481C1C}">
                <a14:useLocalDpi xmlns:a14="http://schemas.microsoft.com/office/drawing/2010/main" val="0"/>
              </a:ext>
            </a:extLst>
          </a:blip>
          <a:srcRect l="41120" t="11362" r="48960" b="26924"/>
          <a:stretch>
            <a:fillRect/>
          </a:stretch>
        </p:blipFill>
        <p:spPr bwMode="auto">
          <a:xfrm rot="20961488">
            <a:off x="1397995" y="4914499"/>
            <a:ext cx="383858" cy="1671638"/>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3" descr="Tools Line Drawing Vector Art, Icons, and Graphics for Free ...">
            <a:extLst>
              <a:ext uri="{FF2B5EF4-FFF2-40B4-BE49-F238E27FC236}">
                <a16:creationId xmlns:a16="http://schemas.microsoft.com/office/drawing/2014/main" id="{BAC82355-AC06-940C-0FA7-DB461965F1DC}"/>
              </a:ext>
            </a:extLst>
          </p:cNvPr>
          <p:cNvPicPr>
            <a:picLocks noChangeAspect="1" noChangeArrowheads="1"/>
          </p:cNvPicPr>
          <p:nvPr/>
        </p:nvPicPr>
        <p:blipFill rotWithShape="1">
          <a:blip r:embed="rId3">
            <a:duotone>
              <a:prstClr val="black"/>
              <a:srgbClr val="6B5B95">
                <a:tint val="45000"/>
                <a:satMod val="400000"/>
              </a:srgbClr>
            </a:duotone>
            <a:extLst>
              <a:ext uri="{BEBA8EAE-BF5A-486C-A8C5-ECC9F3942E4B}">
                <a14:imgProps xmlns:a14="http://schemas.microsoft.com/office/drawing/2010/main">
                  <a14:imgLayer r:embed="rId4">
                    <a14:imgEffect>
                      <a14:backgroundRemoval t="10000" b="90000" l="10000" r="90000">
                        <a14:foregroundMark x1="21816" y1="52802" x2="22400" y2="57143"/>
                        <a14:foregroundMark x1="17400" y1="20000" x2="21739" y2="52234"/>
                        <a14:foregroundMark x1="22400" y1="57143" x2="21600" y2="72571"/>
                        <a14:foregroundMark x1="26539" y1="49110" x2="26785" y2="47941"/>
                        <a14:foregroundMark x1="21600" y1="72571" x2="24787" y2="57429"/>
                        <a14:foregroundMark x1="29400" y1="58857" x2="32292" y2="64447"/>
                        <a14:foregroundMark x1="45699" y1="23315" x2="47000" y2="59429"/>
                        <a14:foregroundMark x1="59200" y1="26286" x2="60049" y2="36647"/>
                        <a14:foregroundMark x1="57200" y1="33429" x2="57240" y2="36870"/>
                        <a14:foregroundMark x1="75200" y1="20857" x2="85600" y2="24286"/>
                        <a14:foregroundMark x1="75400" y1="30571" x2="75400" y2="62571"/>
                        <a14:foregroundMark x1="82200" y1="41429" x2="83000" y2="73429"/>
                        <a14:foregroundMark x1="65200" y1="82000" x2="58400" y2="81143"/>
                        <a14:foregroundMark x1="57600" y1="62000" x2="57600" y2="62000"/>
                        <a14:foregroundMark x1="67200" y1="36000" x2="65600" y2="47714"/>
                        <a14:foregroundMark x1="31400" y1="79714" x2="34000" y2="80571"/>
                        <a14:foregroundMark x1="32200" y1="34571" x2="37600" y2="36857"/>
                        <a14:backgroundMark x1="28600" y1="70571" x2="40600" y2="74000"/>
                        <a14:backgroundMark x1="40600" y1="74000" x2="50400" y2="69429"/>
                        <a14:backgroundMark x1="50400" y1="69429" x2="52400" y2="58857"/>
                        <a14:backgroundMark x1="54600" y1="71714" x2="67600" y2="66571"/>
                        <a14:backgroundMark x1="67600" y1="66571" x2="67800" y2="62286"/>
                        <a14:backgroundMark x1="61397" y1="46772" x2="61800" y2="57143"/>
                        <a14:backgroundMark x1="61000" y1="36571" x2="61388" y2="46555"/>
                        <a14:backgroundMark x1="61800" y1="57143" x2="62200" y2="57714"/>
                        <a14:backgroundMark x1="45000" y1="20857" x2="45000" y2="14571"/>
                        <a14:backgroundMark x1="44600" y1="21714" x2="46000" y2="10571"/>
                        <a14:backgroundMark x1="47000" y1="22000" x2="45000" y2="13714"/>
                        <a14:backgroundMark x1="46400" y1="21429" x2="43600" y2="16571"/>
                        <a14:backgroundMark x1="46800" y1="22000" x2="45800" y2="23429"/>
                        <a14:backgroundMark x1="35000" y1="40857" x2="35000" y2="48286"/>
                        <a14:backgroundMark x1="26800" y1="52286" x2="26800" y2="57429"/>
                        <a14:backgroundMark x1="29000" y1="41714" x2="32800" y2="41714"/>
                        <a14:backgroundMark x1="25400" y1="51143" x2="29800" y2="37429"/>
                        <a14:backgroundMark x1="29800" y1="37429" x2="29800" y2="37143"/>
                        <a14:backgroundMark x1="27200" y1="41143" x2="31000" y2="31714"/>
                        <a14:backgroundMark x1="27600" y1="42000" x2="29800" y2="41143"/>
                        <a14:backgroundMark x1="25600" y1="50000" x2="26800" y2="54000"/>
                        <a14:backgroundMark x1="31600" y1="66000" x2="33200" y2="66000"/>
                        <a14:backgroundMark x1="26400" y1="49143" x2="27000" y2="54286"/>
                      </a14:backgroundRemoval>
                    </a14:imgEffect>
                  </a14:imgLayer>
                </a14:imgProps>
              </a:ext>
              <a:ext uri="{28A0092B-C50C-407E-A947-70E740481C1C}">
                <a14:useLocalDpi xmlns:a14="http://schemas.microsoft.com/office/drawing/2010/main" val="0"/>
              </a:ext>
            </a:extLst>
          </a:blip>
          <a:srcRect l="79118" t="37273" r="10962" b="16612"/>
          <a:stretch>
            <a:fillRect/>
          </a:stretch>
        </p:blipFill>
        <p:spPr bwMode="auto">
          <a:xfrm>
            <a:off x="4298165" y="5083114"/>
            <a:ext cx="383858" cy="1249136"/>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3" descr="Tools Line Drawing Vector Art, Icons, and Graphics for Free ...">
            <a:extLst>
              <a:ext uri="{FF2B5EF4-FFF2-40B4-BE49-F238E27FC236}">
                <a16:creationId xmlns:a16="http://schemas.microsoft.com/office/drawing/2014/main" id="{B1EA0C17-462C-B37A-BD4A-7DF64BA4F2B3}"/>
              </a:ext>
            </a:extLst>
          </p:cNvPr>
          <p:cNvPicPr>
            <a:picLocks noChangeAspect="1" noChangeArrowheads="1"/>
          </p:cNvPicPr>
          <p:nvPr/>
        </p:nvPicPr>
        <p:blipFill rotWithShape="1">
          <a:blip r:embed="rId3">
            <a:duotone>
              <a:prstClr val="black"/>
              <a:srgbClr val="6B5B95">
                <a:tint val="45000"/>
                <a:satMod val="400000"/>
              </a:srgbClr>
            </a:duotone>
            <a:extLst>
              <a:ext uri="{BEBA8EAE-BF5A-486C-A8C5-ECC9F3942E4B}">
                <a14:imgProps xmlns:a14="http://schemas.microsoft.com/office/drawing/2010/main">
                  <a14:imgLayer r:embed="rId4">
                    <a14:imgEffect>
                      <a14:backgroundRemoval t="10000" b="90000" l="10000" r="90000">
                        <a14:foregroundMark x1="21816" y1="52802" x2="22400" y2="57143"/>
                        <a14:foregroundMark x1="17400" y1="20000" x2="21739" y2="52234"/>
                        <a14:foregroundMark x1="22400" y1="57143" x2="21600" y2="72571"/>
                        <a14:foregroundMark x1="26539" y1="49110" x2="26785" y2="47941"/>
                        <a14:foregroundMark x1="21600" y1="72571" x2="24787" y2="57429"/>
                        <a14:foregroundMark x1="29400" y1="58857" x2="32292" y2="64447"/>
                        <a14:foregroundMark x1="45699" y1="23315" x2="47000" y2="59429"/>
                        <a14:foregroundMark x1="59200" y1="26286" x2="60049" y2="36647"/>
                        <a14:foregroundMark x1="57200" y1="33429" x2="57240" y2="36870"/>
                        <a14:foregroundMark x1="75200" y1="20857" x2="85600" y2="24286"/>
                        <a14:foregroundMark x1="75400" y1="30571" x2="75400" y2="62571"/>
                        <a14:foregroundMark x1="82200" y1="41429" x2="83000" y2="73429"/>
                        <a14:foregroundMark x1="65200" y1="82000" x2="58400" y2="81143"/>
                        <a14:foregroundMark x1="57600" y1="62000" x2="57600" y2="62000"/>
                        <a14:foregroundMark x1="67200" y1="36000" x2="65600" y2="47714"/>
                        <a14:foregroundMark x1="31400" y1="79714" x2="34000" y2="80571"/>
                        <a14:foregroundMark x1="32200" y1="34571" x2="37600" y2="36857"/>
                        <a14:backgroundMark x1="28600" y1="70571" x2="40600" y2="74000"/>
                        <a14:backgroundMark x1="40600" y1="74000" x2="50400" y2="69429"/>
                        <a14:backgroundMark x1="50400" y1="69429" x2="52400" y2="58857"/>
                        <a14:backgroundMark x1="54600" y1="71714" x2="67600" y2="66571"/>
                        <a14:backgroundMark x1="67600" y1="66571" x2="67800" y2="62286"/>
                        <a14:backgroundMark x1="61397" y1="46772" x2="61800" y2="57143"/>
                        <a14:backgroundMark x1="61000" y1="36571" x2="61388" y2="46555"/>
                        <a14:backgroundMark x1="61800" y1="57143" x2="62200" y2="57714"/>
                        <a14:backgroundMark x1="45000" y1="20857" x2="45000" y2="14571"/>
                        <a14:backgroundMark x1="44600" y1="21714" x2="46000" y2="10571"/>
                        <a14:backgroundMark x1="47000" y1="22000" x2="45000" y2="13714"/>
                        <a14:backgroundMark x1="46400" y1="21429" x2="43600" y2="16571"/>
                        <a14:backgroundMark x1="46800" y1="22000" x2="45800" y2="23429"/>
                        <a14:backgroundMark x1="35000" y1="40857" x2="35000" y2="48286"/>
                        <a14:backgroundMark x1="26800" y1="52286" x2="26800" y2="57429"/>
                        <a14:backgroundMark x1="29000" y1="41714" x2="32800" y2="41714"/>
                        <a14:backgroundMark x1="25400" y1="51143" x2="29800" y2="37429"/>
                        <a14:backgroundMark x1="29800" y1="37429" x2="29800" y2="37143"/>
                        <a14:backgroundMark x1="27200" y1="41143" x2="31000" y2="31714"/>
                        <a14:backgroundMark x1="27600" y1="42000" x2="29800" y2="41143"/>
                        <a14:backgroundMark x1="25600" y1="50000" x2="26800" y2="54000"/>
                        <a14:backgroundMark x1="31600" y1="66000" x2="33200" y2="66000"/>
                        <a14:backgroundMark x1="26400" y1="49143" x2="27000" y2="54286"/>
                      </a14:backgroundRemoval>
                    </a14:imgEffect>
                  </a14:imgLayer>
                </a14:imgProps>
              </a:ext>
              <a:ext uri="{28A0092B-C50C-407E-A947-70E740481C1C}">
                <a14:useLocalDpi xmlns:a14="http://schemas.microsoft.com/office/drawing/2010/main" val="0"/>
              </a:ext>
            </a:extLst>
          </a:blip>
          <a:srcRect l="26089" t="71936" r="29389" b="13050"/>
          <a:stretch>
            <a:fillRect/>
          </a:stretch>
        </p:blipFill>
        <p:spPr bwMode="auto">
          <a:xfrm rot="5400000">
            <a:off x="4697374" y="5397366"/>
            <a:ext cx="1722801" cy="406680"/>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30" descr="Tools Line Drawing Vector Art, Icons, and Graphics for Free ...">
            <a:extLst>
              <a:ext uri="{FF2B5EF4-FFF2-40B4-BE49-F238E27FC236}">
                <a16:creationId xmlns:a16="http://schemas.microsoft.com/office/drawing/2014/main" id="{B1DA4234-7F6E-BEAC-1AF4-DCEE2B259880}"/>
              </a:ext>
            </a:extLst>
          </p:cNvPr>
          <p:cNvPicPr>
            <a:picLocks noChangeAspect="1" noChangeArrowheads="1"/>
          </p:cNvPicPr>
          <p:nvPr/>
        </p:nvPicPr>
        <p:blipFill rotWithShape="1">
          <a:blip r:embed="rId3">
            <a:duotone>
              <a:prstClr val="black"/>
              <a:srgbClr val="6B5B95">
                <a:tint val="45000"/>
                <a:satMod val="400000"/>
              </a:srgbClr>
            </a:duotone>
            <a:extLst>
              <a:ext uri="{BEBA8EAE-BF5A-486C-A8C5-ECC9F3942E4B}">
                <a14:imgProps xmlns:a14="http://schemas.microsoft.com/office/drawing/2010/main">
                  <a14:imgLayer r:embed="rId4">
                    <a14:imgEffect>
                      <a14:backgroundRemoval t="10000" b="90000" l="10000" r="90000">
                        <a14:foregroundMark x1="21816" y1="52802" x2="22400" y2="57143"/>
                        <a14:foregroundMark x1="17400" y1="20000" x2="21739" y2="52234"/>
                        <a14:foregroundMark x1="22400" y1="57143" x2="21600" y2="72571"/>
                        <a14:foregroundMark x1="26539" y1="49110" x2="26785" y2="47941"/>
                        <a14:foregroundMark x1="21600" y1="72571" x2="24787" y2="57429"/>
                        <a14:foregroundMark x1="29400" y1="58857" x2="32292" y2="64447"/>
                        <a14:foregroundMark x1="45699" y1="23315" x2="47000" y2="59429"/>
                        <a14:foregroundMark x1="59200" y1="26286" x2="60049" y2="36647"/>
                        <a14:foregroundMark x1="57200" y1="33429" x2="57240" y2="36870"/>
                        <a14:foregroundMark x1="75200" y1="20857" x2="85600" y2="24286"/>
                        <a14:foregroundMark x1="75400" y1="30571" x2="75400" y2="62571"/>
                        <a14:foregroundMark x1="82200" y1="41429" x2="83000" y2="73429"/>
                        <a14:foregroundMark x1="65200" y1="82000" x2="58400" y2="81143"/>
                        <a14:foregroundMark x1="57600" y1="62000" x2="57600" y2="62000"/>
                        <a14:foregroundMark x1="67200" y1="36000" x2="65600" y2="47714"/>
                        <a14:foregroundMark x1="31400" y1="79714" x2="34000" y2="80571"/>
                        <a14:foregroundMark x1="32200" y1="34571" x2="37600" y2="36857"/>
                        <a14:backgroundMark x1="28600" y1="70571" x2="40600" y2="74000"/>
                        <a14:backgroundMark x1="40600" y1="74000" x2="50400" y2="69429"/>
                        <a14:backgroundMark x1="50400" y1="69429" x2="52400" y2="58857"/>
                        <a14:backgroundMark x1="54600" y1="71714" x2="67600" y2="66571"/>
                        <a14:backgroundMark x1="67600" y1="66571" x2="67800" y2="62286"/>
                        <a14:backgroundMark x1="61397" y1="46772" x2="61800" y2="57143"/>
                        <a14:backgroundMark x1="61000" y1="36571" x2="61388" y2="46555"/>
                        <a14:backgroundMark x1="61800" y1="57143" x2="62200" y2="57714"/>
                        <a14:backgroundMark x1="45000" y1="20857" x2="45000" y2="14571"/>
                        <a14:backgroundMark x1="44600" y1="21714" x2="46000" y2="10571"/>
                        <a14:backgroundMark x1="47000" y1="22000" x2="45000" y2="13714"/>
                        <a14:backgroundMark x1="46400" y1="21429" x2="43600" y2="16571"/>
                        <a14:backgroundMark x1="46800" y1="22000" x2="45800" y2="23429"/>
                        <a14:backgroundMark x1="35000" y1="40857" x2="35000" y2="48286"/>
                        <a14:backgroundMark x1="26800" y1="52286" x2="26800" y2="57429"/>
                        <a14:backgroundMark x1="29000" y1="41714" x2="32800" y2="41714"/>
                        <a14:backgroundMark x1="25400" y1="51143" x2="29800" y2="37429"/>
                        <a14:backgroundMark x1="29800" y1="37429" x2="29800" y2="37143"/>
                        <a14:backgroundMark x1="27200" y1="41143" x2="31000" y2="31714"/>
                        <a14:backgroundMark x1="27600" y1="42000" x2="29800" y2="41143"/>
                        <a14:backgroundMark x1="25600" y1="50000" x2="26800" y2="54000"/>
                        <a14:backgroundMark x1="31600" y1="66000" x2="33200" y2="66000"/>
                        <a14:backgroundMark x1="26400" y1="49143" x2="27000" y2="54286"/>
                      </a14:backgroundRemoval>
                    </a14:imgEffect>
                  </a14:imgLayer>
                </a14:imgProps>
              </a:ext>
              <a:ext uri="{28A0092B-C50C-407E-A947-70E740481C1C}">
                <a14:useLocalDpi xmlns:a14="http://schemas.microsoft.com/office/drawing/2010/main" val="0"/>
              </a:ext>
            </a:extLst>
          </a:blip>
          <a:srcRect l="64882" t="11918" r="12517" b="17038"/>
          <a:stretch>
            <a:fillRect/>
          </a:stretch>
        </p:blipFill>
        <p:spPr bwMode="auto">
          <a:xfrm rot="604486">
            <a:off x="5836621" y="4553393"/>
            <a:ext cx="874560" cy="1924362"/>
          </a:xfrm>
          <a:custGeom>
            <a:avLst/>
            <a:gdLst>
              <a:gd name="csX0" fmla="*/ 520387 w 1076381"/>
              <a:gd name="csY0" fmla="*/ 0 h 2368445"/>
              <a:gd name="csX1" fmla="*/ 561718 w 1076381"/>
              <a:gd name="csY1" fmla="*/ 2863 h 2368445"/>
              <a:gd name="csX2" fmla="*/ 1059453 w 1076381"/>
              <a:gd name="csY2" fmla="*/ 47102 h 2368445"/>
              <a:gd name="csX3" fmla="*/ 1076380 w 1076381"/>
              <a:gd name="csY3" fmla="*/ 52998 h 2368445"/>
              <a:gd name="csX4" fmla="*/ 1076381 w 1076381"/>
              <a:gd name="csY4" fmla="*/ 541364 h 2368445"/>
              <a:gd name="csX5" fmla="*/ 1073695 w 1076381"/>
              <a:gd name="csY5" fmla="*/ 543609 h 2368445"/>
              <a:gd name="csX6" fmla="*/ 1014108 w 1076381"/>
              <a:gd name="csY6" fmla="*/ 596063 h 2368445"/>
              <a:gd name="csX7" fmla="*/ 953644 w 1076381"/>
              <a:gd name="csY7" fmla="*/ 657834 h 2368445"/>
              <a:gd name="csX8" fmla="*/ 808307 w 1076381"/>
              <a:gd name="csY8" fmla="*/ 816330 h 2368445"/>
              <a:gd name="csX9" fmla="*/ 728054 w 1076381"/>
              <a:gd name="csY9" fmla="*/ 881618 h 2368445"/>
              <a:gd name="csX10" fmla="*/ 715050 w 1076381"/>
              <a:gd name="csY10" fmla="*/ 1210511 h 2368445"/>
              <a:gd name="csX11" fmla="*/ 700086 w 1076381"/>
              <a:gd name="csY11" fmla="*/ 1356050 h 2368445"/>
              <a:gd name="csX12" fmla="*/ 695015 w 1076381"/>
              <a:gd name="csY12" fmla="*/ 1499831 h 2368445"/>
              <a:gd name="csX13" fmla="*/ 687735 w 1076381"/>
              <a:gd name="csY13" fmla="*/ 1746063 h 2368445"/>
              <a:gd name="csX14" fmla="*/ 672117 w 1076381"/>
              <a:gd name="csY14" fmla="*/ 1830483 h 2368445"/>
              <a:gd name="csX15" fmla="*/ 712094 w 1076381"/>
              <a:gd name="csY15" fmla="*/ 2170374 h 2368445"/>
              <a:gd name="csX16" fmla="*/ 674932 w 1076381"/>
              <a:gd name="csY16" fmla="*/ 2248418 h 2368445"/>
              <a:gd name="csX17" fmla="*/ 669208 w 1076381"/>
              <a:gd name="csY17" fmla="*/ 2331080 h 2368445"/>
              <a:gd name="csX18" fmla="*/ 573789 w 1076381"/>
              <a:gd name="csY18" fmla="*/ 2368445 h 2368445"/>
              <a:gd name="csX19" fmla="*/ 499262 w 1076381"/>
              <a:gd name="csY19" fmla="*/ 2351069 h 2368445"/>
              <a:gd name="csX20" fmla="*/ 454414 w 1076381"/>
              <a:gd name="csY20" fmla="*/ 2328420 h 2368445"/>
              <a:gd name="csX21" fmla="*/ 391539 w 1076381"/>
              <a:gd name="csY21" fmla="*/ 2319181 h 2368445"/>
              <a:gd name="csX22" fmla="*/ 358343 w 1076381"/>
              <a:gd name="csY22" fmla="*/ 2304667 h 2368445"/>
              <a:gd name="csX23" fmla="*/ 331524 w 1076381"/>
              <a:gd name="csY23" fmla="*/ 2268608 h 2368445"/>
              <a:gd name="csX24" fmla="*/ 271309 w 1076381"/>
              <a:gd name="csY24" fmla="*/ 2044575 h 2368445"/>
              <a:gd name="csX25" fmla="*/ 272522 w 1076381"/>
              <a:gd name="csY25" fmla="*/ 1989767 h 2368445"/>
              <a:gd name="csX26" fmla="*/ 272610 w 1076381"/>
              <a:gd name="csY26" fmla="*/ 1986158 h 2368445"/>
              <a:gd name="csX27" fmla="*/ 272613 w 1076381"/>
              <a:gd name="csY27" fmla="*/ 1986057 h 2368445"/>
              <a:gd name="csX28" fmla="*/ 272879 w 1076381"/>
              <a:gd name="csY28" fmla="*/ 1975063 h 2368445"/>
              <a:gd name="csX29" fmla="*/ 272610 w 1076381"/>
              <a:gd name="csY29" fmla="*/ 1986158 h 2368445"/>
              <a:gd name="csX30" fmla="*/ 271952 w 1076381"/>
              <a:gd name="csY30" fmla="*/ 2008347 h 2368445"/>
              <a:gd name="csX31" fmla="*/ 270002 w 1076381"/>
              <a:gd name="csY31" fmla="*/ 1922339 h 2368445"/>
              <a:gd name="csX32" fmla="*/ 272865 w 1076381"/>
              <a:gd name="csY32" fmla="*/ 1881008 h 2368445"/>
              <a:gd name="csX33" fmla="*/ 211793 w 1076381"/>
              <a:gd name="csY33" fmla="*/ 1422396 h 2368445"/>
              <a:gd name="csX34" fmla="*/ 232684 w 1076381"/>
              <a:gd name="csY34" fmla="*/ 1367655 h 2368445"/>
              <a:gd name="csX35" fmla="*/ 230273 w 1076381"/>
              <a:gd name="csY35" fmla="*/ 1296643 h 2368445"/>
              <a:gd name="csX36" fmla="*/ 238860 w 1076381"/>
              <a:gd name="csY36" fmla="*/ 1172649 h 2368445"/>
              <a:gd name="csX37" fmla="*/ 246343 w 1076381"/>
              <a:gd name="csY37" fmla="*/ 1099880 h 2368445"/>
              <a:gd name="csX38" fmla="*/ 252066 w 1076381"/>
              <a:gd name="csY38" fmla="*/ 1017217 h 2368445"/>
              <a:gd name="csX39" fmla="*/ 263065 w 1076381"/>
              <a:gd name="csY39" fmla="*/ 964234 h 2368445"/>
              <a:gd name="csX40" fmla="*/ 230118 w 1076381"/>
              <a:gd name="csY40" fmla="*/ 663917 h 2368445"/>
              <a:gd name="csX41" fmla="*/ 208449 w 1076381"/>
              <a:gd name="csY41" fmla="*/ 656837 h 2368445"/>
              <a:gd name="csX42" fmla="*/ 167507 w 1076381"/>
              <a:gd name="csY42" fmla="*/ 636302 h 2368445"/>
              <a:gd name="csX43" fmla="*/ 115817 w 1076381"/>
              <a:gd name="csY43" fmla="*/ 596923 h 2368445"/>
              <a:gd name="csX44" fmla="*/ 0 w 1076381"/>
              <a:gd name="csY44" fmla="*/ 567551 h 2368445"/>
              <a:gd name="csX45" fmla="*/ 0 w 1076381"/>
              <a:gd name="csY45" fmla="*/ 167999 h 2368445"/>
              <a:gd name="csX46" fmla="*/ 23092 w 1076381"/>
              <a:gd name="csY46" fmla="*/ 158476 h 2368445"/>
              <a:gd name="csX47" fmla="*/ 83972 w 1076381"/>
              <a:gd name="csY47" fmla="*/ 128567 h 2368445"/>
              <a:gd name="csX48" fmla="*/ 215449 w 1076381"/>
              <a:gd name="csY48" fmla="*/ 64385 h 2368445"/>
              <a:gd name="csX49" fmla="*/ 520387 w 1076381"/>
              <a:gd name="csY49" fmla="*/ 0 h 23684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Lst>
            <a:rect l="l" t="t" r="r" b="b"/>
            <a:pathLst>
              <a:path w="1076381" h="2368445">
                <a:moveTo>
                  <a:pt x="520387" y="0"/>
                </a:moveTo>
                <a:cubicBezTo>
                  <a:pt x="520387" y="0"/>
                  <a:pt x="547961" y="1661"/>
                  <a:pt x="561718" y="2863"/>
                </a:cubicBezTo>
                <a:cubicBezTo>
                  <a:pt x="727651" y="17362"/>
                  <a:pt x="895180" y="19562"/>
                  <a:pt x="1059453" y="47102"/>
                </a:cubicBezTo>
                <a:lnTo>
                  <a:pt x="1076380" y="52998"/>
                </a:lnTo>
                <a:lnTo>
                  <a:pt x="1076381" y="541364"/>
                </a:lnTo>
                <a:lnTo>
                  <a:pt x="1073695" y="543609"/>
                </a:lnTo>
                <a:cubicBezTo>
                  <a:pt x="1058318" y="556831"/>
                  <a:pt x="1038862" y="573903"/>
                  <a:pt x="1014108" y="596063"/>
                </a:cubicBezTo>
                <a:cubicBezTo>
                  <a:pt x="992640" y="615280"/>
                  <a:pt x="974682" y="638147"/>
                  <a:pt x="953644" y="657834"/>
                </a:cubicBezTo>
                <a:cubicBezTo>
                  <a:pt x="816494" y="786171"/>
                  <a:pt x="866314" y="709873"/>
                  <a:pt x="808307" y="816330"/>
                </a:cubicBezTo>
                <a:cubicBezTo>
                  <a:pt x="781556" y="838093"/>
                  <a:pt x="753809" y="858686"/>
                  <a:pt x="728054" y="881618"/>
                </a:cubicBezTo>
                <a:cubicBezTo>
                  <a:pt x="625844" y="972627"/>
                  <a:pt x="699785" y="1001081"/>
                  <a:pt x="715050" y="1210511"/>
                </a:cubicBezTo>
                <a:cubicBezTo>
                  <a:pt x="715050" y="1210511"/>
                  <a:pt x="704718" y="1307501"/>
                  <a:pt x="700086" y="1356050"/>
                </a:cubicBezTo>
                <a:cubicBezTo>
                  <a:pt x="695931" y="1399601"/>
                  <a:pt x="694879" y="1462371"/>
                  <a:pt x="695015" y="1499831"/>
                </a:cubicBezTo>
                <a:cubicBezTo>
                  <a:pt x="695468" y="1624116"/>
                  <a:pt x="705087" y="1627983"/>
                  <a:pt x="687735" y="1746063"/>
                </a:cubicBezTo>
                <a:cubicBezTo>
                  <a:pt x="680522" y="1795143"/>
                  <a:pt x="667288" y="1780894"/>
                  <a:pt x="672117" y="1830483"/>
                </a:cubicBezTo>
                <a:cubicBezTo>
                  <a:pt x="683171" y="1944024"/>
                  <a:pt x="698768" y="2057077"/>
                  <a:pt x="712094" y="2170374"/>
                </a:cubicBezTo>
                <a:cubicBezTo>
                  <a:pt x="699707" y="2196388"/>
                  <a:pt x="682361" y="2220579"/>
                  <a:pt x="674932" y="2248418"/>
                </a:cubicBezTo>
                <a:cubicBezTo>
                  <a:pt x="667810" y="2275104"/>
                  <a:pt x="687007" y="2309959"/>
                  <a:pt x="669208" y="2331080"/>
                </a:cubicBezTo>
                <a:cubicBezTo>
                  <a:pt x="647197" y="2357201"/>
                  <a:pt x="605595" y="2355989"/>
                  <a:pt x="573789" y="2368445"/>
                </a:cubicBezTo>
                <a:cubicBezTo>
                  <a:pt x="543226" y="2363954"/>
                  <a:pt x="530312" y="2363570"/>
                  <a:pt x="499262" y="2351069"/>
                </a:cubicBezTo>
                <a:cubicBezTo>
                  <a:pt x="483726" y="2344814"/>
                  <a:pt x="469364" y="2335969"/>
                  <a:pt x="454414" y="2328420"/>
                </a:cubicBezTo>
                <a:cubicBezTo>
                  <a:pt x="433455" y="2325340"/>
                  <a:pt x="412103" y="2324264"/>
                  <a:pt x="391539" y="2319181"/>
                </a:cubicBezTo>
                <a:cubicBezTo>
                  <a:pt x="379815" y="2316282"/>
                  <a:pt x="367578" y="2312449"/>
                  <a:pt x="358343" y="2304667"/>
                </a:cubicBezTo>
                <a:cubicBezTo>
                  <a:pt x="346888" y="2295014"/>
                  <a:pt x="336278" y="2282814"/>
                  <a:pt x="331524" y="2268608"/>
                </a:cubicBezTo>
                <a:cubicBezTo>
                  <a:pt x="306986" y="2195277"/>
                  <a:pt x="291381" y="2119253"/>
                  <a:pt x="271309" y="2044575"/>
                </a:cubicBezTo>
                <a:cubicBezTo>
                  <a:pt x="271882" y="2018021"/>
                  <a:pt x="272273" y="2000552"/>
                  <a:pt x="272522" y="1989767"/>
                </a:cubicBezTo>
                <a:lnTo>
                  <a:pt x="272610" y="1986158"/>
                </a:lnTo>
                <a:lnTo>
                  <a:pt x="272613" y="1986057"/>
                </a:lnTo>
                <a:cubicBezTo>
                  <a:pt x="272780" y="1979710"/>
                  <a:pt x="272882" y="1975245"/>
                  <a:pt x="272879" y="1975063"/>
                </a:cubicBezTo>
                <a:lnTo>
                  <a:pt x="272610" y="1986158"/>
                </a:lnTo>
                <a:lnTo>
                  <a:pt x="271952" y="2008347"/>
                </a:lnTo>
                <a:cubicBezTo>
                  <a:pt x="270913" y="2039192"/>
                  <a:pt x="269442" y="2061741"/>
                  <a:pt x="270002" y="1922339"/>
                </a:cubicBezTo>
                <a:cubicBezTo>
                  <a:pt x="270057" y="1908530"/>
                  <a:pt x="274462" y="1894725"/>
                  <a:pt x="272865" y="1881008"/>
                </a:cubicBezTo>
                <a:cubicBezTo>
                  <a:pt x="255030" y="1727823"/>
                  <a:pt x="232150" y="1575267"/>
                  <a:pt x="211793" y="1422396"/>
                </a:cubicBezTo>
                <a:cubicBezTo>
                  <a:pt x="218756" y="1404149"/>
                  <a:pt x="229844" y="1386978"/>
                  <a:pt x="232684" y="1367655"/>
                </a:cubicBezTo>
                <a:cubicBezTo>
                  <a:pt x="236128" y="1344222"/>
                  <a:pt x="231076" y="1320313"/>
                  <a:pt x="230273" y="1296643"/>
                </a:cubicBezTo>
                <a:cubicBezTo>
                  <a:pt x="228867" y="1255236"/>
                  <a:pt x="235487" y="1213942"/>
                  <a:pt x="238860" y="1172649"/>
                </a:cubicBezTo>
                <a:cubicBezTo>
                  <a:pt x="240845" y="1148346"/>
                  <a:pt x="244278" y="1124177"/>
                  <a:pt x="246343" y="1099880"/>
                </a:cubicBezTo>
                <a:cubicBezTo>
                  <a:pt x="248681" y="1072358"/>
                  <a:pt x="248687" y="1044630"/>
                  <a:pt x="252066" y="1017217"/>
                </a:cubicBezTo>
                <a:cubicBezTo>
                  <a:pt x="254273" y="999315"/>
                  <a:pt x="262146" y="982249"/>
                  <a:pt x="263065" y="964234"/>
                </a:cubicBezTo>
                <a:cubicBezTo>
                  <a:pt x="266460" y="897651"/>
                  <a:pt x="231372" y="669757"/>
                  <a:pt x="230118" y="663917"/>
                </a:cubicBezTo>
                <a:cubicBezTo>
                  <a:pt x="225670" y="643204"/>
                  <a:pt x="218884" y="661440"/>
                  <a:pt x="208449" y="656837"/>
                </a:cubicBezTo>
                <a:cubicBezTo>
                  <a:pt x="198013" y="652235"/>
                  <a:pt x="173734" y="652205"/>
                  <a:pt x="167507" y="636302"/>
                </a:cubicBezTo>
                <a:lnTo>
                  <a:pt x="115817" y="596923"/>
                </a:lnTo>
                <a:lnTo>
                  <a:pt x="0" y="567551"/>
                </a:lnTo>
                <a:lnTo>
                  <a:pt x="0" y="167999"/>
                </a:lnTo>
                <a:lnTo>
                  <a:pt x="23092" y="158476"/>
                </a:lnTo>
                <a:cubicBezTo>
                  <a:pt x="41118" y="150254"/>
                  <a:pt x="58881" y="140816"/>
                  <a:pt x="83972" y="128567"/>
                </a:cubicBezTo>
                <a:cubicBezTo>
                  <a:pt x="127797" y="107173"/>
                  <a:pt x="168669" y="78167"/>
                  <a:pt x="215449" y="64385"/>
                </a:cubicBezTo>
                <a:cubicBezTo>
                  <a:pt x="315102" y="35028"/>
                  <a:pt x="418741" y="21462"/>
                  <a:pt x="520387" y="0"/>
                </a:cubicBezTo>
                <a:close/>
              </a:path>
            </a:pathLst>
          </a:custGeom>
          <a:noFill/>
          <a:extLst>
            <a:ext uri="{909E8E84-426E-40DD-AFC4-6F175D3DCCD1}">
              <a14:hiddenFill xmlns:a14="http://schemas.microsoft.com/office/drawing/2010/main">
                <a:solidFill>
                  <a:srgbClr val="FFFFFF"/>
                </a:solidFill>
              </a14:hiddenFill>
            </a:ext>
          </a:extLst>
        </p:spPr>
      </p:pic>
      <p:grpSp>
        <p:nvGrpSpPr>
          <p:cNvPr id="32" name="Group 31">
            <a:extLst>
              <a:ext uri="{FF2B5EF4-FFF2-40B4-BE49-F238E27FC236}">
                <a16:creationId xmlns:a16="http://schemas.microsoft.com/office/drawing/2014/main" id="{712D245F-3131-A27A-9867-B37CD4E16446}"/>
              </a:ext>
            </a:extLst>
          </p:cNvPr>
          <p:cNvGrpSpPr/>
          <p:nvPr/>
        </p:nvGrpSpPr>
        <p:grpSpPr>
          <a:xfrm flipH="1">
            <a:off x="7381891" y="4422079"/>
            <a:ext cx="1065218" cy="2186176"/>
            <a:chOff x="6044355" y="3127318"/>
            <a:chExt cx="1311038" cy="2690678"/>
          </a:xfrm>
        </p:grpSpPr>
        <p:pic>
          <p:nvPicPr>
            <p:cNvPr id="33" name="Picture 3" descr="Tools Line Drawing Vector Art, Icons, and Graphics for Free ...">
              <a:extLst>
                <a:ext uri="{FF2B5EF4-FFF2-40B4-BE49-F238E27FC236}">
                  <a16:creationId xmlns:a16="http://schemas.microsoft.com/office/drawing/2014/main" id="{49D9A359-BC33-74C2-C70D-9C2A662252A6}"/>
                </a:ext>
              </a:extLst>
            </p:cNvPr>
            <p:cNvPicPr>
              <a:picLocks noChangeAspect="1" noChangeArrowheads="1"/>
            </p:cNvPicPr>
            <p:nvPr/>
          </p:nvPicPr>
          <p:blipFill rotWithShape="1">
            <a:blip r:embed="rId3">
              <a:duotone>
                <a:prstClr val="black"/>
                <a:srgbClr val="6B5B95">
                  <a:tint val="45000"/>
                  <a:satMod val="400000"/>
                </a:srgbClr>
              </a:duotone>
              <a:extLst>
                <a:ext uri="{BEBA8EAE-BF5A-486C-A8C5-ECC9F3942E4B}">
                  <a14:imgProps xmlns:a14="http://schemas.microsoft.com/office/drawing/2010/main">
                    <a14:imgLayer r:embed="rId4">
                      <a14:imgEffect>
                        <a14:backgroundRemoval t="10000" b="90000" l="10000" r="90000">
                          <a14:foregroundMark x1="21816" y1="52802" x2="22400" y2="57143"/>
                          <a14:foregroundMark x1="17400" y1="20000" x2="21739" y2="52234"/>
                          <a14:foregroundMark x1="22400" y1="57143" x2="21600" y2="72571"/>
                          <a14:foregroundMark x1="26539" y1="49110" x2="26785" y2="47941"/>
                          <a14:foregroundMark x1="21600" y1="72571" x2="24787" y2="57429"/>
                          <a14:foregroundMark x1="29400" y1="58857" x2="32292" y2="64447"/>
                          <a14:foregroundMark x1="45699" y1="23315" x2="47000" y2="59429"/>
                          <a14:foregroundMark x1="59200" y1="26286" x2="60049" y2="36647"/>
                          <a14:foregroundMark x1="57200" y1="33429" x2="57240" y2="36870"/>
                          <a14:foregroundMark x1="75200" y1="20857" x2="85600" y2="24286"/>
                          <a14:foregroundMark x1="75400" y1="30571" x2="75400" y2="62571"/>
                          <a14:foregroundMark x1="82200" y1="41429" x2="83000" y2="73429"/>
                          <a14:foregroundMark x1="65200" y1="82000" x2="58400" y2="81143"/>
                          <a14:foregroundMark x1="57600" y1="62000" x2="57600" y2="62000"/>
                          <a14:foregroundMark x1="67200" y1="36000" x2="65600" y2="47714"/>
                          <a14:foregroundMark x1="31400" y1="79714" x2="34000" y2="80571"/>
                          <a14:foregroundMark x1="32200" y1="34571" x2="37600" y2="36857"/>
                          <a14:backgroundMark x1="28600" y1="70571" x2="40600" y2="74000"/>
                          <a14:backgroundMark x1="40600" y1="74000" x2="50400" y2="69429"/>
                          <a14:backgroundMark x1="50400" y1="69429" x2="52400" y2="58857"/>
                          <a14:backgroundMark x1="54600" y1="71714" x2="67600" y2="66571"/>
                          <a14:backgroundMark x1="67600" y1="66571" x2="67800" y2="62286"/>
                          <a14:backgroundMark x1="61397" y1="46772" x2="61800" y2="57143"/>
                          <a14:backgroundMark x1="61000" y1="36571" x2="61388" y2="46555"/>
                          <a14:backgroundMark x1="61800" y1="57143" x2="62200" y2="57714"/>
                          <a14:backgroundMark x1="45000" y1="20857" x2="45000" y2="14571"/>
                          <a14:backgroundMark x1="44600" y1="21714" x2="46000" y2="10571"/>
                          <a14:backgroundMark x1="47000" y1="22000" x2="45000" y2="13714"/>
                          <a14:backgroundMark x1="46400" y1="21429" x2="43600" y2="16571"/>
                          <a14:backgroundMark x1="46800" y1="22000" x2="45800" y2="23429"/>
                          <a14:backgroundMark x1="35000" y1="40857" x2="35000" y2="48286"/>
                          <a14:backgroundMark x1="26800" y1="52286" x2="26800" y2="57429"/>
                          <a14:backgroundMark x1="29000" y1="41714" x2="32800" y2="41714"/>
                          <a14:backgroundMark x1="25400" y1="51143" x2="29800" y2="37429"/>
                          <a14:backgroundMark x1="29800" y1="37429" x2="29800" y2="37143"/>
                          <a14:backgroundMark x1="27200" y1="41143" x2="31000" y2="31714"/>
                          <a14:backgroundMark x1="27600" y1="42000" x2="29800" y2="41143"/>
                          <a14:backgroundMark x1="25600" y1="50000" x2="26800" y2="54000"/>
                          <a14:backgroundMark x1="31600" y1="66000" x2="33200" y2="66000"/>
                          <a14:backgroundMark x1="26400" y1="49143" x2="27000" y2="54286"/>
                        </a14:backgroundRemoval>
                      </a14:imgEffect>
                    </a14:imgLayer>
                  </a14:imgProps>
                </a:ext>
                <a:ext uri="{28A0092B-C50C-407E-A947-70E740481C1C}">
                  <a14:useLocalDpi xmlns:a14="http://schemas.microsoft.com/office/drawing/2010/main" val="0"/>
                </a:ext>
              </a:extLst>
            </a:blip>
            <a:srcRect l="11662" t="8805" r="66904" b="13052"/>
            <a:stretch>
              <a:fillRect/>
            </a:stretch>
          </p:blipFill>
          <p:spPr bwMode="auto">
            <a:xfrm rot="604486">
              <a:off x="6044355" y="3127318"/>
              <a:ext cx="1020789" cy="2605109"/>
            </a:xfrm>
            <a:prstGeom prst="rect">
              <a:avLst/>
            </a:prstGeom>
            <a:noFill/>
            <a:extLst>
              <a:ext uri="{909E8E84-426E-40DD-AFC4-6F175D3DCCD1}">
                <a14:hiddenFill xmlns:a14="http://schemas.microsoft.com/office/drawing/2010/main">
                  <a:solidFill>
                    <a:srgbClr val="FFFFFF"/>
                  </a:solidFill>
                </a14:hiddenFill>
              </a:ext>
            </a:extLst>
          </p:spPr>
        </p:pic>
        <p:sp>
          <p:nvSpPr>
            <p:cNvPr id="34" name="Freeform: Shape 33">
              <a:extLst>
                <a:ext uri="{FF2B5EF4-FFF2-40B4-BE49-F238E27FC236}">
                  <a16:creationId xmlns:a16="http://schemas.microsoft.com/office/drawing/2014/main" id="{73F94774-398D-921F-3CCB-EA8DBDB73C83}"/>
                </a:ext>
              </a:extLst>
            </p:cNvPr>
            <p:cNvSpPr/>
            <p:nvPr/>
          </p:nvSpPr>
          <p:spPr>
            <a:xfrm>
              <a:off x="6580871" y="3946875"/>
              <a:ext cx="774522" cy="1871121"/>
            </a:xfrm>
            <a:custGeom>
              <a:avLst/>
              <a:gdLst>
                <a:gd name="csX0" fmla="*/ 593652 w 774522"/>
                <a:gd name="csY0" fmla="*/ 12176 h 1871121"/>
                <a:gd name="csX1" fmla="*/ 493169 w 774522"/>
                <a:gd name="csY1" fmla="*/ 42321 h 1871121"/>
                <a:gd name="csX2" fmla="*/ 463024 w 774522"/>
                <a:gd name="csY2" fmla="*/ 62417 h 1871121"/>
                <a:gd name="csX3" fmla="*/ 422830 w 774522"/>
                <a:gd name="csY3" fmla="*/ 82514 h 1871121"/>
                <a:gd name="csX4" fmla="*/ 362540 w 774522"/>
                <a:gd name="csY4" fmla="*/ 162901 h 1871121"/>
                <a:gd name="csX5" fmla="*/ 332395 w 774522"/>
                <a:gd name="csY5" fmla="*/ 223191 h 1871121"/>
                <a:gd name="csX6" fmla="*/ 211815 w 774522"/>
                <a:gd name="csY6" fmla="*/ 363868 h 1871121"/>
                <a:gd name="csX7" fmla="*/ 181670 w 774522"/>
                <a:gd name="csY7" fmla="*/ 404061 h 1871121"/>
                <a:gd name="csX8" fmla="*/ 161573 w 774522"/>
                <a:gd name="csY8" fmla="*/ 444255 h 1871121"/>
                <a:gd name="csX9" fmla="*/ 151525 w 774522"/>
                <a:gd name="csY9" fmla="*/ 494496 h 1871121"/>
                <a:gd name="csX10" fmla="*/ 141476 w 774522"/>
                <a:gd name="csY10" fmla="*/ 534690 h 1871121"/>
                <a:gd name="csX11" fmla="*/ 131428 w 774522"/>
                <a:gd name="csY11" fmla="*/ 615077 h 1871121"/>
                <a:gd name="csX12" fmla="*/ 101283 w 774522"/>
                <a:gd name="csY12" fmla="*/ 685415 h 1871121"/>
                <a:gd name="csX13" fmla="*/ 61089 w 774522"/>
                <a:gd name="csY13" fmla="*/ 1137591 h 1871121"/>
                <a:gd name="csX14" fmla="*/ 30944 w 774522"/>
                <a:gd name="csY14" fmla="*/ 1197881 h 1871121"/>
                <a:gd name="csX15" fmla="*/ 799 w 774522"/>
                <a:gd name="csY15" fmla="*/ 1559622 h 1871121"/>
                <a:gd name="csX16" fmla="*/ 51041 w 774522"/>
                <a:gd name="csY16" fmla="*/ 1800782 h 1871121"/>
                <a:gd name="csX17" fmla="*/ 302250 w 774522"/>
                <a:gd name="csY17" fmla="*/ 1871121 h 1871121"/>
                <a:gd name="csX18" fmla="*/ 432878 w 774522"/>
                <a:gd name="csY18" fmla="*/ 1800782 h 1871121"/>
                <a:gd name="csX19" fmla="*/ 503217 w 774522"/>
                <a:gd name="csY19" fmla="*/ 1700299 h 1871121"/>
                <a:gd name="csX20" fmla="*/ 553459 w 774522"/>
                <a:gd name="csY20" fmla="*/ 1408896 h 1871121"/>
                <a:gd name="csX21" fmla="*/ 633845 w 774522"/>
                <a:gd name="csY21" fmla="*/ 816044 h 1871121"/>
                <a:gd name="csX22" fmla="*/ 724281 w 774522"/>
                <a:gd name="csY22" fmla="*/ 444255 h 1871121"/>
                <a:gd name="csX23" fmla="*/ 774522 w 774522"/>
                <a:gd name="csY23" fmla="*/ 273433 h 1871121"/>
                <a:gd name="csX24" fmla="*/ 754426 w 774522"/>
                <a:gd name="csY24" fmla="*/ 112659 h 1871121"/>
                <a:gd name="csX25" fmla="*/ 704184 w 774522"/>
                <a:gd name="csY25" fmla="*/ 32272 h 1871121"/>
                <a:gd name="csX26" fmla="*/ 663991 w 774522"/>
                <a:gd name="csY26" fmla="*/ 2127 h 1871121"/>
                <a:gd name="csX27" fmla="*/ 593652 w 774522"/>
                <a:gd name="csY27" fmla="*/ 12176 h 187112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Lst>
              <a:rect l="l" t="t" r="r" b="b"/>
              <a:pathLst>
                <a:path w="774522" h="1871121">
                  <a:moveTo>
                    <a:pt x="593652" y="12176"/>
                  </a:moveTo>
                  <a:cubicBezTo>
                    <a:pt x="565182" y="18875"/>
                    <a:pt x="537238" y="20287"/>
                    <a:pt x="493169" y="42321"/>
                  </a:cubicBezTo>
                  <a:cubicBezTo>
                    <a:pt x="482367" y="47722"/>
                    <a:pt x="473509" y="56425"/>
                    <a:pt x="463024" y="62417"/>
                  </a:cubicBezTo>
                  <a:cubicBezTo>
                    <a:pt x="450018" y="69849"/>
                    <a:pt x="436228" y="75815"/>
                    <a:pt x="422830" y="82514"/>
                  </a:cubicBezTo>
                  <a:cubicBezTo>
                    <a:pt x="412974" y="94834"/>
                    <a:pt x="373203" y="141575"/>
                    <a:pt x="362540" y="162901"/>
                  </a:cubicBezTo>
                  <a:cubicBezTo>
                    <a:pt x="339305" y="209370"/>
                    <a:pt x="369048" y="178683"/>
                    <a:pt x="332395" y="223191"/>
                  </a:cubicBezTo>
                  <a:cubicBezTo>
                    <a:pt x="293133" y="270866"/>
                    <a:pt x="248872" y="314460"/>
                    <a:pt x="211815" y="363868"/>
                  </a:cubicBezTo>
                  <a:cubicBezTo>
                    <a:pt x="201767" y="377266"/>
                    <a:pt x="190546" y="389859"/>
                    <a:pt x="181670" y="404061"/>
                  </a:cubicBezTo>
                  <a:cubicBezTo>
                    <a:pt x="173731" y="416764"/>
                    <a:pt x="168272" y="430857"/>
                    <a:pt x="161573" y="444255"/>
                  </a:cubicBezTo>
                  <a:cubicBezTo>
                    <a:pt x="158224" y="461002"/>
                    <a:pt x="155230" y="477824"/>
                    <a:pt x="151525" y="494496"/>
                  </a:cubicBezTo>
                  <a:cubicBezTo>
                    <a:pt x="148529" y="507978"/>
                    <a:pt x="143746" y="521068"/>
                    <a:pt x="141476" y="534690"/>
                  </a:cubicBezTo>
                  <a:cubicBezTo>
                    <a:pt x="137037" y="561327"/>
                    <a:pt x="138386" y="588985"/>
                    <a:pt x="131428" y="615077"/>
                  </a:cubicBezTo>
                  <a:cubicBezTo>
                    <a:pt x="124855" y="639724"/>
                    <a:pt x="111331" y="661969"/>
                    <a:pt x="101283" y="685415"/>
                  </a:cubicBezTo>
                  <a:cubicBezTo>
                    <a:pt x="98039" y="740557"/>
                    <a:pt x="95339" y="1021142"/>
                    <a:pt x="61089" y="1137591"/>
                  </a:cubicBezTo>
                  <a:cubicBezTo>
                    <a:pt x="54749" y="1159147"/>
                    <a:pt x="40992" y="1177784"/>
                    <a:pt x="30944" y="1197881"/>
                  </a:cubicBezTo>
                  <a:cubicBezTo>
                    <a:pt x="17057" y="1308984"/>
                    <a:pt x="-4416" y="1469229"/>
                    <a:pt x="799" y="1559622"/>
                  </a:cubicBezTo>
                  <a:cubicBezTo>
                    <a:pt x="5528" y="1641598"/>
                    <a:pt x="13316" y="1727848"/>
                    <a:pt x="51041" y="1800782"/>
                  </a:cubicBezTo>
                  <a:cubicBezTo>
                    <a:pt x="80745" y="1858209"/>
                    <a:pt x="271568" y="1867030"/>
                    <a:pt x="302250" y="1871121"/>
                  </a:cubicBezTo>
                  <a:cubicBezTo>
                    <a:pt x="345793" y="1847675"/>
                    <a:pt x="395197" y="1832811"/>
                    <a:pt x="432878" y="1800782"/>
                  </a:cubicBezTo>
                  <a:cubicBezTo>
                    <a:pt x="464030" y="1774303"/>
                    <a:pt x="491193" y="1739376"/>
                    <a:pt x="503217" y="1700299"/>
                  </a:cubicBezTo>
                  <a:cubicBezTo>
                    <a:pt x="532204" y="1606090"/>
                    <a:pt x="539054" y="1506405"/>
                    <a:pt x="553459" y="1408896"/>
                  </a:cubicBezTo>
                  <a:cubicBezTo>
                    <a:pt x="582603" y="1211611"/>
                    <a:pt x="590583" y="1010721"/>
                    <a:pt x="633845" y="816044"/>
                  </a:cubicBezTo>
                  <a:cubicBezTo>
                    <a:pt x="665806" y="672221"/>
                    <a:pt x="682304" y="586980"/>
                    <a:pt x="724281" y="444255"/>
                  </a:cubicBezTo>
                  <a:lnTo>
                    <a:pt x="774522" y="273433"/>
                  </a:lnTo>
                  <a:cubicBezTo>
                    <a:pt x="767823" y="219842"/>
                    <a:pt x="765018" y="165619"/>
                    <a:pt x="754426" y="112659"/>
                  </a:cubicBezTo>
                  <a:cubicBezTo>
                    <a:pt x="750447" y="92762"/>
                    <a:pt x="716922" y="45010"/>
                    <a:pt x="704184" y="32272"/>
                  </a:cubicBezTo>
                  <a:cubicBezTo>
                    <a:pt x="692342" y="20430"/>
                    <a:pt x="680238" y="6189"/>
                    <a:pt x="663991" y="2127"/>
                  </a:cubicBezTo>
                  <a:cubicBezTo>
                    <a:pt x="637995" y="-4372"/>
                    <a:pt x="622122" y="5477"/>
                    <a:pt x="593652" y="12176"/>
                  </a:cubicBezTo>
                  <a:close/>
                </a:path>
              </a:pathLst>
            </a:cu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63"/>
            </a:p>
          </p:txBody>
        </p:sp>
      </p:grpSp>
      <p:pic>
        <p:nvPicPr>
          <p:cNvPr id="26" name="Picture 3" descr="Tools Line Drawing Vector Art, Icons, and Graphics for Free ...">
            <a:extLst>
              <a:ext uri="{FF2B5EF4-FFF2-40B4-BE49-F238E27FC236}">
                <a16:creationId xmlns:a16="http://schemas.microsoft.com/office/drawing/2014/main" id="{BF39C50F-0C12-8293-2EE4-5E5C5C6151B8}"/>
              </a:ext>
            </a:extLst>
          </p:cNvPr>
          <p:cNvPicPr>
            <a:picLocks noChangeAspect="1" noChangeArrowheads="1"/>
          </p:cNvPicPr>
          <p:nvPr/>
        </p:nvPicPr>
        <p:blipFill rotWithShape="1">
          <a:blip r:embed="rId3">
            <a:duotone>
              <a:prstClr val="black"/>
              <a:srgbClr val="6B5B95">
                <a:tint val="45000"/>
                <a:satMod val="400000"/>
              </a:srgbClr>
            </a:duotone>
            <a:extLst>
              <a:ext uri="{BEBA8EAE-BF5A-486C-A8C5-ECC9F3942E4B}">
                <a14:imgProps xmlns:a14="http://schemas.microsoft.com/office/drawing/2010/main">
                  <a14:imgLayer r:embed="rId4">
                    <a14:imgEffect>
                      <a14:backgroundRemoval t="10000" b="90000" l="10000" r="90000">
                        <a14:foregroundMark x1="21816" y1="52802" x2="22400" y2="57143"/>
                        <a14:foregroundMark x1="17400" y1="20000" x2="21739" y2="52234"/>
                        <a14:foregroundMark x1="22400" y1="57143" x2="21600" y2="72571"/>
                        <a14:foregroundMark x1="26539" y1="49110" x2="26785" y2="47941"/>
                        <a14:foregroundMark x1="21600" y1="72571" x2="24787" y2="57429"/>
                        <a14:foregroundMark x1="29400" y1="58857" x2="32292" y2="64447"/>
                        <a14:foregroundMark x1="45699" y1="23315" x2="47000" y2="59429"/>
                        <a14:foregroundMark x1="59200" y1="26286" x2="60049" y2="36647"/>
                        <a14:foregroundMark x1="57200" y1="33429" x2="57240" y2="36870"/>
                        <a14:foregroundMark x1="75200" y1="20857" x2="85600" y2="24286"/>
                        <a14:foregroundMark x1="75400" y1="30571" x2="75400" y2="62571"/>
                        <a14:foregroundMark x1="82200" y1="41429" x2="83000" y2="73429"/>
                        <a14:foregroundMark x1="65200" y1="82000" x2="58400" y2="81143"/>
                        <a14:foregroundMark x1="57600" y1="62000" x2="57600" y2="62000"/>
                        <a14:foregroundMark x1="67200" y1="36000" x2="65600" y2="47714"/>
                        <a14:foregroundMark x1="31400" y1="79714" x2="34000" y2="80571"/>
                        <a14:foregroundMark x1="32200" y1="34571" x2="37600" y2="36857"/>
                        <a14:backgroundMark x1="28600" y1="70571" x2="40600" y2="74000"/>
                        <a14:backgroundMark x1="40600" y1="74000" x2="50400" y2="69429"/>
                        <a14:backgroundMark x1="50400" y1="69429" x2="52400" y2="58857"/>
                        <a14:backgroundMark x1="54600" y1="71714" x2="67600" y2="66571"/>
                        <a14:backgroundMark x1="67600" y1="66571" x2="67800" y2="62286"/>
                        <a14:backgroundMark x1="61397" y1="46772" x2="61800" y2="57143"/>
                        <a14:backgroundMark x1="61000" y1="36571" x2="61388" y2="46555"/>
                        <a14:backgroundMark x1="61800" y1="57143" x2="62200" y2="57714"/>
                        <a14:backgroundMark x1="45000" y1="20857" x2="45000" y2="14571"/>
                        <a14:backgroundMark x1="44600" y1="21714" x2="46000" y2="10571"/>
                        <a14:backgroundMark x1="47000" y1="22000" x2="45000" y2="13714"/>
                        <a14:backgroundMark x1="46400" y1="21429" x2="43600" y2="16571"/>
                        <a14:backgroundMark x1="46800" y1="22000" x2="45800" y2="23429"/>
                        <a14:backgroundMark x1="35000" y1="40857" x2="35000" y2="48286"/>
                        <a14:backgroundMark x1="26800" y1="52286" x2="26800" y2="57429"/>
                        <a14:backgroundMark x1="29000" y1="41714" x2="32800" y2="41714"/>
                        <a14:backgroundMark x1="25400" y1="51143" x2="29800" y2="37429"/>
                        <a14:backgroundMark x1="29800" y1="37429" x2="29800" y2="37143"/>
                        <a14:backgroundMark x1="27200" y1="41143" x2="31000" y2="31714"/>
                        <a14:backgroundMark x1="27600" y1="42000" x2="29800" y2="41143"/>
                        <a14:backgroundMark x1="25600" y1="50000" x2="26800" y2="54000"/>
                        <a14:backgroundMark x1="31600" y1="66000" x2="33200" y2="66000"/>
                        <a14:backgroundMark x1="26400" y1="49143" x2="27000" y2="54286"/>
                      </a14:backgroundRemoval>
                    </a14:imgEffect>
                  </a14:imgLayer>
                </a14:imgProps>
              </a:ext>
              <a:ext uri="{28A0092B-C50C-407E-A947-70E740481C1C}">
                <a14:useLocalDpi xmlns:a14="http://schemas.microsoft.com/office/drawing/2010/main" val="0"/>
              </a:ext>
            </a:extLst>
          </a:blip>
          <a:srcRect l="63200" t="30693" r="30080" b="35248"/>
          <a:stretch>
            <a:fillRect/>
          </a:stretch>
        </p:blipFill>
        <p:spPr bwMode="auto">
          <a:xfrm>
            <a:off x="7219951" y="5515573"/>
            <a:ext cx="260033" cy="922564"/>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34">
            <a:extLst>
              <a:ext uri="{FF2B5EF4-FFF2-40B4-BE49-F238E27FC236}">
                <a16:creationId xmlns:a16="http://schemas.microsoft.com/office/drawing/2014/main" id="{73445A57-2E72-3DF4-59CB-2D8B169F9086}"/>
              </a:ext>
            </a:extLst>
          </p:cNvPr>
          <p:cNvPicPr>
            <a:picLocks noChangeAspect="1"/>
          </p:cNvPicPr>
          <p:nvPr/>
        </p:nvPicPr>
        <p:blipFill>
          <a:blip r:embed="rId5"/>
          <a:stretch>
            <a:fillRect/>
          </a:stretch>
        </p:blipFill>
        <p:spPr>
          <a:xfrm>
            <a:off x="2530253" y="2466813"/>
            <a:ext cx="1584926" cy="1556454"/>
          </a:xfrm>
          <a:prstGeom prst="rect">
            <a:avLst/>
          </a:prstGeom>
        </p:spPr>
      </p:pic>
      <p:pic>
        <p:nvPicPr>
          <p:cNvPr id="36" name="Picture 35">
            <a:extLst>
              <a:ext uri="{FF2B5EF4-FFF2-40B4-BE49-F238E27FC236}">
                <a16:creationId xmlns:a16="http://schemas.microsoft.com/office/drawing/2014/main" id="{FA06CF3F-34F0-2DA1-FF55-28AFFFF1947E}"/>
              </a:ext>
            </a:extLst>
          </p:cNvPr>
          <p:cNvPicPr>
            <a:picLocks noChangeAspect="1"/>
          </p:cNvPicPr>
          <p:nvPr/>
        </p:nvPicPr>
        <p:blipFill>
          <a:blip r:embed="rId6"/>
          <a:stretch>
            <a:fillRect/>
          </a:stretch>
        </p:blipFill>
        <p:spPr>
          <a:xfrm>
            <a:off x="350860" y="2496075"/>
            <a:ext cx="1883720" cy="1582324"/>
          </a:xfrm>
          <a:prstGeom prst="rect">
            <a:avLst/>
          </a:prstGeom>
        </p:spPr>
      </p:pic>
      <p:pic>
        <p:nvPicPr>
          <p:cNvPr id="37" name="Picture 36">
            <a:extLst>
              <a:ext uri="{FF2B5EF4-FFF2-40B4-BE49-F238E27FC236}">
                <a16:creationId xmlns:a16="http://schemas.microsoft.com/office/drawing/2014/main" id="{DC5A4B5E-23A0-5281-81E7-6D1F75501576}"/>
              </a:ext>
            </a:extLst>
          </p:cNvPr>
          <p:cNvPicPr>
            <a:picLocks noChangeAspect="1"/>
          </p:cNvPicPr>
          <p:nvPr/>
        </p:nvPicPr>
        <p:blipFill>
          <a:blip r:embed="rId7"/>
          <a:stretch>
            <a:fillRect/>
          </a:stretch>
        </p:blipFill>
        <p:spPr>
          <a:xfrm>
            <a:off x="4410853" y="2415315"/>
            <a:ext cx="1817233" cy="1600250"/>
          </a:xfrm>
          <a:prstGeom prst="rect">
            <a:avLst/>
          </a:prstGeom>
        </p:spPr>
      </p:pic>
      <p:pic>
        <p:nvPicPr>
          <p:cNvPr id="38" name="Graphic 37" descr="Puzzle outline">
            <a:extLst>
              <a:ext uri="{FF2B5EF4-FFF2-40B4-BE49-F238E27FC236}">
                <a16:creationId xmlns:a16="http://schemas.microsoft.com/office/drawing/2014/main" id="{7F890723-8D98-64BC-612C-67779E9B48C6}"/>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49125" y="2580404"/>
            <a:ext cx="1487191" cy="1487191"/>
          </a:xfrm>
          <a:prstGeom prst="rect">
            <a:avLst/>
          </a:prstGeom>
        </p:spPr>
      </p:pic>
      <p:pic>
        <p:nvPicPr>
          <p:cNvPr id="39" name="Graphic 38" descr="Bar chart outline">
            <a:extLst>
              <a:ext uri="{FF2B5EF4-FFF2-40B4-BE49-F238E27FC236}">
                <a16:creationId xmlns:a16="http://schemas.microsoft.com/office/drawing/2014/main" id="{56079C0B-14C0-23D2-00F8-8467DED767DC}"/>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580957" y="2415316"/>
            <a:ext cx="1477027" cy="1477027"/>
          </a:xfrm>
          <a:prstGeom prst="rect">
            <a:avLst/>
          </a:prstGeom>
        </p:spPr>
      </p:pic>
      <p:pic>
        <p:nvPicPr>
          <p:cNvPr id="40" name="Graphic 39" descr="Mining tools outline">
            <a:extLst>
              <a:ext uri="{FF2B5EF4-FFF2-40B4-BE49-F238E27FC236}">
                <a16:creationId xmlns:a16="http://schemas.microsoft.com/office/drawing/2014/main" id="{6AFB25DC-D692-45DE-173F-393F3FFDCD76}"/>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2656257" y="2533832"/>
            <a:ext cx="1257393" cy="1257393"/>
          </a:xfrm>
          <a:prstGeom prst="rect">
            <a:avLst/>
          </a:prstGeom>
        </p:spPr>
      </p:pic>
    </p:spTree>
    <p:extLst>
      <p:ext uri="{BB962C8B-B14F-4D97-AF65-F5344CB8AC3E}">
        <p14:creationId xmlns:p14="http://schemas.microsoft.com/office/powerpoint/2010/main" val="38565646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D21AE0-4C8A-7D2F-F916-D7160D46AEB4}"/>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B8825B9F-1D7B-4A71-2DAE-90BE365939DD}"/>
              </a:ext>
            </a:extLst>
          </p:cNvPr>
          <p:cNvSpPr>
            <a:spLocks noGrp="1"/>
          </p:cNvSpPr>
          <p:nvPr>
            <p:ph idx="1"/>
          </p:nvPr>
        </p:nvSpPr>
        <p:spPr/>
        <p:txBody>
          <a:bodyPr/>
          <a:lstStyle/>
          <a:p>
            <a:endParaRPr lang="en-GB"/>
          </a:p>
        </p:txBody>
      </p:sp>
      <p:pic>
        <p:nvPicPr>
          <p:cNvPr id="7" name="Picture 6">
            <a:extLst>
              <a:ext uri="{FF2B5EF4-FFF2-40B4-BE49-F238E27FC236}">
                <a16:creationId xmlns:a16="http://schemas.microsoft.com/office/drawing/2014/main" id="{A33A68AA-0292-DF8F-1A64-42A0BC1CFD82}"/>
              </a:ext>
            </a:extLst>
          </p:cNvPr>
          <p:cNvPicPr>
            <a:picLocks noChangeAspect="1"/>
          </p:cNvPicPr>
          <p:nvPr/>
        </p:nvPicPr>
        <p:blipFill>
          <a:blip r:embed="rId2"/>
          <a:stretch>
            <a:fillRect/>
          </a:stretch>
        </p:blipFill>
        <p:spPr>
          <a:xfrm rot="16200000">
            <a:off x="-795516" y="1430762"/>
            <a:ext cx="6891526" cy="3996476"/>
          </a:xfrm>
          <a:prstGeom prst="rect">
            <a:avLst/>
          </a:prstGeom>
        </p:spPr>
      </p:pic>
      <p:pic>
        <p:nvPicPr>
          <p:cNvPr id="8" name="Picture 7">
            <a:extLst>
              <a:ext uri="{FF2B5EF4-FFF2-40B4-BE49-F238E27FC236}">
                <a16:creationId xmlns:a16="http://schemas.microsoft.com/office/drawing/2014/main" id="{88178F8E-16C8-EEE6-4F92-8FBA5154F58B}"/>
              </a:ext>
            </a:extLst>
          </p:cNvPr>
          <p:cNvPicPr>
            <a:picLocks noChangeAspect="1"/>
          </p:cNvPicPr>
          <p:nvPr/>
        </p:nvPicPr>
        <p:blipFill>
          <a:blip r:embed="rId3"/>
          <a:stretch>
            <a:fillRect/>
          </a:stretch>
        </p:blipFill>
        <p:spPr>
          <a:xfrm rot="16200000">
            <a:off x="3969345" y="1413998"/>
            <a:ext cx="6891527" cy="3996477"/>
          </a:xfrm>
          <a:prstGeom prst="rect">
            <a:avLst/>
          </a:prstGeom>
        </p:spPr>
      </p:pic>
    </p:spTree>
    <p:extLst>
      <p:ext uri="{BB962C8B-B14F-4D97-AF65-F5344CB8AC3E}">
        <p14:creationId xmlns:p14="http://schemas.microsoft.com/office/powerpoint/2010/main" val="6991944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CA048B9-DDF1-D422-E637-F8709DFFBDE5}"/>
              </a:ext>
            </a:extLst>
          </p:cNvPr>
          <p:cNvPicPr>
            <a:picLocks noChangeAspect="1"/>
          </p:cNvPicPr>
          <p:nvPr/>
        </p:nvPicPr>
        <p:blipFill>
          <a:blip r:embed="rId2"/>
          <a:stretch>
            <a:fillRect/>
          </a:stretch>
        </p:blipFill>
        <p:spPr>
          <a:xfrm rot="16200000">
            <a:off x="-923341" y="1486504"/>
            <a:ext cx="6699291" cy="3884996"/>
          </a:xfrm>
          <a:prstGeom prst="rect">
            <a:avLst/>
          </a:prstGeom>
        </p:spPr>
      </p:pic>
      <p:pic>
        <p:nvPicPr>
          <p:cNvPr id="5" name="Picture 4">
            <a:extLst>
              <a:ext uri="{FF2B5EF4-FFF2-40B4-BE49-F238E27FC236}">
                <a16:creationId xmlns:a16="http://schemas.microsoft.com/office/drawing/2014/main" id="{B5946A4B-66AD-E607-0108-2A155827029A}"/>
              </a:ext>
            </a:extLst>
          </p:cNvPr>
          <p:cNvPicPr>
            <a:picLocks noChangeAspect="1"/>
          </p:cNvPicPr>
          <p:nvPr/>
        </p:nvPicPr>
        <p:blipFill>
          <a:blip r:embed="rId3"/>
          <a:stretch>
            <a:fillRect/>
          </a:stretch>
        </p:blipFill>
        <p:spPr>
          <a:xfrm rot="16200000">
            <a:off x="3702763" y="1423815"/>
            <a:ext cx="6778648" cy="3931016"/>
          </a:xfrm>
          <a:prstGeom prst="rect">
            <a:avLst/>
          </a:prstGeom>
        </p:spPr>
      </p:pic>
    </p:spTree>
    <p:extLst>
      <p:ext uri="{BB962C8B-B14F-4D97-AF65-F5344CB8AC3E}">
        <p14:creationId xmlns:p14="http://schemas.microsoft.com/office/powerpoint/2010/main" val="39994976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3ADC53-81EF-407E-D8B8-89F0ED7F659B}"/>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1D1E2A2D-9C5A-81EF-5189-DA949A74CF5F}"/>
              </a:ext>
            </a:extLst>
          </p:cNvPr>
          <p:cNvPicPr>
            <a:picLocks noChangeAspect="1"/>
          </p:cNvPicPr>
          <p:nvPr/>
        </p:nvPicPr>
        <p:blipFill>
          <a:blip r:embed="rId2"/>
          <a:stretch>
            <a:fillRect/>
          </a:stretch>
        </p:blipFill>
        <p:spPr>
          <a:xfrm rot="16200000">
            <a:off x="-938018" y="1420551"/>
            <a:ext cx="6883231" cy="3991665"/>
          </a:xfrm>
          <a:prstGeom prst="rect">
            <a:avLst/>
          </a:prstGeom>
        </p:spPr>
      </p:pic>
      <p:pic>
        <p:nvPicPr>
          <p:cNvPr id="3" name="Picture 2">
            <a:extLst>
              <a:ext uri="{FF2B5EF4-FFF2-40B4-BE49-F238E27FC236}">
                <a16:creationId xmlns:a16="http://schemas.microsoft.com/office/drawing/2014/main" id="{3EA95E8C-BD33-785B-D864-374893D0D690}"/>
              </a:ext>
            </a:extLst>
          </p:cNvPr>
          <p:cNvPicPr>
            <a:picLocks noChangeAspect="1"/>
          </p:cNvPicPr>
          <p:nvPr/>
        </p:nvPicPr>
        <p:blipFill>
          <a:blip r:embed="rId3"/>
          <a:stretch>
            <a:fillRect/>
          </a:stretch>
        </p:blipFill>
        <p:spPr>
          <a:xfrm rot="16200000">
            <a:off x="3699297" y="1445784"/>
            <a:ext cx="6883234" cy="3991667"/>
          </a:xfrm>
          <a:prstGeom prst="rect">
            <a:avLst/>
          </a:prstGeom>
        </p:spPr>
      </p:pic>
    </p:spTree>
    <p:extLst>
      <p:ext uri="{BB962C8B-B14F-4D97-AF65-F5344CB8AC3E}">
        <p14:creationId xmlns:p14="http://schemas.microsoft.com/office/powerpoint/2010/main" val="30236255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067C75-16C3-D38A-7CEB-63A7B664B7EA}"/>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DDE900C9-D26B-94EE-89C2-44CD202694B3}"/>
              </a:ext>
            </a:extLst>
          </p:cNvPr>
          <p:cNvPicPr>
            <a:picLocks noChangeAspect="1"/>
          </p:cNvPicPr>
          <p:nvPr/>
        </p:nvPicPr>
        <p:blipFill>
          <a:blip r:embed="rId2"/>
          <a:stretch>
            <a:fillRect/>
          </a:stretch>
        </p:blipFill>
        <p:spPr>
          <a:xfrm rot="16200000">
            <a:off x="-841889" y="1440481"/>
            <a:ext cx="6858002" cy="3977034"/>
          </a:xfrm>
          <a:prstGeom prst="rect">
            <a:avLst/>
          </a:prstGeom>
        </p:spPr>
      </p:pic>
      <p:pic>
        <p:nvPicPr>
          <p:cNvPr id="3" name="Picture 2">
            <a:extLst>
              <a:ext uri="{FF2B5EF4-FFF2-40B4-BE49-F238E27FC236}">
                <a16:creationId xmlns:a16="http://schemas.microsoft.com/office/drawing/2014/main" id="{DAF69EFD-0D7A-F7AD-8844-3EE4E6CB7921}"/>
              </a:ext>
            </a:extLst>
          </p:cNvPr>
          <p:cNvPicPr>
            <a:picLocks noChangeAspect="1"/>
          </p:cNvPicPr>
          <p:nvPr/>
        </p:nvPicPr>
        <p:blipFill>
          <a:blip r:embed="rId3"/>
          <a:stretch>
            <a:fillRect/>
          </a:stretch>
        </p:blipFill>
        <p:spPr>
          <a:xfrm rot="16200000">
            <a:off x="4098115" y="1427487"/>
            <a:ext cx="6858000" cy="4003027"/>
          </a:xfrm>
          <a:prstGeom prst="rect">
            <a:avLst/>
          </a:prstGeom>
        </p:spPr>
      </p:pic>
    </p:spTree>
    <p:extLst>
      <p:ext uri="{BB962C8B-B14F-4D97-AF65-F5344CB8AC3E}">
        <p14:creationId xmlns:p14="http://schemas.microsoft.com/office/powerpoint/2010/main" val="16229079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13302A-3D47-6B87-5569-9A0EEADD5FAB}"/>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C6BD9ABC-0216-1D0F-848A-78EFE769443F}"/>
              </a:ext>
            </a:extLst>
          </p:cNvPr>
          <p:cNvPicPr>
            <a:picLocks noChangeAspect="1"/>
          </p:cNvPicPr>
          <p:nvPr/>
        </p:nvPicPr>
        <p:blipFill>
          <a:blip r:embed="rId3"/>
          <a:stretch>
            <a:fillRect/>
          </a:stretch>
        </p:blipFill>
        <p:spPr>
          <a:xfrm rot="16200000">
            <a:off x="-728725" y="1440484"/>
            <a:ext cx="6858000" cy="3977034"/>
          </a:xfrm>
          <a:prstGeom prst="rect">
            <a:avLst/>
          </a:prstGeom>
        </p:spPr>
      </p:pic>
      <p:pic>
        <p:nvPicPr>
          <p:cNvPr id="9" name="Picture 8">
            <a:extLst>
              <a:ext uri="{FF2B5EF4-FFF2-40B4-BE49-F238E27FC236}">
                <a16:creationId xmlns:a16="http://schemas.microsoft.com/office/drawing/2014/main" id="{8E2CB9B8-0E45-9D88-97F4-D3528DBDC894}"/>
              </a:ext>
            </a:extLst>
          </p:cNvPr>
          <p:cNvPicPr>
            <a:picLocks noChangeAspect="1"/>
          </p:cNvPicPr>
          <p:nvPr/>
        </p:nvPicPr>
        <p:blipFill>
          <a:blip r:embed="rId4"/>
          <a:stretch>
            <a:fillRect/>
          </a:stretch>
        </p:blipFill>
        <p:spPr>
          <a:xfrm rot="16200000">
            <a:off x="3952134" y="1440483"/>
            <a:ext cx="6858000" cy="3977034"/>
          </a:xfrm>
          <a:prstGeom prst="rect">
            <a:avLst/>
          </a:prstGeom>
        </p:spPr>
      </p:pic>
    </p:spTree>
    <p:extLst>
      <p:ext uri="{BB962C8B-B14F-4D97-AF65-F5344CB8AC3E}">
        <p14:creationId xmlns:p14="http://schemas.microsoft.com/office/powerpoint/2010/main" val="25573331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F5F810-CB43-3EC9-FADB-2326C50CC814}"/>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3A154C89-A964-F287-C1E6-A9A87ECEFCD8}"/>
              </a:ext>
            </a:extLst>
          </p:cNvPr>
          <p:cNvPicPr>
            <a:picLocks noChangeAspect="1"/>
          </p:cNvPicPr>
          <p:nvPr/>
        </p:nvPicPr>
        <p:blipFill>
          <a:blip r:embed="rId2"/>
          <a:stretch>
            <a:fillRect/>
          </a:stretch>
        </p:blipFill>
        <p:spPr>
          <a:xfrm rot="16200000">
            <a:off x="-716603" y="1441120"/>
            <a:ext cx="6861030" cy="3978791"/>
          </a:xfrm>
          <a:prstGeom prst="rect">
            <a:avLst/>
          </a:prstGeom>
        </p:spPr>
      </p:pic>
      <p:pic>
        <p:nvPicPr>
          <p:cNvPr id="3" name="Picture 2">
            <a:extLst>
              <a:ext uri="{FF2B5EF4-FFF2-40B4-BE49-F238E27FC236}">
                <a16:creationId xmlns:a16="http://schemas.microsoft.com/office/drawing/2014/main" id="{34360D9C-5079-2424-9469-527B72EC78D7}"/>
              </a:ext>
            </a:extLst>
          </p:cNvPr>
          <p:cNvPicPr>
            <a:picLocks noChangeAspect="1"/>
          </p:cNvPicPr>
          <p:nvPr/>
        </p:nvPicPr>
        <p:blipFill>
          <a:blip r:embed="rId3"/>
          <a:stretch>
            <a:fillRect/>
          </a:stretch>
        </p:blipFill>
        <p:spPr>
          <a:xfrm rot="16200000">
            <a:off x="3949742" y="1438088"/>
            <a:ext cx="6861030" cy="3978791"/>
          </a:xfrm>
          <a:prstGeom prst="rect">
            <a:avLst/>
          </a:prstGeom>
        </p:spPr>
      </p:pic>
    </p:spTree>
    <p:extLst>
      <p:ext uri="{BB962C8B-B14F-4D97-AF65-F5344CB8AC3E}">
        <p14:creationId xmlns:p14="http://schemas.microsoft.com/office/powerpoint/2010/main" val="10159884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A4FA23-7038-AB19-03D0-8671BA4D53C2}"/>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1B0D26B6-4174-52E8-4920-3D34B978A358}"/>
              </a:ext>
            </a:extLst>
          </p:cNvPr>
          <p:cNvSpPr/>
          <p:nvPr/>
        </p:nvSpPr>
        <p:spPr>
          <a:xfrm>
            <a:off x="0" y="642938"/>
            <a:ext cx="4953000" cy="5572125"/>
          </a:xfrm>
          <a:prstGeom prst="rect">
            <a:avLst/>
          </a:prstGeom>
          <a:solidFill>
            <a:srgbClr val="6B5B9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63" dirty="0"/>
          </a:p>
        </p:txBody>
      </p:sp>
      <p:pic>
        <p:nvPicPr>
          <p:cNvPr id="7" name="Graphic 6" descr="Puzzle outline">
            <a:extLst>
              <a:ext uri="{FF2B5EF4-FFF2-40B4-BE49-F238E27FC236}">
                <a16:creationId xmlns:a16="http://schemas.microsoft.com/office/drawing/2014/main" id="{FFFEF607-6117-7CFD-14DB-8604E7235BD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954539" y="766763"/>
            <a:ext cx="1048218" cy="1048218"/>
          </a:xfrm>
          <a:prstGeom prst="rect">
            <a:avLst/>
          </a:prstGeom>
        </p:spPr>
      </p:pic>
      <p:sp>
        <p:nvSpPr>
          <p:cNvPr id="14" name="TextBox 13">
            <a:extLst>
              <a:ext uri="{FF2B5EF4-FFF2-40B4-BE49-F238E27FC236}">
                <a16:creationId xmlns:a16="http://schemas.microsoft.com/office/drawing/2014/main" id="{9001FBD9-3076-8F4E-7BD6-C3C147612A99}"/>
              </a:ext>
            </a:extLst>
          </p:cNvPr>
          <p:cNvSpPr txBox="1"/>
          <p:nvPr/>
        </p:nvSpPr>
        <p:spPr>
          <a:xfrm>
            <a:off x="2108431" y="923917"/>
            <a:ext cx="771365" cy="692497"/>
          </a:xfrm>
          <a:prstGeom prst="rect">
            <a:avLst/>
          </a:prstGeom>
          <a:noFill/>
        </p:spPr>
        <p:txBody>
          <a:bodyPr wrap="none" rtlCol="0">
            <a:spAutoFit/>
          </a:bodyPr>
          <a:lstStyle/>
          <a:p>
            <a:r>
              <a:rPr lang="en-GB" sz="3900" b="1" dirty="0">
                <a:solidFill>
                  <a:schemeClr val="bg1"/>
                </a:solidFill>
                <a:latin typeface="Cascadia Code" panose="020B0609020000020004" pitchFamily="49" charset="0"/>
                <a:ea typeface="Cascadia Code" panose="020B0609020000020004" pitchFamily="49" charset="0"/>
                <a:cs typeface="Cascadia Code" panose="020B0609020000020004" pitchFamily="49" charset="0"/>
              </a:rPr>
              <a:t>13</a:t>
            </a:r>
          </a:p>
        </p:txBody>
      </p:sp>
      <p:graphicFrame>
        <p:nvGraphicFramePr>
          <p:cNvPr id="15" name="Table 14">
            <a:extLst>
              <a:ext uri="{FF2B5EF4-FFF2-40B4-BE49-F238E27FC236}">
                <a16:creationId xmlns:a16="http://schemas.microsoft.com/office/drawing/2014/main" id="{E6E99CCD-D265-F476-B7EC-5AC8D1D9662D}"/>
              </a:ext>
            </a:extLst>
          </p:cNvPr>
          <p:cNvGraphicFramePr>
            <a:graphicFrameLocks noGrp="1"/>
          </p:cNvGraphicFramePr>
          <p:nvPr/>
        </p:nvGraphicFramePr>
        <p:xfrm>
          <a:off x="217210" y="2001497"/>
          <a:ext cx="4518581" cy="3665339"/>
        </p:xfrm>
        <a:graphic>
          <a:graphicData uri="http://schemas.openxmlformats.org/drawingml/2006/table">
            <a:tbl>
              <a:tblPr>
                <a:tableStyleId>{5C22544A-7EE6-4342-B048-85BDC9FD1C3A}</a:tableStyleId>
              </a:tblPr>
              <a:tblGrid>
                <a:gridCol w="4518581">
                  <a:extLst>
                    <a:ext uri="{9D8B030D-6E8A-4147-A177-3AD203B41FA5}">
                      <a16:colId xmlns:a16="http://schemas.microsoft.com/office/drawing/2014/main" val="328224983"/>
                    </a:ext>
                  </a:extLst>
                </a:gridCol>
              </a:tblGrid>
              <a:tr h="3276719">
                <a:tc>
                  <a:txBody>
                    <a:bodyPr/>
                    <a:lstStyle/>
                    <a:p>
                      <a:pPr algn="ctr" fontAlgn="ctr">
                        <a:buNone/>
                      </a:pPr>
                      <a:r>
                        <a:rPr lang="en-GB" sz="2000" b="0" i="0" u="none" strike="noStrike"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A plant disease is believed to infect plants with probability 0.5 under certain conditions. You examine a small sample of 10 plants and observe that 8 are infected. </a:t>
                      </a:r>
                    </a:p>
                    <a:p>
                      <a:pPr algn="ctr" fontAlgn="ctr">
                        <a:buNone/>
                      </a:pPr>
                      <a:br>
                        <a:rPr lang="en-GB" sz="2000" b="0" i="0" u="none" strike="noStrike"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br>
                      <a:r>
                        <a:rPr lang="en-GB" sz="2000" b="0" i="0" u="none" strike="noStrike"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Assuming the true infection probability is 0.5, what is the probability of observing 8 or more infected plants out of 10?</a:t>
                      </a:r>
                    </a:p>
                  </a:txBody>
                  <a:tcPr marL="7739" marR="7739" marT="7739" marB="0" anchor="ctr"/>
                </a:tc>
                <a:extLst>
                  <a:ext uri="{0D108BD9-81ED-4DB2-BD59-A6C34878D82A}">
                    <a16:rowId xmlns:a16="http://schemas.microsoft.com/office/drawing/2014/main" val="3673612172"/>
                  </a:ext>
                </a:extLst>
              </a:tr>
            </a:tbl>
          </a:graphicData>
        </a:graphic>
      </p:graphicFrame>
      <p:graphicFrame>
        <p:nvGraphicFramePr>
          <p:cNvPr id="16" name="Table 15">
            <a:extLst>
              <a:ext uri="{FF2B5EF4-FFF2-40B4-BE49-F238E27FC236}">
                <a16:creationId xmlns:a16="http://schemas.microsoft.com/office/drawing/2014/main" id="{F8689127-7292-700F-6F23-707EABF3BBA0}"/>
              </a:ext>
            </a:extLst>
          </p:cNvPr>
          <p:cNvGraphicFramePr>
            <a:graphicFrameLocks noGrp="1"/>
          </p:cNvGraphicFramePr>
          <p:nvPr/>
        </p:nvGraphicFramePr>
        <p:xfrm>
          <a:off x="5170210" y="766764"/>
          <a:ext cx="4455120" cy="924559"/>
        </p:xfrm>
        <a:graphic>
          <a:graphicData uri="http://schemas.openxmlformats.org/drawingml/2006/table">
            <a:tbl>
              <a:tblPr>
                <a:tableStyleId>{5C22544A-7EE6-4342-B048-85BDC9FD1C3A}</a:tableStyleId>
              </a:tblPr>
              <a:tblGrid>
                <a:gridCol w="4455120">
                  <a:extLst>
                    <a:ext uri="{9D8B030D-6E8A-4147-A177-3AD203B41FA5}">
                      <a16:colId xmlns:a16="http://schemas.microsoft.com/office/drawing/2014/main" val="328224983"/>
                    </a:ext>
                  </a:extLst>
                </a:gridCol>
              </a:tblGrid>
              <a:tr h="924559">
                <a:tc>
                  <a:txBody>
                    <a:bodyPr/>
                    <a:lstStyle/>
                    <a:p>
                      <a:pPr algn="ctr" fontAlgn="ctr">
                        <a:buNone/>
                      </a:pPr>
                      <a:r>
                        <a:rPr lang="en-GB" sz="2000" b="0" i="0" u="none" strike="noStrike"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Draw here how an excel with this data might look like:</a:t>
                      </a:r>
                    </a:p>
                  </a:txBody>
                  <a:tcPr marL="7739" marR="7739" marT="7739" marB="0" anchor="ctr"/>
                </a:tc>
                <a:extLst>
                  <a:ext uri="{0D108BD9-81ED-4DB2-BD59-A6C34878D82A}">
                    <a16:rowId xmlns:a16="http://schemas.microsoft.com/office/drawing/2014/main" val="3673612172"/>
                  </a:ext>
                </a:extLst>
              </a:tr>
            </a:tbl>
          </a:graphicData>
        </a:graphic>
      </p:graphicFrame>
    </p:spTree>
    <p:extLst>
      <p:ext uri="{BB962C8B-B14F-4D97-AF65-F5344CB8AC3E}">
        <p14:creationId xmlns:p14="http://schemas.microsoft.com/office/powerpoint/2010/main" val="4011502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14DC88-B8F3-242C-1AC3-F110B7BCDDEB}"/>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3CA2251A-AA4C-0640-8112-23C1DCC392AE}"/>
              </a:ext>
            </a:extLst>
          </p:cNvPr>
          <p:cNvSpPr/>
          <p:nvPr/>
        </p:nvSpPr>
        <p:spPr>
          <a:xfrm>
            <a:off x="0" y="642937"/>
            <a:ext cx="4953000" cy="2786063"/>
          </a:xfrm>
          <a:prstGeom prst="rect">
            <a:avLst/>
          </a:prstGeom>
          <a:solidFill>
            <a:srgbClr val="2F5D5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63" dirty="0"/>
          </a:p>
        </p:txBody>
      </p:sp>
      <p:pic>
        <p:nvPicPr>
          <p:cNvPr id="3" name="Graphic 2" descr="Mining tools outline">
            <a:extLst>
              <a:ext uri="{FF2B5EF4-FFF2-40B4-BE49-F238E27FC236}">
                <a16:creationId xmlns:a16="http://schemas.microsoft.com/office/drawing/2014/main" id="{A23C7B6D-CFAF-E6E5-0757-29F4083E623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4254" y="758426"/>
            <a:ext cx="714140" cy="714140"/>
          </a:xfrm>
          <a:prstGeom prst="rect">
            <a:avLst/>
          </a:prstGeom>
        </p:spPr>
      </p:pic>
      <p:graphicFrame>
        <p:nvGraphicFramePr>
          <p:cNvPr id="4" name="Table 3">
            <a:extLst>
              <a:ext uri="{FF2B5EF4-FFF2-40B4-BE49-F238E27FC236}">
                <a16:creationId xmlns:a16="http://schemas.microsoft.com/office/drawing/2014/main" id="{13210394-35C1-BC49-8246-D610B6AC2E38}"/>
              </a:ext>
            </a:extLst>
          </p:cNvPr>
          <p:cNvGraphicFramePr>
            <a:graphicFrameLocks noGrp="1"/>
          </p:cNvGraphicFramePr>
          <p:nvPr>
            <p:extLst>
              <p:ext uri="{D42A27DB-BD31-4B8C-83A1-F6EECF244321}">
                <p14:modId xmlns:p14="http://schemas.microsoft.com/office/powerpoint/2010/main" val="2757947334"/>
              </p:ext>
            </p:extLst>
          </p:nvPr>
        </p:nvGraphicFramePr>
        <p:xfrm>
          <a:off x="187414" y="1649967"/>
          <a:ext cx="4528642" cy="1427503"/>
        </p:xfrm>
        <a:graphic>
          <a:graphicData uri="http://schemas.openxmlformats.org/drawingml/2006/table">
            <a:tbl>
              <a:tblPr>
                <a:tableStyleId>{5C22544A-7EE6-4342-B048-85BDC9FD1C3A}</a:tableStyleId>
              </a:tblPr>
              <a:tblGrid>
                <a:gridCol w="4528642">
                  <a:extLst>
                    <a:ext uri="{9D8B030D-6E8A-4147-A177-3AD203B41FA5}">
                      <a16:colId xmlns:a16="http://schemas.microsoft.com/office/drawing/2014/main" val="328224983"/>
                    </a:ext>
                  </a:extLst>
                </a:gridCol>
              </a:tblGrid>
              <a:tr h="1427503">
                <a:tc>
                  <a:txBody>
                    <a:bodyPr/>
                    <a:lstStyle/>
                    <a:p>
                      <a:pPr algn="ctr" fontAlgn="ctr">
                        <a:buNone/>
                      </a:pPr>
                      <a:r>
                        <a:rPr lang="en-GB" sz="2900" b="0" i="0" u="none" strike="noStrike"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One sample t-test</a:t>
                      </a:r>
                    </a:p>
                  </a:txBody>
                  <a:tcPr marL="7739" marR="7739" marT="7739" marB="0" anchor="ctr"/>
                </a:tc>
                <a:extLst>
                  <a:ext uri="{0D108BD9-81ED-4DB2-BD59-A6C34878D82A}">
                    <a16:rowId xmlns:a16="http://schemas.microsoft.com/office/drawing/2014/main" val="3673612172"/>
                  </a:ext>
                </a:extLst>
              </a:tr>
            </a:tbl>
          </a:graphicData>
        </a:graphic>
      </p:graphicFrame>
      <p:sp>
        <p:nvSpPr>
          <p:cNvPr id="5" name="Rectangle 4">
            <a:extLst>
              <a:ext uri="{FF2B5EF4-FFF2-40B4-BE49-F238E27FC236}">
                <a16:creationId xmlns:a16="http://schemas.microsoft.com/office/drawing/2014/main" id="{EE11D521-C938-7055-A53C-E834B6F4A81B}"/>
              </a:ext>
            </a:extLst>
          </p:cNvPr>
          <p:cNvSpPr/>
          <p:nvPr/>
        </p:nvSpPr>
        <p:spPr>
          <a:xfrm>
            <a:off x="0" y="3429000"/>
            <a:ext cx="4953000" cy="2786063"/>
          </a:xfrm>
          <a:prstGeom prst="rect">
            <a:avLst/>
          </a:prstGeom>
          <a:solidFill>
            <a:srgbClr val="2F5D5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63" dirty="0"/>
          </a:p>
        </p:txBody>
      </p:sp>
      <p:pic>
        <p:nvPicPr>
          <p:cNvPr id="6" name="Graphic 5" descr="Mining tools outline">
            <a:extLst>
              <a:ext uri="{FF2B5EF4-FFF2-40B4-BE49-F238E27FC236}">
                <a16:creationId xmlns:a16="http://schemas.microsoft.com/office/drawing/2014/main" id="{9431B166-59EC-0173-E0F0-F7AA6D2A9F2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4254" y="3544488"/>
            <a:ext cx="714140" cy="714140"/>
          </a:xfrm>
          <a:prstGeom prst="rect">
            <a:avLst/>
          </a:prstGeom>
        </p:spPr>
      </p:pic>
      <p:graphicFrame>
        <p:nvGraphicFramePr>
          <p:cNvPr id="8" name="Table 7">
            <a:extLst>
              <a:ext uri="{FF2B5EF4-FFF2-40B4-BE49-F238E27FC236}">
                <a16:creationId xmlns:a16="http://schemas.microsoft.com/office/drawing/2014/main" id="{95E9C148-BE19-4644-AF9D-8272F5970911}"/>
              </a:ext>
            </a:extLst>
          </p:cNvPr>
          <p:cNvGraphicFramePr>
            <a:graphicFrameLocks noGrp="1"/>
          </p:cNvGraphicFramePr>
          <p:nvPr>
            <p:extLst>
              <p:ext uri="{D42A27DB-BD31-4B8C-83A1-F6EECF244321}">
                <p14:modId xmlns:p14="http://schemas.microsoft.com/office/powerpoint/2010/main" val="1081225883"/>
              </p:ext>
            </p:extLst>
          </p:nvPr>
        </p:nvGraphicFramePr>
        <p:xfrm>
          <a:off x="187414" y="4436029"/>
          <a:ext cx="4528642" cy="1427503"/>
        </p:xfrm>
        <a:graphic>
          <a:graphicData uri="http://schemas.openxmlformats.org/drawingml/2006/table">
            <a:tbl>
              <a:tblPr>
                <a:tableStyleId>{5C22544A-7EE6-4342-B048-85BDC9FD1C3A}</a:tableStyleId>
              </a:tblPr>
              <a:tblGrid>
                <a:gridCol w="4528642">
                  <a:extLst>
                    <a:ext uri="{9D8B030D-6E8A-4147-A177-3AD203B41FA5}">
                      <a16:colId xmlns:a16="http://schemas.microsoft.com/office/drawing/2014/main" val="328224983"/>
                    </a:ext>
                  </a:extLst>
                </a:gridCol>
              </a:tblGrid>
              <a:tr h="1427503">
                <a:tc>
                  <a:txBody>
                    <a:bodyPr/>
                    <a:lstStyle/>
                    <a:p>
                      <a:pPr algn="ctr" fontAlgn="ctr">
                        <a:buNone/>
                      </a:pPr>
                      <a:r>
                        <a:rPr lang="en-GB" sz="2900" b="0" i="0" u="none" strike="noStrike"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Binomial test </a:t>
                      </a:r>
                    </a:p>
                    <a:p>
                      <a:pPr algn="ctr" fontAlgn="ctr">
                        <a:buNone/>
                      </a:pPr>
                      <a:r>
                        <a:rPr lang="en-GB" sz="2300" b="0" i="0" u="none" strike="noStrike"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l-GR" sz="2300" b="0" i="0" u="none" strike="noStrike"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χ² </a:t>
                      </a:r>
                      <a:r>
                        <a:rPr lang="en-GB" sz="2300" b="0" i="0" u="none" strike="noStrike"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GOF for large n)</a:t>
                      </a:r>
                      <a:endParaRPr lang="en-GB" sz="2900" b="0" i="0" u="none" strike="noStrike"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endParaRPr>
                    </a:p>
                  </a:txBody>
                  <a:tcPr marL="7739" marR="7739" marT="7739" marB="0" anchor="ctr"/>
                </a:tc>
                <a:extLst>
                  <a:ext uri="{0D108BD9-81ED-4DB2-BD59-A6C34878D82A}">
                    <a16:rowId xmlns:a16="http://schemas.microsoft.com/office/drawing/2014/main" val="3673612172"/>
                  </a:ext>
                </a:extLst>
              </a:tr>
            </a:tbl>
          </a:graphicData>
        </a:graphic>
      </p:graphicFrame>
      <p:sp>
        <p:nvSpPr>
          <p:cNvPr id="9" name="Rectangle 8">
            <a:extLst>
              <a:ext uri="{FF2B5EF4-FFF2-40B4-BE49-F238E27FC236}">
                <a16:creationId xmlns:a16="http://schemas.microsoft.com/office/drawing/2014/main" id="{27BF4B40-50B7-CC44-6F22-42130C20676E}"/>
              </a:ext>
            </a:extLst>
          </p:cNvPr>
          <p:cNvSpPr/>
          <p:nvPr/>
        </p:nvSpPr>
        <p:spPr>
          <a:xfrm>
            <a:off x="4953000" y="642937"/>
            <a:ext cx="4953000" cy="2786063"/>
          </a:xfrm>
          <a:prstGeom prst="rect">
            <a:avLst/>
          </a:prstGeom>
          <a:solidFill>
            <a:srgbClr val="2F5D5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63" dirty="0"/>
          </a:p>
        </p:txBody>
      </p:sp>
      <p:pic>
        <p:nvPicPr>
          <p:cNvPr id="11" name="Graphic 10" descr="Mining tools outline">
            <a:extLst>
              <a:ext uri="{FF2B5EF4-FFF2-40B4-BE49-F238E27FC236}">
                <a16:creationId xmlns:a16="http://schemas.microsoft.com/office/drawing/2014/main" id="{19BF4BEF-EA63-C0A6-73A1-3118E71A960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067254" y="758426"/>
            <a:ext cx="714140" cy="714140"/>
          </a:xfrm>
          <a:prstGeom prst="rect">
            <a:avLst/>
          </a:prstGeom>
        </p:spPr>
      </p:pic>
      <p:graphicFrame>
        <p:nvGraphicFramePr>
          <p:cNvPr id="12" name="Table 11">
            <a:extLst>
              <a:ext uri="{FF2B5EF4-FFF2-40B4-BE49-F238E27FC236}">
                <a16:creationId xmlns:a16="http://schemas.microsoft.com/office/drawing/2014/main" id="{0FD2A731-41C6-734D-5984-7E154409276B}"/>
              </a:ext>
            </a:extLst>
          </p:cNvPr>
          <p:cNvGraphicFramePr>
            <a:graphicFrameLocks noGrp="1"/>
          </p:cNvGraphicFramePr>
          <p:nvPr>
            <p:extLst>
              <p:ext uri="{D42A27DB-BD31-4B8C-83A1-F6EECF244321}">
                <p14:modId xmlns:p14="http://schemas.microsoft.com/office/powerpoint/2010/main" val="3946753788"/>
              </p:ext>
            </p:extLst>
          </p:nvPr>
        </p:nvGraphicFramePr>
        <p:xfrm>
          <a:off x="5140414" y="1649967"/>
          <a:ext cx="4528642" cy="1427503"/>
        </p:xfrm>
        <a:graphic>
          <a:graphicData uri="http://schemas.openxmlformats.org/drawingml/2006/table">
            <a:tbl>
              <a:tblPr>
                <a:tableStyleId>{5C22544A-7EE6-4342-B048-85BDC9FD1C3A}</a:tableStyleId>
              </a:tblPr>
              <a:tblGrid>
                <a:gridCol w="4528642">
                  <a:extLst>
                    <a:ext uri="{9D8B030D-6E8A-4147-A177-3AD203B41FA5}">
                      <a16:colId xmlns:a16="http://schemas.microsoft.com/office/drawing/2014/main" val="328224983"/>
                    </a:ext>
                  </a:extLst>
                </a:gridCol>
              </a:tblGrid>
              <a:tr h="1427503">
                <a:tc>
                  <a:txBody>
                    <a:bodyPr/>
                    <a:lstStyle/>
                    <a:p>
                      <a:pPr algn="ctr" fontAlgn="ctr">
                        <a:buNone/>
                      </a:pPr>
                      <a:r>
                        <a:rPr lang="el-GR" sz="2900" b="0" i="0" u="none" strike="noStrike"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χ² </a:t>
                      </a:r>
                      <a:r>
                        <a:rPr lang="en-GB" sz="2900" b="0" i="0" u="none" strike="noStrike"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goodness-of-fit</a:t>
                      </a:r>
                    </a:p>
                  </a:txBody>
                  <a:tcPr marL="7739" marR="7739" marT="7739" marB="0" anchor="ctr"/>
                </a:tc>
                <a:extLst>
                  <a:ext uri="{0D108BD9-81ED-4DB2-BD59-A6C34878D82A}">
                    <a16:rowId xmlns:a16="http://schemas.microsoft.com/office/drawing/2014/main" val="3673612172"/>
                  </a:ext>
                </a:extLst>
              </a:tr>
            </a:tbl>
          </a:graphicData>
        </a:graphic>
      </p:graphicFrame>
      <p:sp>
        <p:nvSpPr>
          <p:cNvPr id="13" name="Rectangle 12">
            <a:extLst>
              <a:ext uri="{FF2B5EF4-FFF2-40B4-BE49-F238E27FC236}">
                <a16:creationId xmlns:a16="http://schemas.microsoft.com/office/drawing/2014/main" id="{39006969-C412-C3FD-DE4B-01C9C796B708}"/>
              </a:ext>
            </a:extLst>
          </p:cNvPr>
          <p:cNvSpPr/>
          <p:nvPr/>
        </p:nvSpPr>
        <p:spPr>
          <a:xfrm>
            <a:off x="4953000" y="3429000"/>
            <a:ext cx="4953000" cy="2786063"/>
          </a:xfrm>
          <a:prstGeom prst="rect">
            <a:avLst/>
          </a:prstGeom>
          <a:solidFill>
            <a:srgbClr val="2F5D5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63" dirty="0"/>
          </a:p>
        </p:txBody>
      </p:sp>
      <p:pic>
        <p:nvPicPr>
          <p:cNvPr id="17" name="Graphic 16" descr="Mining tools outline">
            <a:extLst>
              <a:ext uri="{FF2B5EF4-FFF2-40B4-BE49-F238E27FC236}">
                <a16:creationId xmlns:a16="http://schemas.microsoft.com/office/drawing/2014/main" id="{337FA8AF-53F2-2636-B12F-987BF22AD65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067254" y="3544488"/>
            <a:ext cx="714140" cy="714140"/>
          </a:xfrm>
          <a:prstGeom prst="rect">
            <a:avLst/>
          </a:prstGeom>
        </p:spPr>
      </p:pic>
      <p:graphicFrame>
        <p:nvGraphicFramePr>
          <p:cNvPr id="18" name="Table 17">
            <a:extLst>
              <a:ext uri="{FF2B5EF4-FFF2-40B4-BE49-F238E27FC236}">
                <a16:creationId xmlns:a16="http://schemas.microsoft.com/office/drawing/2014/main" id="{7733EC1E-7C03-D884-6155-2B4A492A0CEB}"/>
              </a:ext>
            </a:extLst>
          </p:cNvPr>
          <p:cNvGraphicFramePr>
            <a:graphicFrameLocks noGrp="1"/>
          </p:cNvGraphicFramePr>
          <p:nvPr>
            <p:extLst>
              <p:ext uri="{D42A27DB-BD31-4B8C-83A1-F6EECF244321}">
                <p14:modId xmlns:p14="http://schemas.microsoft.com/office/powerpoint/2010/main" val="2463082887"/>
              </p:ext>
            </p:extLst>
          </p:nvPr>
        </p:nvGraphicFramePr>
        <p:xfrm>
          <a:off x="5140414" y="4436029"/>
          <a:ext cx="4528642" cy="1427503"/>
        </p:xfrm>
        <a:graphic>
          <a:graphicData uri="http://schemas.openxmlformats.org/drawingml/2006/table">
            <a:tbl>
              <a:tblPr>
                <a:tableStyleId>{5C22544A-7EE6-4342-B048-85BDC9FD1C3A}</a:tableStyleId>
              </a:tblPr>
              <a:tblGrid>
                <a:gridCol w="4528642">
                  <a:extLst>
                    <a:ext uri="{9D8B030D-6E8A-4147-A177-3AD203B41FA5}">
                      <a16:colId xmlns:a16="http://schemas.microsoft.com/office/drawing/2014/main" val="328224983"/>
                    </a:ext>
                  </a:extLst>
                </a:gridCol>
              </a:tblGrid>
              <a:tr h="1427503">
                <a:tc>
                  <a:txBody>
                    <a:bodyPr/>
                    <a:lstStyle/>
                    <a:p>
                      <a:pPr algn="ctr" fontAlgn="ctr">
                        <a:buNone/>
                      </a:pPr>
                      <a:r>
                        <a:rPr lang="en-GB" sz="2900" b="0" i="0" u="none" strike="noStrike"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Welch’s t-test</a:t>
                      </a:r>
                    </a:p>
                  </a:txBody>
                  <a:tcPr marL="7739" marR="7739" marT="7739" marB="0" anchor="ctr"/>
                </a:tc>
                <a:extLst>
                  <a:ext uri="{0D108BD9-81ED-4DB2-BD59-A6C34878D82A}">
                    <a16:rowId xmlns:a16="http://schemas.microsoft.com/office/drawing/2014/main" val="3673612172"/>
                  </a:ext>
                </a:extLst>
              </a:tr>
            </a:tbl>
          </a:graphicData>
        </a:graphic>
      </p:graphicFrame>
    </p:spTree>
    <p:extLst>
      <p:ext uri="{BB962C8B-B14F-4D97-AF65-F5344CB8AC3E}">
        <p14:creationId xmlns:p14="http://schemas.microsoft.com/office/powerpoint/2010/main" val="15086110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452ED8-B582-84DF-D25B-BA0B6FBBCBEC}"/>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EE7DB3DA-53CD-DE39-F31C-0BD326B34E61}"/>
              </a:ext>
            </a:extLst>
          </p:cNvPr>
          <p:cNvSpPr/>
          <p:nvPr/>
        </p:nvSpPr>
        <p:spPr>
          <a:xfrm>
            <a:off x="0" y="642937"/>
            <a:ext cx="4953000" cy="2786063"/>
          </a:xfrm>
          <a:prstGeom prst="rect">
            <a:avLst/>
          </a:prstGeom>
          <a:solidFill>
            <a:srgbClr val="2F5D5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63" dirty="0"/>
          </a:p>
        </p:txBody>
      </p:sp>
      <p:pic>
        <p:nvPicPr>
          <p:cNvPr id="3" name="Graphic 2" descr="Mining tools outline">
            <a:extLst>
              <a:ext uri="{FF2B5EF4-FFF2-40B4-BE49-F238E27FC236}">
                <a16:creationId xmlns:a16="http://schemas.microsoft.com/office/drawing/2014/main" id="{50963382-D62B-A162-1B71-B39BC75DAA2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4254" y="758426"/>
            <a:ext cx="714140" cy="714140"/>
          </a:xfrm>
          <a:prstGeom prst="rect">
            <a:avLst/>
          </a:prstGeom>
        </p:spPr>
      </p:pic>
      <p:graphicFrame>
        <p:nvGraphicFramePr>
          <p:cNvPr id="4" name="Table 3">
            <a:extLst>
              <a:ext uri="{FF2B5EF4-FFF2-40B4-BE49-F238E27FC236}">
                <a16:creationId xmlns:a16="http://schemas.microsoft.com/office/drawing/2014/main" id="{9C6BE8DA-264A-40D3-3270-9C7B977EAD97}"/>
              </a:ext>
            </a:extLst>
          </p:cNvPr>
          <p:cNvGraphicFramePr>
            <a:graphicFrameLocks noGrp="1"/>
          </p:cNvGraphicFramePr>
          <p:nvPr>
            <p:extLst>
              <p:ext uri="{D42A27DB-BD31-4B8C-83A1-F6EECF244321}">
                <p14:modId xmlns:p14="http://schemas.microsoft.com/office/powerpoint/2010/main" val="119870923"/>
              </p:ext>
            </p:extLst>
          </p:nvPr>
        </p:nvGraphicFramePr>
        <p:xfrm>
          <a:off x="187414" y="1649967"/>
          <a:ext cx="4528642" cy="1427503"/>
        </p:xfrm>
        <a:graphic>
          <a:graphicData uri="http://schemas.openxmlformats.org/drawingml/2006/table">
            <a:tbl>
              <a:tblPr>
                <a:tableStyleId>{5C22544A-7EE6-4342-B048-85BDC9FD1C3A}</a:tableStyleId>
              </a:tblPr>
              <a:tblGrid>
                <a:gridCol w="4528642">
                  <a:extLst>
                    <a:ext uri="{9D8B030D-6E8A-4147-A177-3AD203B41FA5}">
                      <a16:colId xmlns:a16="http://schemas.microsoft.com/office/drawing/2014/main" val="328224983"/>
                    </a:ext>
                  </a:extLst>
                </a:gridCol>
              </a:tblGrid>
              <a:tr h="1427503">
                <a:tc>
                  <a:txBody>
                    <a:bodyPr/>
                    <a:lstStyle/>
                    <a:p>
                      <a:pPr algn="ctr" fontAlgn="ctr">
                        <a:buNone/>
                      </a:pPr>
                      <a:r>
                        <a:rPr lang="en-GB" sz="2900" b="0" i="0" u="none" strike="noStrike"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Mann–Whitney U</a:t>
                      </a:r>
                    </a:p>
                  </a:txBody>
                  <a:tcPr marL="7739" marR="7739" marT="7739" marB="0" anchor="ctr"/>
                </a:tc>
                <a:extLst>
                  <a:ext uri="{0D108BD9-81ED-4DB2-BD59-A6C34878D82A}">
                    <a16:rowId xmlns:a16="http://schemas.microsoft.com/office/drawing/2014/main" val="3673612172"/>
                  </a:ext>
                </a:extLst>
              </a:tr>
            </a:tbl>
          </a:graphicData>
        </a:graphic>
      </p:graphicFrame>
      <p:sp>
        <p:nvSpPr>
          <p:cNvPr id="5" name="Rectangle 4">
            <a:extLst>
              <a:ext uri="{FF2B5EF4-FFF2-40B4-BE49-F238E27FC236}">
                <a16:creationId xmlns:a16="http://schemas.microsoft.com/office/drawing/2014/main" id="{E7CE1FD6-6982-E65E-6EE9-9C35E900DF8A}"/>
              </a:ext>
            </a:extLst>
          </p:cNvPr>
          <p:cNvSpPr/>
          <p:nvPr/>
        </p:nvSpPr>
        <p:spPr>
          <a:xfrm>
            <a:off x="0" y="3429000"/>
            <a:ext cx="4953000" cy="2786063"/>
          </a:xfrm>
          <a:prstGeom prst="rect">
            <a:avLst/>
          </a:prstGeom>
          <a:solidFill>
            <a:srgbClr val="2F5D5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63" dirty="0"/>
          </a:p>
        </p:txBody>
      </p:sp>
      <p:pic>
        <p:nvPicPr>
          <p:cNvPr id="6" name="Graphic 5" descr="Mining tools outline">
            <a:extLst>
              <a:ext uri="{FF2B5EF4-FFF2-40B4-BE49-F238E27FC236}">
                <a16:creationId xmlns:a16="http://schemas.microsoft.com/office/drawing/2014/main" id="{F361CB38-16A4-553E-DFD2-2D9B0F752E6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4254" y="3544488"/>
            <a:ext cx="714140" cy="714140"/>
          </a:xfrm>
          <a:prstGeom prst="rect">
            <a:avLst/>
          </a:prstGeom>
        </p:spPr>
      </p:pic>
      <p:graphicFrame>
        <p:nvGraphicFramePr>
          <p:cNvPr id="8" name="Table 7">
            <a:extLst>
              <a:ext uri="{FF2B5EF4-FFF2-40B4-BE49-F238E27FC236}">
                <a16:creationId xmlns:a16="http://schemas.microsoft.com/office/drawing/2014/main" id="{5C720550-AB81-068D-E4C2-427D7AF45A5A}"/>
              </a:ext>
            </a:extLst>
          </p:cNvPr>
          <p:cNvGraphicFramePr>
            <a:graphicFrameLocks noGrp="1"/>
          </p:cNvGraphicFramePr>
          <p:nvPr>
            <p:extLst>
              <p:ext uri="{D42A27DB-BD31-4B8C-83A1-F6EECF244321}">
                <p14:modId xmlns:p14="http://schemas.microsoft.com/office/powerpoint/2010/main" val="2331354762"/>
              </p:ext>
            </p:extLst>
          </p:nvPr>
        </p:nvGraphicFramePr>
        <p:xfrm>
          <a:off x="187414" y="4436029"/>
          <a:ext cx="4528642" cy="1427503"/>
        </p:xfrm>
        <a:graphic>
          <a:graphicData uri="http://schemas.openxmlformats.org/drawingml/2006/table">
            <a:tbl>
              <a:tblPr>
                <a:tableStyleId>{5C22544A-7EE6-4342-B048-85BDC9FD1C3A}</a:tableStyleId>
              </a:tblPr>
              <a:tblGrid>
                <a:gridCol w="4528642">
                  <a:extLst>
                    <a:ext uri="{9D8B030D-6E8A-4147-A177-3AD203B41FA5}">
                      <a16:colId xmlns:a16="http://schemas.microsoft.com/office/drawing/2014/main" val="328224983"/>
                    </a:ext>
                  </a:extLst>
                </a:gridCol>
              </a:tblGrid>
              <a:tr h="1427503">
                <a:tc>
                  <a:txBody>
                    <a:bodyPr/>
                    <a:lstStyle/>
                    <a:p>
                      <a:pPr algn="ctr" fontAlgn="ctr">
                        <a:buNone/>
                      </a:pPr>
                      <a:r>
                        <a:rPr lang="en-GB" sz="2900" b="0" i="0" u="none" strike="noStrike"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Paired t-test </a:t>
                      </a:r>
                    </a:p>
                    <a:p>
                      <a:pPr algn="ctr" fontAlgn="ctr">
                        <a:buNone/>
                      </a:pPr>
                      <a:r>
                        <a:rPr lang="en-GB" sz="2300" b="0" i="0" u="none" strike="noStrike"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(Sign test if non-normal)</a:t>
                      </a:r>
                      <a:endParaRPr lang="en-GB" sz="2900" b="0" i="0" u="none" strike="noStrike"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endParaRPr>
                    </a:p>
                  </a:txBody>
                  <a:tcPr marL="7739" marR="7739" marT="7739" marB="0" anchor="ctr"/>
                </a:tc>
                <a:extLst>
                  <a:ext uri="{0D108BD9-81ED-4DB2-BD59-A6C34878D82A}">
                    <a16:rowId xmlns:a16="http://schemas.microsoft.com/office/drawing/2014/main" val="3673612172"/>
                  </a:ext>
                </a:extLst>
              </a:tr>
            </a:tbl>
          </a:graphicData>
        </a:graphic>
      </p:graphicFrame>
      <p:sp>
        <p:nvSpPr>
          <p:cNvPr id="9" name="Rectangle 8">
            <a:extLst>
              <a:ext uri="{FF2B5EF4-FFF2-40B4-BE49-F238E27FC236}">
                <a16:creationId xmlns:a16="http://schemas.microsoft.com/office/drawing/2014/main" id="{7CA05450-E586-48C6-E158-88910699AE5E}"/>
              </a:ext>
            </a:extLst>
          </p:cNvPr>
          <p:cNvSpPr/>
          <p:nvPr/>
        </p:nvSpPr>
        <p:spPr>
          <a:xfrm>
            <a:off x="4953000" y="642937"/>
            <a:ext cx="4953000" cy="2786063"/>
          </a:xfrm>
          <a:prstGeom prst="rect">
            <a:avLst/>
          </a:prstGeom>
          <a:solidFill>
            <a:srgbClr val="2F5D5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63" dirty="0"/>
          </a:p>
        </p:txBody>
      </p:sp>
      <p:pic>
        <p:nvPicPr>
          <p:cNvPr id="11" name="Graphic 10" descr="Mining tools outline">
            <a:extLst>
              <a:ext uri="{FF2B5EF4-FFF2-40B4-BE49-F238E27FC236}">
                <a16:creationId xmlns:a16="http://schemas.microsoft.com/office/drawing/2014/main" id="{F4247B90-601E-B454-030E-579639B2C4A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067254" y="758426"/>
            <a:ext cx="714140" cy="714140"/>
          </a:xfrm>
          <a:prstGeom prst="rect">
            <a:avLst/>
          </a:prstGeom>
        </p:spPr>
      </p:pic>
      <p:graphicFrame>
        <p:nvGraphicFramePr>
          <p:cNvPr id="12" name="Table 11">
            <a:extLst>
              <a:ext uri="{FF2B5EF4-FFF2-40B4-BE49-F238E27FC236}">
                <a16:creationId xmlns:a16="http://schemas.microsoft.com/office/drawing/2014/main" id="{FEFEACEB-646C-D99C-CD19-4519052E6366}"/>
              </a:ext>
            </a:extLst>
          </p:cNvPr>
          <p:cNvGraphicFramePr>
            <a:graphicFrameLocks noGrp="1"/>
          </p:cNvGraphicFramePr>
          <p:nvPr>
            <p:extLst>
              <p:ext uri="{D42A27DB-BD31-4B8C-83A1-F6EECF244321}">
                <p14:modId xmlns:p14="http://schemas.microsoft.com/office/powerpoint/2010/main" val="3794243056"/>
              </p:ext>
            </p:extLst>
          </p:nvPr>
        </p:nvGraphicFramePr>
        <p:xfrm>
          <a:off x="5140414" y="1649967"/>
          <a:ext cx="4528642" cy="1427503"/>
        </p:xfrm>
        <a:graphic>
          <a:graphicData uri="http://schemas.openxmlformats.org/drawingml/2006/table">
            <a:tbl>
              <a:tblPr>
                <a:tableStyleId>{5C22544A-7EE6-4342-B048-85BDC9FD1C3A}</a:tableStyleId>
              </a:tblPr>
              <a:tblGrid>
                <a:gridCol w="4528642">
                  <a:extLst>
                    <a:ext uri="{9D8B030D-6E8A-4147-A177-3AD203B41FA5}">
                      <a16:colId xmlns:a16="http://schemas.microsoft.com/office/drawing/2014/main" val="328224983"/>
                    </a:ext>
                  </a:extLst>
                </a:gridCol>
              </a:tblGrid>
              <a:tr h="1427503">
                <a:tc>
                  <a:txBody>
                    <a:bodyPr/>
                    <a:lstStyle/>
                    <a:p>
                      <a:pPr algn="ctr" fontAlgn="ctr">
                        <a:buNone/>
                      </a:pPr>
                      <a:r>
                        <a:rPr lang="en-GB" sz="2900" b="0" i="0" u="none" strike="noStrike"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χ² test of independence + OR/RR</a:t>
                      </a:r>
                    </a:p>
                  </a:txBody>
                  <a:tcPr marL="7739" marR="7739" marT="7739" marB="0" anchor="ctr"/>
                </a:tc>
                <a:extLst>
                  <a:ext uri="{0D108BD9-81ED-4DB2-BD59-A6C34878D82A}">
                    <a16:rowId xmlns:a16="http://schemas.microsoft.com/office/drawing/2014/main" val="3673612172"/>
                  </a:ext>
                </a:extLst>
              </a:tr>
            </a:tbl>
          </a:graphicData>
        </a:graphic>
      </p:graphicFrame>
      <p:sp>
        <p:nvSpPr>
          <p:cNvPr id="13" name="Rectangle 12">
            <a:extLst>
              <a:ext uri="{FF2B5EF4-FFF2-40B4-BE49-F238E27FC236}">
                <a16:creationId xmlns:a16="http://schemas.microsoft.com/office/drawing/2014/main" id="{EF6F54FC-7CFF-9E9C-4540-B07B3E9AE0FD}"/>
              </a:ext>
            </a:extLst>
          </p:cNvPr>
          <p:cNvSpPr/>
          <p:nvPr/>
        </p:nvSpPr>
        <p:spPr>
          <a:xfrm>
            <a:off x="4953000" y="3429000"/>
            <a:ext cx="4953000" cy="2786063"/>
          </a:xfrm>
          <a:prstGeom prst="rect">
            <a:avLst/>
          </a:prstGeom>
          <a:solidFill>
            <a:srgbClr val="2F5D5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63" dirty="0"/>
          </a:p>
        </p:txBody>
      </p:sp>
      <p:pic>
        <p:nvPicPr>
          <p:cNvPr id="17" name="Graphic 16" descr="Mining tools outline">
            <a:extLst>
              <a:ext uri="{FF2B5EF4-FFF2-40B4-BE49-F238E27FC236}">
                <a16:creationId xmlns:a16="http://schemas.microsoft.com/office/drawing/2014/main" id="{93DDC396-179A-AE63-8DF4-D15CCDBA318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067254" y="3544488"/>
            <a:ext cx="714140" cy="714140"/>
          </a:xfrm>
          <a:prstGeom prst="rect">
            <a:avLst/>
          </a:prstGeom>
        </p:spPr>
      </p:pic>
      <p:graphicFrame>
        <p:nvGraphicFramePr>
          <p:cNvPr id="18" name="Table 17">
            <a:extLst>
              <a:ext uri="{FF2B5EF4-FFF2-40B4-BE49-F238E27FC236}">
                <a16:creationId xmlns:a16="http://schemas.microsoft.com/office/drawing/2014/main" id="{878BD553-54C0-738E-03DE-649A8986AFB0}"/>
              </a:ext>
            </a:extLst>
          </p:cNvPr>
          <p:cNvGraphicFramePr>
            <a:graphicFrameLocks noGrp="1"/>
          </p:cNvGraphicFramePr>
          <p:nvPr>
            <p:extLst>
              <p:ext uri="{D42A27DB-BD31-4B8C-83A1-F6EECF244321}">
                <p14:modId xmlns:p14="http://schemas.microsoft.com/office/powerpoint/2010/main" val="1928762376"/>
              </p:ext>
            </p:extLst>
          </p:nvPr>
        </p:nvGraphicFramePr>
        <p:xfrm>
          <a:off x="5140414" y="4436029"/>
          <a:ext cx="4528642" cy="1427503"/>
        </p:xfrm>
        <a:graphic>
          <a:graphicData uri="http://schemas.openxmlformats.org/drawingml/2006/table">
            <a:tbl>
              <a:tblPr>
                <a:tableStyleId>{5C22544A-7EE6-4342-B048-85BDC9FD1C3A}</a:tableStyleId>
              </a:tblPr>
              <a:tblGrid>
                <a:gridCol w="4528642">
                  <a:extLst>
                    <a:ext uri="{9D8B030D-6E8A-4147-A177-3AD203B41FA5}">
                      <a16:colId xmlns:a16="http://schemas.microsoft.com/office/drawing/2014/main" val="328224983"/>
                    </a:ext>
                  </a:extLst>
                </a:gridCol>
              </a:tblGrid>
              <a:tr h="1427503">
                <a:tc>
                  <a:txBody>
                    <a:bodyPr/>
                    <a:lstStyle/>
                    <a:p>
                      <a:pPr algn="ctr" fontAlgn="ctr">
                        <a:buNone/>
                      </a:pPr>
                      <a:r>
                        <a:rPr lang="en-GB" sz="2900" b="0" i="0" u="none" strike="noStrike"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ANOVA / Linear Model</a:t>
                      </a:r>
                    </a:p>
                    <a:p>
                      <a:pPr algn="ctr" fontAlgn="ctr">
                        <a:buNone/>
                      </a:pPr>
                      <a:r>
                        <a:rPr lang="en-GB" sz="2300" b="0" i="0" u="none" strike="noStrike"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(Kruskal–Wallis if non-normal)</a:t>
                      </a:r>
                      <a:endParaRPr lang="en-GB" sz="2900" b="0" i="0" u="none" strike="noStrike"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endParaRPr>
                    </a:p>
                  </a:txBody>
                  <a:tcPr marL="7739" marR="7739" marT="7739" marB="0" anchor="ctr"/>
                </a:tc>
                <a:extLst>
                  <a:ext uri="{0D108BD9-81ED-4DB2-BD59-A6C34878D82A}">
                    <a16:rowId xmlns:a16="http://schemas.microsoft.com/office/drawing/2014/main" val="3673612172"/>
                  </a:ext>
                </a:extLst>
              </a:tr>
            </a:tbl>
          </a:graphicData>
        </a:graphic>
      </p:graphicFrame>
    </p:spTree>
    <p:extLst>
      <p:ext uri="{BB962C8B-B14F-4D97-AF65-F5344CB8AC3E}">
        <p14:creationId xmlns:p14="http://schemas.microsoft.com/office/powerpoint/2010/main" val="30662507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C00098-79AB-E28B-51C0-E30A8A1276C4}"/>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AEDB4387-2FBA-3D72-8A04-FF82CA02008E}"/>
              </a:ext>
            </a:extLst>
          </p:cNvPr>
          <p:cNvSpPr/>
          <p:nvPr/>
        </p:nvSpPr>
        <p:spPr>
          <a:xfrm>
            <a:off x="0" y="642937"/>
            <a:ext cx="4953000" cy="2786063"/>
          </a:xfrm>
          <a:prstGeom prst="rect">
            <a:avLst/>
          </a:prstGeom>
          <a:solidFill>
            <a:srgbClr val="2F5D5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63" dirty="0"/>
          </a:p>
        </p:txBody>
      </p:sp>
      <p:pic>
        <p:nvPicPr>
          <p:cNvPr id="3" name="Graphic 2" descr="Mining tools outline">
            <a:extLst>
              <a:ext uri="{FF2B5EF4-FFF2-40B4-BE49-F238E27FC236}">
                <a16:creationId xmlns:a16="http://schemas.microsoft.com/office/drawing/2014/main" id="{71E907CA-2DA8-9317-CF44-F3904EB7333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4254" y="758426"/>
            <a:ext cx="714140" cy="714140"/>
          </a:xfrm>
          <a:prstGeom prst="rect">
            <a:avLst/>
          </a:prstGeom>
        </p:spPr>
      </p:pic>
      <p:graphicFrame>
        <p:nvGraphicFramePr>
          <p:cNvPr id="4" name="Table 3">
            <a:extLst>
              <a:ext uri="{FF2B5EF4-FFF2-40B4-BE49-F238E27FC236}">
                <a16:creationId xmlns:a16="http://schemas.microsoft.com/office/drawing/2014/main" id="{0E42C6B5-B829-1D23-440A-D28E4DB7C483}"/>
              </a:ext>
            </a:extLst>
          </p:cNvPr>
          <p:cNvGraphicFramePr>
            <a:graphicFrameLocks noGrp="1"/>
          </p:cNvGraphicFramePr>
          <p:nvPr>
            <p:extLst>
              <p:ext uri="{D42A27DB-BD31-4B8C-83A1-F6EECF244321}">
                <p14:modId xmlns:p14="http://schemas.microsoft.com/office/powerpoint/2010/main" val="793875894"/>
              </p:ext>
            </p:extLst>
          </p:nvPr>
        </p:nvGraphicFramePr>
        <p:xfrm>
          <a:off x="187414" y="1649967"/>
          <a:ext cx="4528642" cy="1427503"/>
        </p:xfrm>
        <a:graphic>
          <a:graphicData uri="http://schemas.openxmlformats.org/drawingml/2006/table">
            <a:tbl>
              <a:tblPr>
                <a:tableStyleId>{5C22544A-7EE6-4342-B048-85BDC9FD1C3A}</a:tableStyleId>
              </a:tblPr>
              <a:tblGrid>
                <a:gridCol w="4528642">
                  <a:extLst>
                    <a:ext uri="{9D8B030D-6E8A-4147-A177-3AD203B41FA5}">
                      <a16:colId xmlns:a16="http://schemas.microsoft.com/office/drawing/2014/main" val="328224983"/>
                    </a:ext>
                  </a:extLst>
                </a:gridCol>
              </a:tblGrid>
              <a:tr h="1427503">
                <a:tc>
                  <a:txBody>
                    <a:bodyPr/>
                    <a:lstStyle/>
                    <a:p>
                      <a:pPr algn="ctr" fontAlgn="ctr">
                        <a:buNone/>
                      </a:pPr>
                      <a:r>
                        <a:rPr lang="en-GB" sz="2900" b="0" i="0" u="none" strike="noStrike"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Binomial formula </a:t>
                      </a:r>
                      <a:r>
                        <a:rPr lang="en-GB" sz="2600" b="0" i="1" u="none" strike="noStrike"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exact probability</a:t>
                      </a:r>
                      <a:endParaRPr lang="en-GB" sz="2900" b="0" i="1" u="none" strike="noStrike"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endParaRPr>
                    </a:p>
                  </a:txBody>
                  <a:tcPr marL="7739" marR="7739" marT="7739" marB="0" anchor="ctr"/>
                </a:tc>
                <a:extLst>
                  <a:ext uri="{0D108BD9-81ED-4DB2-BD59-A6C34878D82A}">
                    <a16:rowId xmlns:a16="http://schemas.microsoft.com/office/drawing/2014/main" val="3673612172"/>
                  </a:ext>
                </a:extLst>
              </a:tr>
            </a:tbl>
          </a:graphicData>
        </a:graphic>
      </p:graphicFrame>
      <p:sp>
        <p:nvSpPr>
          <p:cNvPr id="5" name="Rectangle 4">
            <a:extLst>
              <a:ext uri="{FF2B5EF4-FFF2-40B4-BE49-F238E27FC236}">
                <a16:creationId xmlns:a16="http://schemas.microsoft.com/office/drawing/2014/main" id="{41EBED50-3530-942D-2556-9656104291D5}"/>
              </a:ext>
            </a:extLst>
          </p:cNvPr>
          <p:cNvSpPr/>
          <p:nvPr/>
        </p:nvSpPr>
        <p:spPr>
          <a:xfrm>
            <a:off x="0" y="3429000"/>
            <a:ext cx="4953000" cy="2786063"/>
          </a:xfrm>
          <a:prstGeom prst="rect">
            <a:avLst/>
          </a:prstGeom>
          <a:solidFill>
            <a:srgbClr val="2F5D5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63" dirty="0"/>
          </a:p>
        </p:txBody>
      </p:sp>
      <p:pic>
        <p:nvPicPr>
          <p:cNvPr id="6" name="Graphic 5" descr="Mining tools outline">
            <a:extLst>
              <a:ext uri="{FF2B5EF4-FFF2-40B4-BE49-F238E27FC236}">
                <a16:creationId xmlns:a16="http://schemas.microsoft.com/office/drawing/2014/main" id="{179C2E3A-600F-B072-49A9-C36C47129D4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4254" y="3544488"/>
            <a:ext cx="714140" cy="714140"/>
          </a:xfrm>
          <a:prstGeom prst="rect">
            <a:avLst/>
          </a:prstGeom>
        </p:spPr>
      </p:pic>
      <p:graphicFrame>
        <p:nvGraphicFramePr>
          <p:cNvPr id="8" name="Table 7">
            <a:extLst>
              <a:ext uri="{FF2B5EF4-FFF2-40B4-BE49-F238E27FC236}">
                <a16:creationId xmlns:a16="http://schemas.microsoft.com/office/drawing/2014/main" id="{5D9A7744-F37B-3EFE-05A2-EA7F6D7A8D3B}"/>
              </a:ext>
            </a:extLst>
          </p:cNvPr>
          <p:cNvGraphicFramePr>
            <a:graphicFrameLocks noGrp="1"/>
          </p:cNvGraphicFramePr>
          <p:nvPr>
            <p:extLst>
              <p:ext uri="{D42A27DB-BD31-4B8C-83A1-F6EECF244321}">
                <p14:modId xmlns:p14="http://schemas.microsoft.com/office/powerpoint/2010/main" val="3259918890"/>
              </p:ext>
            </p:extLst>
          </p:nvPr>
        </p:nvGraphicFramePr>
        <p:xfrm>
          <a:off x="187414" y="4436029"/>
          <a:ext cx="4528642" cy="1427503"/>
        </p:xfrm>
        <a:graphic>
          <a:graphicData uri="http://schemas.openxmlformats.org/drawingml/2006/table">
            <a:tbl>
              <a:tblPr>
                <a:tableStyleId>{5C22544A-7EE6-4342-B048-85BDC9FD1C3A}</a:tableStyleId>
              </a:tblPr>
              <a:tblGrid>
                <a:gridCol w="4528642">
                  <a:extLst>
                    <a:ext uri="{9D8B030D-6E8A-4147-A177-3AD203B41FA5}">
                      <a16:colId xmlns:a16="http://schemas.microsoft.com/office/drawing/2014/main" val="328224983"/>
                    </a:ext>
                  </a:extLst>
                </a:gridCol>
              </a:tblGrid>
              <a:tr h="1427503">
                <a:tc>
                  <a:txBody>
                    <a:bodyPr/>
                    <a:lstStyle/>
                    <a:p>
                      <a:pPr algn="ctr" fontAlgn="ctr">
                        <a:buNone/>
                      </a:pPr>
                      <a:r>
                        <a:rPr lang="en-GB" sz="2900" b="0" i="0" u="none" strike="noStrike"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Simple addition </a:t>
                      </a:r>
                      <a:r>
                        <a:rPr lang="en-GB" sz="2600" b="0" i="1" u="none" strike="noStrike"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combined probability</a:t>
                      </a:r>
                      <a:endParaRPr lang="en-GB" sz="2900" b="0" i="1" u="none" strike="noStrike"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endParaRPr>
                    </a:p>
                  </a:txBody>
                  <a:tcPr marL="7739" marR="7739" marT="7739" marB="0" anchor="ctr"/>
                </a:tc>
                <a:extLst>
                  <a:ext uri="{0D108BD9-81ED-4DB2-BD59-A6C34878D82A}">
                    <a16:rowId xmlns:a16="http://schemas.microsoft.com/office/drawing/2014/main" val="3673612172"/>
                  </a:ext>
                </a:extLst>
              </a:tr>
            </a:tbl>
          </a:graphicData>
        </a:graphic>
      </p:graphicFrame>
      <p:sp>
        <p:nvSpPr>
          <p:cNvPr id="9" name="Rectangle 8">
            <a:extLst>
              <a:ext uri="{FF2B5EF4-FFF2-40B4-BE49-F238E27FC236}">
                <a16:creationId xmlns:a16="http://schemas.microsoft.com/office/drawing/2014/main" id="{BEA4FEC4-61D8-28DD-D679-0FA366D7198A}"/>
              </a:ext>
            </a:extLst>
          </p:cNvPr>
          <p:cNvSpPr/>
          <p:nvPr/>
        </p:nvSpPr>
        <p:spPr>
          <a:xfrm>
            <a:off x="4953000" y="642937"/>
            <a:ext cx="4953000" cy="2786063"/>
          </a:xfrm>
          <a:prstGeom prst="rect">
            <a:avLst/>
          </a:prstGeom>
          <a:solidFill>
            <a:srgbClr val="2F5D5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63" dirty="0"/>
          </a:p>
        </p:txBody>
      </p:sp>
      <p:pic>
        <p:nvPicPr>
          <p:cNvPr id="11" name="Graphic 10" descr="Mining tools outline">
            <a:extLst>
              <a:ext uri="{FF2B5EF4-FFF2-40B4-BE49-F238E27FC236}">
                <a16:creationId xmlns:a16="http://schemas.microsoft.com/office/drawing/2014/main" id="{D4E0B283-D1F5-E116-794A-1568EC27B77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067254" y="758426"/>
            <a:ext cx="714140" cy="714140"/>
          </a:xfrm>
          <a:prstGeom prst="rect">
            <a:avLst/>
          </a:prstGeom>
        </p:spPr>
      </p:pic>
      <p:graphicFrame>
        <p:nvGraphicFramePr>
          <p:cNvPr id="12" name="Table 11">
            <a:extLst>
              <a:ext uri="{FF2B5EF4-FFF2-40B4-BE49-F238E27FC236}">
                <a16:creationId xmlns:a16="http://schemas.microsoft.com/office/drawing/2014/main" id="{AC82694B-DCC4-09C5-B223-29F483E36016}"/>
              </a:ext>
            </a:extLst>
          </p:cNvPr>
          <p:cNvGraphicFramePr>
            <a:graphicFrameLocks noGrp="1"/>
          </p:cNvGraphicFramePr>
          <p:nvPr>
            <p:extLst>
              <p:ext uri="{D42A27DB-BD31-4B8C-83A1-F6EECF244321}">
                <p14:modId xmlns:p14="http://schemas.microsoft.com/office/powerpoint/2010/main" val="1816182241"/>
              </p:ext>
            </p:extLst>
          </p:nvPr>
        </p:nvGraphicFramePr>
        <p:xfrm>
          <a:off x="5140414" y="1649967"/>
          <a:ext cx="4528642" cy="1427503"/>
        </p:xfrm>
        <a:graphic>
          <a:graphicData uri="http://schemas.openxmlformats.org/drawingml/2006/table">
            <a:tbl>
              <a:tblPr>
                <a:tableStyleId>{5C22544A-7EE6-4342-B048-85BDC9FD1C3A}</a:tableStyleId>
              </a:tblPr>
              <a:tblGrid>
                <a:gridCol w="4528642">
                  <a:extLst>
                    <a:ext uri="{9D8B030D-6E8A-4147-A177-3AD203B41FA5}">
                      <a16:colId xmlns:a16="http://schemas.microsoft.com/office/drawing/2014/main" val="328224983"/>
                    </a:ext>
                  </a:extLst>
                </a:gridCol>
              </a:tblGrid>
              <a:tr h="1427503">
                <a:tc>
                  <a:txBody>
                    <a:bodyPr/>
                    <a:lstStyle/>
                    <a:p>
                      <a:pPr algn="ctr" fontAlgn="ctr">
                        <a:buNone/>
                      </a:pPr>
                      <a:r>
                        <a:rPr lang="en-GB" sz="2900" b="0" i="0" u="none" strike="noStrike"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Conditional probability</a:t>
                      </a:r>
                    </a:p>
                  </a:txBody>
                  <a:tcPr marL="7739" marR="7739" marT="7739" marB="0" anchor="ctr"/>
                </a:tc>
                <a:extLst>
                  <a:ext uri="{0D108BD9-81ED-4DB2-BD59-A6C34878D82A}">
                    <a16:rowId xmlns:a16="http://schemas.microsoft.com/office/drawing/2014/main" val="3673612172"/>
                  </a:ext>
                </a:extLst>
              </a:tr>
            </a:tbl>
          </a:graphicData>
        </a:graphic>
      </p:graphicFrame>
      <p:sp>
        <p:nvSpPr>
          <p:cNvPr id="13" name="Rectangle 12">
            <a:extLst>
              <a:ext uri="{FF2B5EF4-FFF2-40B4-BE49-F238E27FC236}">
                <a16:creationId xmlns:a16="http://schemas.microsoft.com/office/drawing/2014/main" id="{70DF8C22-1197-CB59-7135-4BC22177B85B}"/>
              </a:ext>
            </a:extLst>
          </p:cNvPr>
          <p:cNvSpPr/>
          <p:nvPr/>
        </p:nvSpPr>
        <p:spPr>
          <a:xfrm>
            <a:off x="4953000" y="3429000"/>
            <a:ext cx="4953000" cy="2786063"/>
          </a:xfrm>
          <a:prstGeom prst="rect">
            <a:avLst/>
          </a:prstGeom>
          <a:solidFill>
            <a:srgbClr val="2F5D5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63" dirty="0"/>
          </a:p>
        </p:txBody>
      </p:sp>
      <p:pic>
        <p:nvPicPr>
          <p:cNvPr id="17" name="Graphic 16" descr="Mining tools outline">
            <a:extLst>
              <a:ext uri="{FF2B5EF4-FFF2-40B4-BE49-F238E27FC236}">
                <a16:creationId xmlns:a16="http://schemas.microsoft.com/office/drawing/2014/main" id="{05412A47-EB23-14D4-BE31-EE4D98DD1D0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067254" y="3544488"/>
            <a:ext cx="714140" cy="714140"/>
          </a:xfrm>
          <a:prstGeom prst="rect">
            <a:avLst/>
          </a:prstGeom>
        </p:spPr>
      </p:pic>
      <p:graphicFrame>
        <p:nvGraphicFramePr>
          <p:cNvPr id="18" name="Table 17">
            <a:extLst>
              <a:ext uri="{FF2B5EF4-FFF2-40B4-BE49-F238E27FC236}">
                <a16:creationId xmlns:a16="http://schemas.microsoft.com/office/drawing/2014/main" id="{B184EE99-9236-2A5D-F475-57B8A55B7044}"/>
              </a:ext>
            </a:extLst>
          </p:cNvPr>
          <p:cNvGraphicFramePr>
            <a:graphicFrameLocks noGrp="1"/>
          </p:cNvGraphicFramePr>
          <p:nvPr>
            <p:extLst>
              <p:ext uri="{D42A27DB-BD31-4B8C-83A1-F6EECF244321}">
                <p14:modId xmlns:p14="http://schemas.microsoft.com/office/powerpoint/2010/main" val="1043373360"/>
              </p:ext>
            </p:extLst>
          </p:nvPr>
        </p:nvGraphicFramePr>
        <p:xfrm>
          <a:off x="5140414" y="4436029"/>
          <a:ext cx="4528642" cy="1427503"/>
        </p:xfrm>
        <a:graphic>
          <a:graphicData uri="http://schemas.openxmlformats.org/drawingml/2006/table">
            <a:tbl>
              <a:tblPr>
                <a:tableStyleId>{5C22544A-7EE6-4342-B048-85BDC9FD1C3A}</a:tableStyleId>
              </a:tblPr>
              <a:tblGrid>
                <a:gridCol w="4528642">
                  <a:extLst>
                    <a:ext uri="{9D8B030D-6E8A-4147-A177-3AD203B41FA5}">
                      <a16:colId xmlns:a16="http://schemas.microsoft.com/office/drawing/2014/main" val="328224983"/>
                    </a:ext>
                  </a:extLst>
                </a:gridCol>
              </a:tblGrid>
              <a:tr h="1427503">
                <a:tc>
                  <a:txBody>
                    <a:bodyPr/>
                    <a:lstStyle/>
                    <a:p>
                      <a:pPr algn="ctr" fontAlgn="ctr">
                        <a:buNone/>
                      </a:pPr>
                      <a:r>
                        <a:rPr lang="en-GB" sz="2900" b="0" i="0" u="none" strike="noStrike"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Product rule</a:t>
                      </a:r>
                    </a:p>
                    <a:p>
                      <a:pPr algn="ctr" fontAlgn="ctr">
                        <a:buNone/>
                      </a:pPr>
                      <a:r>
                        <a:rPr lang="en-GB" sz="2900" b="0" i="1" u="none" strike="noStrike"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joint probability</a:t>
                      </a:r>
                    </a:p>
                  </a:txBody>
                  <a:tcPr marL="7739" marR="7739" marT="7739" marB="0" anchor="ctr"/>
                </a:tc>
                <a:extLst>
                  <a:ext uri="{0D108BD9-81ED-4DB2-BD59-A6C34878D82A}">
                    <a16:rowId xmlns:a16="http://schemas.microsoft.com/office/drawing/2014/main" val="3673612172"/>
                  </a:ext>
                </a:extLst>
              </a:tr>
            </a:tbl>
          </a:graphicData>
        </a:graphic>
      </p:graphicFrame>
    </p:spTree>
    <p:extLst>
      <p:ext uri="{BB962C8B-B14F-4D97-AF65-F5344CB8AC3E}">
        <p14:creationId xmlns:p14="http://schemas.microsoft.com/office/powerpoint/2010/main" val="2822717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E74DA5-7C87-754F-A5E8-A5F6CCCA59FA}"/>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1121EFAA-AA20-7D7A-0FF1-BCB77C09230E}"/>
              </a:ext>
            </a:extLst>
          </p:cNvPr>
          <p:cNvSpPr/>
          <p:nvPr/>
        </p:nvSpPr>
        <p:spPr>
          <a:xfrm>
            <a:off x="0" y="642937"/>
            <a:ext cx="4953000" cy="2786063"/>
          </a:xfrm>
          <a:prstGeom prst="rect">
            <a:avLst/>
          </a:prstGeom>
          <a:solidFill>
            <a:srgbClr val="D9A44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63" dirty="0"/>
          </a:p>
        </p:txBody>
      </p:sp>
      <p:sp>
        <p:nvSpPr>
          <p:cNvPr id="5" name="Rectangle 4">
            <a:extLst>
              <a:ext uri="{FF2B5EF4-FFF2-40B4-BE49-F238E27FC236}">
                <a16:creationId xmlns:a16="http://schemas.microsoft.com/office/drawing/2014/main" id="{1382B839-1605-A2D8-541A-3C049C77FE6D}"/>
              </a:ext>
            </a:extLst>
          </p:cNvPr>
          <p:cNvSpPr/>
          <p:nvPr/>
        </p:nvSpPr>
        <p:spPr>
          <a:xfrm>
            <a:off x="0" y="3429000"/>
            <a:ext cx="4953000" cy="2786063"/>
          </a:xfrm>
          <a:prstGeom prst="rect">
            <a:avLst/>
          </a:prstGeom>
          <a:solidFill>
            <a:srgbClr val="D9A44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63" dirty="0"/>
          </a:p>
        </p:txBody>
      </p:sp>
      <p:sp>
        <p:nvSpPr>
          <p:cNvPr id="9" name="Rectangle 8">
            <a:extLst>
              <a:ext uri="{FF2B5EF4-FFF2-40B4-BE49-F238E27FC236}">
                <a16:creationId xmlns:a16="http://schemas.microsoft.com/office/drawing/2014/main" id="{EAF8AC61-F747-E37F-8F96-326526332DD4}"/>
              </a:ext>
            </a:extLst>
          </p:cNvPr>
          <p:cNvSpPr/>
          <p:nvPr/>
        </p:nvSpPr>
        <p:spPr>
          <a:xfrm>
            <a:off x="4953000" y="642937"/>
            <a:ext cx="4953000" cy="2786063"/>
          </a:xfrm>
          <a:prstGeom prst="rect">
            <a:avLst/>
          </a:prstGeom>
          <a:solidFill>
            <a:srgbClr val="D9A44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63" dirty="0"/>
          </a:p>
        </p:txBody>
      </p:sp>
      <p:sp>
        <p:nvSpPr>
          <p:cNvPr id="13" name="Rectangle 12">
            <a:extLst>
              <a:ext uri="{FF2B5EF4-FFF2-40B4-BE49-F238E27FC236}">
                <a16:creationId xmlns:a16="http://schemas.microsoft.com/office/drawing/2014/main" id="{6E84C6F1-273C-6EDC-6EFB-12200C9A0C7C}"/>
              </a:ext>
            </a:extLst>
          </p:cNvPr>
          <p:cNvSpPr/>
          <p:nvPr/>
        </p:nvSpPr>
        <p:spPr>
          <a:xfrm>
            <a:off x="4953000" y="3429000"/>
            <a:ext cx="4953000" cy="2786063"/>
          </a:xfrm>
          <a:prstGeom prst="rect">
            <a:avLst/>
          </a:prstGeom>
          <a:solidFill>
            <a:srgbClr val="D9A44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63" dirty="0"/>
          </a:p>
        </p:txBody>
      </p:sp>
      <p:pic>
        <p:nvPicPr>
          <p:cNvPr id="7" name="Graphic 6" descr="Bar chart outline">
            <a:extLst>
              <a:ext uri="{FF2B5EF4-FFF2-40B4-BE49-F238E27FC236}">
                <a16:creationId xmlns:a16="http://schemas.microsoft.com/office/drawing/2014/main" id="{265B704F-A38A-4787-2D86-10CE1238226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6200000">
            <a:off x="4086225" y="2562225"/>
            <a:ext cx="866775" cy="866775"/>
          </a:xfrm>
          <a:prstGeom prst="rect">
            <a:avLst/>
          </a:prstGeom>
        </p:spPr>
      </p:pic>
      <p:sp>
        <p:nvSpPr>
          <p:cNvPr id="15" name="TextBox 14">
            <a:extLst>
              <a:ext uri="{FF2B5EF4-FFF2-40B4-BE49-F238E27FC236}">
                <a16:creationId xmlns:a16="http://schemas.microsoft.com/office/drawing/2014/main" id="{BDA49ECB-E9F5-BEA7-876B-DCFFF4907967}"/>
              </a:ext>
            </a:extLst>
          </p:cNvPr>
          <p:cNvSpPr txBox="1"/>
          <p:nvPr/>
        </p:nvSpPr>
        <p:spPr>
          <a:xfrm rot="16200000">
            <a:off x="-726952" y="1714726"/>
            <a:ext cx="2560082" cy="642484"/>
          </a:xfrm>
          <a:prstGeom prst="rect">
            <a:avLst/>
          </a:prstGeom>
          <a:solidFill>
            <a:srgbClr val="E7EAED"/>
          </a:solidFill>
        </p:spPr>
        <p:txBody>
          <a:bodyPr wrap="square">
            <a:spAutoFit/>
          </a:bodyPr>
          <a:lstStyle/>
          <a:p>
            <a:pPr algn="ctr" fontAlgn="ctr">
              <a:buNone/>
            </a:pPr>
            <a:r>
              <a:rPr lang="en-GB" sz="3575" dirty="0">
                <a:solidFill>
                  <a:srgbClr val="000000"/>
                </a:solidFill>
                <a:latin typeface="Cascadia Code" panose="020B0609020000020004" pitchFamily="49" charset="0"/>
                <a:ea typeface="Cascadia Code" panose="020B0609020000020004" pitchFamily="49" charset="0"/>
                <a:cs typeface="Cascadia Code" panose="020B0609020000020004" pitchFamily="49" charset="0"/>
              </a:rPr>
              <a:t>Bar plot</a:t>
            </a:r>
            <a:endParaRPr lang="en-GB" sz="2275" dirty="0">
              <a:solidFill>
                <a:srgbClr val="000000"/>
              </a:solidFill>
              <a:latin typeface="Cascadia Code" panose="020B0609020000020004" pitchFamily="49" charset="0"/>
              <a:ea typeface="Cascadia Code" panose="020B0609020000020004" pitchFamily="49" charset="0"/>
              <a:cs typeface="Cascadia Code" panose="020B0609020000020004" pitchFamily="49" charset="0"/>
            </a:endParaRPr>
          </a:p>
        </p:txBody>
      </p:sp>
      <p:pic>
        <p:nvPicPr>
          <p:cNvPr id="16" name="Graphic 15" descr="Bar chart outline">
            <a:extLst>
              <a:ext uri="{FF2B5EF4-FFF2-40B4-BE49-F238E27FC236}">
                <a16:creationId xmlns:a16="http://schemas.microsoft.com/office/drawing/2014/main" id="{D7BA6532-6ADF-822C-6EEF-9C9D31BC27D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6200000">
            <a:off x="4086226" y="5348288"/>
            <a:ext cx="866775" cy="866775"/>
          </a:xfrm>
          <a:prstGeom prst="rect">
            <a:avLst/>
          </a:prstGeom>
        </p:spPr>
      </p:pic>
      <p:sp>
        <p:nvSpPr>
          <p:cNvPr id="19" name="TextBox 18">
            <a:extLst>
              <a:ext uri="{FF2B5EF4-FFF2-40B4-BE49-F238E27FC236}">
                <a16:creationId xmlns:a16="http://schemas.microsoft.com/office/drawing/2014/main" id="{6F9FE328-3984-21F7-581E-FD359E8B22C3}"/>
              </a:ext>
            </a:extLst>
          </p:cNvPr>
          <p:cNvSpPr txBox="1"/>
          <p:nvPr/>
        </p:nvSpPr>
        <p:spPr>
          <a:xfrm rot="16200000">
            <a:off x="-724863" y="4447417"/>
            <a:ext cx="2555902" cy="809902"/>
          </a:xfrm>
          <a:prstGeom prst="rect">
            <a:avLst/>
          </a:prstGeom>
          <a:solidFill>
            <a:srgbClr val="E7EAED"/>
          </a:solidFill>
        </p:spPr>
        <p:txBody>
          <a:bodyPr wrap="square">
            <a:spAutoFit/>
          </a:bodyPr>
          <a:lstStyle/>
          <a:p>
            <a:pPr algn="ctr" fontAlgn="ctr">
              <a:buNone/>
            </a:pPr>
            <a:r>
              <a:rPr lang="en-GB" sz="3200" dirty="0">
                <a:solidFill>
                  <a:srgbClr val="000000"/>
                </a:solidFill>
                <a:latin typeface="Cascadia Code" panose="020B0609020000020004" pitchFamily="49" charset="0"/>
                <a:ea typeface="Cascadia Code" panose="020B0609020000020004" pitchFamily="49" charset="0"/>
                <a:cs typeface="Cascadia Code" panose="020B0609020000020004" pitchFamily="49" charset="0"/>
              </a:rPr>
              <a:t>Histogram</a:t>
            </a:r>
            <a:r>
              <a:rPr lang="en-GB" sz="2000" dirty="0">
                <a:solidFill>
                  <a:srgbClr val="000000"/>
                </a:solidFill>
                <a:latin typeface="Cascadia Code" panose="020B0609020000020004" pitchFamily="49" charset="0"/>
                <a:ea typeface="Cascadia Code" panose="020B0609020000020004" pitchFamily="49" charset="0"/>
                <a:cs typeface="Cascadia Code" panose="020B0609020000020004" pitchFamily="49" charset="0"/>
              </a:rPr>
              <a:t> </a:t>
            </a:r>
            <a:r>
              <a:rPr lang="en-GB" sz="1400" dirty="0">
                <a:solidFill>
                  <a:srgbClr val="000000"/>
                </a:solidFill>
                <a:latin typeface="Cascadia Code" panose="020B0609020000020004" pitchFamily="49" charset="0"/>
                <a:ea typeface="Cascadia Code" panose="020B0609020000020004" pitchFamily="49" charset="0"/>
                <a:cs typeface="Cascadia Code" panose="020B0609020000020004" pitchFamily="49" charset="0"/>
              </a:rPr>
              <a:t>including mean and CI</a:t>
            </a:r>
            <a:endParaRPr lang="en-GB" sz="2000" dirty="0">
              <a:solidFill>
                <a:srgbClr val="000000"/>
              </a:solidFill>
              <a:latin typeface="Cascadia Code" panose="020B0609020000020004" pitchFamily="49" charset="0"/>
              <a:ea typeface="Cascadia Code" panose="020B0609020000020004" pitchFamily="49" charset="0"/>
              <a:cs typeface="Cascadia Code" panose="020B0609020000020004" pitchFamily="49" charset="0"/>
            </a:endParaRPr>
          </a:p>
        </p:txBody>
      </p:sp>
      <p:pic>
        <p:nvPicPr>
          <p:cNvPr id="20" name="Graphic 19" descr="Bar chart outline">
            <a:extLst>
              <a:ext uri="{FF2B5EF4-FFF2-40B4-BE49-F238E27FC236}">
                <a16:creationId xmlns:a16="http://schemas.microsoft.com/office/drawing/2014/main" id="{8B82CD64-9534-4736-DB4D-A97DCC8652B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6200000">
            <a:off x="9022683" y="2618720"/>
            <a:ext cx="866775" cy="866775"/>
          </a:xfrm>
          <a:prstGeom prst="rect">
            <a:avLst/>
          </a:prstGeom>
        </p:spPr>
      </p:pic>
      <p:sp>
        <p:nvSpPr>
          <p:cNvPr id="21" name="TextBox 20">
            <a:extLst>
              <a:ext uri="{FF2B5EF4-FFF2-40B4-BE49-F238E27FC236}">
                <a16:creationId xmlns:a16="http://schemas.microsoft.com/office/drawing/2014/main" id="{9C0FA5F5-5515-8445-8C83-386EB1964602}"/>
              </a:ext>
            </a:extLst>
          </p:cNvPr>
          <p:cNvSpPr txBox="1"/>
          <p:nvPr/>
        </p:nvSpPr>
        <p:spPr>
          <a:xfrm rot="16200000">
            <a:off x="4156688" y="1764739"/>
            <a:ext cx="2673071" cy="542456"/>
          </a:xfrm>
          <a:prstGeom prst="rect">
            <a:avLst/>
          </a:prstGeom>
          <a:solidFill>
            <a:srgbClr val="E7EAED"/>
          </a:solidFill>
        </p:spPr>
        <p:txBody>
          <a:bodyPr wrap="square">
            <a:spAutoFit/>
          </a:bodyPr>
          <a:lstStyle/>
          <a:p>
            <a:pPr algn="ctr" fontAlgn="ctr">
              <a:buNone/>
            </a:pPr>
            <a:r>
              <a:rPr lang="en-GB" sz="2925" dirty="0">
                <a:solidFill>
                  <a:srgbClr val="000000"/>
                </a:solidFill>
                <a:latin typeface="Cascadia Code" panose="020B0609020000020004" pitchFamily="49" charset="0"/>
                <a:ea typeface="Cascadia Code" panose="020B0609020000020004" pitchFamily="49" charset="0"/>
                <a:cs typeface="Cascadia Code" panose="020B0609020000020004" pitchFamily="49" charset="0"/>
              </a:rPr>
              <a:t>Violin plot</a:t>
            </a:r>
            <a:endParaRPr lang="en-GB" sz="1625" dirty="0">
              <a:solidFill>
                <a:srgbClr val="000000"/>
              </a:solidFill>
              <a:latin typeface="Cascadia Code" panose="020B0609020000020004" pitchFamily="49" charset="0"/>
              <a:ea typeface="Cascadia Code" panose="020B0609020000020004" pitchFamily="49" charset="0"/>
              <a:cs typeface="Cascadia Code" panose="020B0609020000020004" pitchFamily="49" charset="0"/>
            </a:endParaRPr>
          </a:p>
        </p:txBody>
      </p:sp>
      <p:pic>
        <p:nvPicPr>
          <p:cNvPr id="22" name="Graphic 21" descr="Bar chart outline">
            <a:extLst>
              <a:ext uri="{FF2B5EF4-FFF2-40B4-BE49-F238E27FC236}">
                <a16:creationId xmlns:a16="http://schemas.microsoft.com/office/drawing/2014/main" id="{9E724AD0-1C78-E820-0498-611A3650E6E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6200000">
            <a:off x="9039226" y="5404782"/>
            <a:ext cx="866775" cy="866775"/>
          </a:xfrm>
          <a:prstGeom prst="rect">
            <a:avLst/>
          </a:prstGeom>
        </p:spPr>
      </p:pic>
      <p:sp>
        <p:nvSpPr>
          <p:cNvPr id="23" name="TextBox 22">
            <a:extLst>
              <a:ext uri="{FF2B5EF4-FFF2-40B4-BE49-F238E27FC236}">
                <a16:creationId xmlns:a16="http://schemas.microsoft.com/office/drawing/2014/main" id="{D0B29A26-D553-90B3-58CE-E01AA1E0EE6F}"/>
              </a:ext>
            </a:extLst>
          </p:cNvPr>
          <p:cNvSpPr txBox="1"/>
          <p:nvPr/>
        </p:nvSpPr>
        <p:spPr>
          <a:xfrm rot="16200000">
            <a:off x="4163777" y="4529644"/>
            <a:ext cx="2616575" cy="584775"/>
          </a:xfrm>
          <a:prstGeom prst="rect">
            <a:avLst/>
          </a:prstGeom>
          <a:solidFill>
            <a:srgbClr val="E7EAED"/>
          </a:solidFill>
        </p:spPr>
        <p:txBody>
          <a:bodyPr wrap="square">
            <a:spAutoFit/>
          </a:bodyPr>
          <a:lstStyle/>
          <a:p>
            <a:pPr algn="ctr" fontAlgn="ctr">
              <a:buNone/>
            </a:pPr>
            <a:r>
              <a:rPr lang="en-GB" sz="3200" dirty="0">
                <a:solidFill>
                  <a:srgbClr val="000000"/>
                </a:solidFill>
                <a:latin typeface="Cascadia Code" panose="020B0609020000020004" pitchFamily="49" charset="0"/>
                <a:ea typeface="Cascadia Code" panose="020B0609020000020004" pitchFamily="49" charset="0"/>
                <a:cs typeface="Cascadia Code" panose="020B0609020000020004" pitchFamily="49" charset="0"/>
              </a:rPr>
              <a:t>Rootogram</a:t>
            </a:r>
            <a:endParaRPr lang="en-GB" sz="2000" dirty="0">
              <a:solidFill>
                <a:srgbClr val="000000"/>
              </a:solidFill>
              <a:latin typeface="Cascadia Code" panose="020B0609020000020004" pitchFamily="49" charset="0"/>
              <a:ea typeface="Cascadia Code" panose="020B0609020000020004" pitchFamily="49" charset="0"/>
              <a:cs typeface="Cascadia Code" panose="020B0609020000020004" pitchFamily="49" charset="0"/>
            </a:endParaRPr>
          </a:p>
        </p:txBody>
      </p:sp>
    </p:spTree>
    <p:extLst>
      <p:ext uri="{BB962C8B-B14F-4D97-AF65-F5344CB8AC3E}">
        <p14:creationId xmlns:p14="http://schemas.microsoft.com/office/powerpoint/2010/main" val="12584527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23AD18-417F-F517-2E69-4108CD311A41}"/>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252875CF-FC8D-CB69-2E14-42153BFCC930}"/>
              </a:ext>
            </a:extLst>
          </p:cNvPr>
          <p:cNvSpPr/>
          <p:nvPr/>
        </p:nvSpPr>
        <p:spPr>
          <a:xfrm>
            <a:off x="0" y="642937"/>
            <a:ext cx="4953000" cy="2786063"/>
          </a:xfrm>
          <a:prstGeom prst="rect">
            <a:avLst/>
          </a:prstGeom>
          <a:solidFill>
            <a:srgbClr val="D9A44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63" dirty="0"/>
          </a:p>
        </p:txBody>
      </p:sp>
      <p:sp>
        <p:nvSpPr>
          <p:cNvPr id="5" name="Rectangle 4">
            <a:extLst>
              <a:ext uri="{FF2B5EF4-FFF2-40B4-BE49-F238E27FC236}">
                <a16:creationId xmlns:a16="http://schemas.microsoft.com/office/drawing/2014/main" id="{8C672C1E-ED1F-A1B8-8962-464F800A6CF1}"/>
              </a:ext>
            </a:extLst>
          </p:cNvPr>
          <p:cNvSpPr/>
          <p:nvPr/>
        </p:nvSpPr>
        <p:spPr>
          <a:xfrm>
            <a:off x="0" y="3429000"/>
            <a:ext cx="4953000" cy="2786063"/>
          </a:xfrm>
          <a:prstGeom prst="rect">
            <a:avLst/>
          </a:prstGeom>
          <a:solidFill>
            <a:srgbClr val="D9A44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63" dirty="0"/>
          </a:p>
        </p:txBody>
      </p:sp>
      <p:sp>
        <p:nvSpPr>
          <p:cNvPr id="9" name="Rectangle 8">
            <a:extLst>
              <a:ext uri="{FF2B5EF4-FFF2-40B4-BE49-F238E27FC236}">
                <a16:creationId xmlns:a16="http://schemas.microsoft.com/office/drawing/2014/main" id="{0074F0E9-00A9-0C3B-A103-2A04607853B6}"/>
              </a:ext>
            </a:extLst>
          </p:cNvPr>
          <p:cNvSpPr/>
          <p:nvPr/>
        </p:nvSpPr>
        <p:spPr>
          <a:xfrm>
            <a:off x="4953000" y="642937"/>
            <a:ext cx="4953000" cy="2786063"/>
          </a:xfrm>
          <a:prstGeom prst="rect">
            <a:avLst/>
          </a:prstGeom>
          <a:solidFill>
            <a:srgbClr val="D9A44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63" dirty="0"/>
          </a:p>
        </p:txBody>
      </p:sp>
      <p:sp>
        <p:nvSpPr>
          <p:cNvPr id="13" name="Rectangle 12">
            <a:extLst>
              <a:ext uri="{FF2B5EF4-FFF2-40B4-BE49-F238E27FC236}">
                <a16:creationId xmlns:a16="http://schemas.microsoft.com/office/drawing/2014/main" id="{7E5AEDFF-3516-D7DC-B6D8-668897046DCC}"/>
              </a:ext>
            </a:extLst>
          </p:cNvPr>
          <p:cNvSpPr/>
          <p:nvPr/>
        </p:nvSpPr>
        <p:spPr>
          <a:xfrm>
            <a:off x="4953000" y="3429000"/>
            <a:ext cx="4953000" cy="2786063"/>
          </a:xfrm>
          <a:prstGeom prst="rect">
            <a:avLst/>
          </a:prstGeom>
          <a:solidFill>
            <a:srgbClr val="D9A44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63" dirty="0"/>
          </a:p>
        </p:txBody>
      </p:sp>
      <p:pic>
        <p:nvPicPr>
          <p:cNvPr id="7" name="Graphic 6" descr="Bar chart outline">
            <a:extLst>
              <a:ext uri="{FF2B5EF4-FFF2-40B4-BE49-F238E27FC236}">
                <a16:creationId xmlns:a16="http://schemas.microsoft.com/office/drawing/2014/main" id="{2535DBDD-DF26-3718-045A-A42495F6E4E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6200000">
            <a:off x="4086225" y="2562225"/>
            <a:ext cx="866775" cy="866775"/>
          </a:xfrm>
          <a:prstGeom prst="rect">
            <a:avLst/>
          </a:prstGeom>
        </p:spPr>
      </p:pic>
      <p:sp>
        <p:nvSpPr>
          <p:cNvPr id="15" name="TextBox 14">
            <a:extLst>
              <a:ext uri="{FF2B5EF4-FFF2-40B4-BE49-F238E27FC236}">
                <a16:creationId xmlns:a16="http://schemas.microsoft.com/office/drawing/2014/main" id="{4415482D-BA54-3507-E8E2-E56D4E0E25BD}"/>
              </a:ext>
            </a:extLst>
          </p:cNvPr>
          <p:cNvSpPr txBox="1"/>
          <p:nvPr/>
        </p:nvSpPr>
        <p:spPr>
          <a:xfrm rot="16200000">
            <a:off x="-726952" y="1714726"/>
            <a:ext cx="2560082" cy="642484"/>
          </a:xfrm>
          <a:prstGeom prst="rect">
            <a:avLst/>
          </a:prstGeom>
          <a:solidFill>
            <a:srgbClr val="E7EAED"/>
          </a:solidFill>
        </p:spPr>
        <p:txBody>
          <a:bodyPr wrap="square">
            <a:spAutoFit/>
          </a:bodyPr>
          <a:lstStyle/>
          <a:p>
            <a:pPr algn="ctr" fontAlgn="ctr">
              <a:buNone/>
            </a:pPr>
            <a:r>
              <a:rPr lang="en-GB" sz="3575" dirty="0">
                <a:solidFill>
                  <a:srgbClr val="000000"/>
                </a:solidFill>
                <a:latin typeface="Cascadia Code" panose="020B0609020000020004" pitchFamily="49" charset="0"/>
                <a:ea typeface="Cascadia Code" panose="020B0609020000020004" pitchFamily="49" charset="0"/>
                <a:cs typeface="Cascadia Code" panose="020B0609020000020004" pitchFamily="49" charset="0"/>
              </a:rPr>
              <a:t>Boxplot</a:t>
            </a:r>
            <a:endParaRPr lang="en-GB" sz="2275" dirty="0">
              <a:solidFill>
                <a:srgbClr val="000000"/>
              </a:solidFill>
              <a:latin typeface="Cascadia Code" panose="020B0609020000020004" pitchFamily="49" charset="0"/>
              <a:ea typeface="Cascadia Code" panose="020B0609020000020004" pitchFamily="49" charset="0"/>
              <a:cs typeface="Cascadia Code" panose="020B0609020000020004" pitchFamily="49" charset="0"/>
            </a:endParaRPr>
          </a:p>
        </p:txBody>
      </p:sp>
      <p:pic>
        <p:nvPicPr>
          <p:cNvPr id="16" name="Graphic 15" descr="Bar chart outline">
            <a:extLst>
              <a:ext uri="{FF2B5EF4-FFF2-40B4-BE49-F238E27FC236}">
                <a16:creationId xmlns:a16="http://schemas.microsoft.com/office/drawing/2014/main" id="{79EE4419-AEED-441A-5AD6-07084FF6ACD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6200000">
            <a:off x="4086226" y="5348288"/>
            <a:ext cx="866775" cy="866775"/>
          </a:xfrm>
          <a:prstGeom prst="rect">
            <a:avLst/>
          </a:prstGeom>
        </p:spPr>
      </p:pic>
      <p:sp>
        <p:nvSpPr>
          <p:cNvPr id="19" name="TextBox 18">
            <a:extLst>
              <a:ext uri="{FF2B5EF4-FFF2-40B4-BE49-F238E27FC236}">
                <a16:creationId xmlns:a16="http://schemas.microsoft.com/office/drawing/2014/main" id="{E72641EB-07C5-9498-2A2C-61F04F696B19}"/>
              </a:ext>
            </a:extLst>
          </p:cNvPr>
          <p:cNvSpPr txBox="1"/>
          <p:nvPr/>
        </p:nvSpPr>
        <p:spPr>
          <a:xfrm rot="16200000">
            <a:off x="-565979" y="4225714"/>
            <a:ext cx="2560082" cy="1192634"/>
          </a:xfrm>
          <a:prstGeom prst="rect">
            <a:avLst/>
          </a:prstGeom>
          <a:solidFill>
            <a:srgbClr val="E7EAED"/>
          </a:solidFill>
        </p:spPr>
        <p:txBody>
          <a:bodyPr wrap="square">
            <a:spAutoFit/>
          </a:bodyPr>
          <a:lstStyle/>
          <a:p>
            <a:pPr algn="ctr" fontAlgn="ctr">
              <a:buNone/>
            </a:pPr>
            <a:r>
              <a:rPr lang="en-GB" sz="3575" dirty="0">
                <a:solidFill>
                  <a:srgbClr val="000000"/>
                </a:solidFill>
                <a:latin typeface="Cascadia Code" panose="020B0609020000020004" pitchFamily="49" charset="0"/>
                <a:ea typeface="Cascadia Code" panose="020B0609020000020004" pitchFamily="49" charset="0"/>
                <a:cs typeface="Cascadia Code" panose="020B0609020000020004" pitchFamily="49" charset="0"/>
              </a:rPr>
              <a:t>Mosaic plot</a:t>
            </a:r>
            <a:endParaRPr lang="en-GB" sz="2275" dirty="0">
              <a:solidFill>
                <a:srgbClr val="000000"/>
              </a:solidFill>
              <a:latin typeface="Cascadia Code" panose="020B0609020000020004" pitchFamily="49" charset="0"/>
              <a:ea typeface="Cascadia Code" panose="020B0609020000020004" pitchFamily="49" charset="0"/>
              <a:cs typeface="Cascadia Code" panose="020B0609020000020004" pitchFamily="49" charset="0"/>
            </a:endParaRPr>
          </a:p>
        </p:txBody>
      </p:sp>
      <p:pic>
        <p:nvPicPr>
          <p:cNvPr id="20" name="Graphic 19" descr="Bar chart outline">
            <a:extLst>
              <a:ext uri="{FF2B5EF4-FFF2-40B4-BE49-F238E27FC236}">
                <a16:creationId xmlns:a16="http://schemas.microsoft.com/office/drawing/2014/main" id="{AC27A8C2-35F0-49A8-FA52-132D809FF83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6200000">
            <a:off x="9022683" y="2618720"/>
            <a:ext cx="866775" cy="866775"/>
          </a:xfrm>
          <a:prstGeom prst="rect">
            <a:avLst/>
          </a:prstGeom>
        </p:spPr>
      </p:pic>
      <p:sp>
        <p:nvSpPr>
          <p:cNvPr id="21" name="TextBox 20">
            <a:extLst>
              <a:ext uri="{FF2B5EF4-FFF2-40B4-BE49-F238E27FC236}">
                <a16:creationId xmlns:a16="http://schemas.microsoft.com/office/drawing/2014/main" id="{B9085F68-0BF2-E029-B6EF-278CDFD27406}"/>
              </a:ext>
            </a:extLst>
          </p:cNvPr>
          <p:cNvSpPr txBox="1"/>
          <p:nvPr/>
        </p:nvSpPr>
        <p:spPr>
          <a:xfrm rot="16200000">
            <a:off x="4169555" y="1539679"/>
            <a:ext cx="2673071" cy="992579"/>
          </a:xfrm>
          <a:prstGeom prst="rect">
            <a:avLst/>
          </a:prstGeom>
          <a:solidFill>
            <a:srgbClr val="E7EAED"/>
          </a:solidFill>
        </p:spPr>
        <p:txBody>
          <a:bodyPr wrap="square">
            <a:spAutoFit/>
          </a:bodyPr>
          <a:lstStyle/>
          <a:p>
            <a:pPr algn="ctr" fontAlgn="ctr">
              <a:buNone/>
            </a:pPr>
            <a:r>
              <a:rPr lang="en-GB" sz="2925" dirty="0">
                <a:solidFill>
                  <a:srgbClr val="000000"/>
                </a:solidFill>
                <a:latin typeface="Cascadia Code" panose="020B0609020000020004" pitchFamily="49" charset="0"/>
                <a:ea typeface="Cascadia Code" panose="020B0609020000020004" pitchFamily="49" charset="0"/>
                <a:cs typeface="Cascadia Code" panose="020B0609020000020004" pitchFamily="49" charset="0"/>
              </a:rPr>
              <a:t>Paired dot plot</a:t>
            </a:r>
            <a:endParaRPr lang="en-GB" sz="1625" dirty="0">
              <a:solidFill>
                <a:srgbClr val="000000"/>
              </a:solidFill>
              <a:latin typeface="Cascadia Code" panose="020B0609020000020004" pitchFamily="49" charset="0"/>
              <a:ea typeface="Cascadia Code" panose="020B0609020000020004" pitchFamily="49" charset="0"/>
              <a:cs typeface="Cascadia Code" panose="020B0609020000020004" pitchFamily="49" charset="0"/>
            </a:endParaRPr>
          </a:p>
        </p:txBody>
      </p:sp>
      <p:pic>
        <p:nvPicPr>
          <p:cNvPr id="22" name="Graphic 21" descr="Bar chart outline">
            <a:extLst>
              <a:ext uri="{FF2B5EF4-FFF2-40B4-BE49-F238E27FC236}">
                <a16:creationId xmlns:a16="http://schemas.microsoft.com/office/drawing/2014/main" id="{32D9436E-627F-0BEC-B367-70DAB73F6C6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6200000">
            <a:off x="9039226" y="5404782"/>
            <a:ext cx="866775" cy="866775"/>
          </a:xfrm>
          <a:prstGeom prst="rect">
            <a:avLst/>
          </a:prstGeom>
        </p:spPr>
      </p:pic>
      <p:sp>
        <p:nvSpPr>
          <p:cNvPr id="23" name="TextBox 22">
            <a:extLst>
              <a:ext uri="{FF2B5EF4-FFF2-40B4-BE49-F238E27FC236}">
                <a16:creationId xmlns:a16="http://schemas.microsoft.com/office/drawing/2014/main" id="{01E80656-B79A-7586-DF84-3A78D1FA66A0}"/>
              </a:ext>
            </a:extLst>
          </p:cNvPr>
          <p:cNvSpPr txBox="1"/>
          <p:nvPr/>
        </p:nvSpPr>
        <p:spPr>
          <a:xfrm rot="16200000">
            <a:off x="4514969" y="4100680"/>
            <a:ext cx="2560082" cy="1442703"/>
          </a:xfrm>
          <a:prstGeom prst="rect">
            <a:avLst/>
          </a:prstGeom>
          <a:solidFill>
            <a:srgbClr val="E7EAED"/>
          </a:solidFill>
        </p:spPr>
        <p:txBody>
          <a:bodyPr wrap="square">
            <a:spAutoFit/>
          </a:bodyPr>
          <a:lstStyle/>
          <a:p>
            <a:pPr algn="ctr" fontAlgn="ctr">
              <a:buNone/>
            </a:pPr>
            <a:r>
              <a:rPr lang="en-GB" sz="2925" dirty="0">
                <a:solidFill>
                  <a:srgbClr val="000000"/>
                </a:solidFill>
                <a:latin typeface="Cascadia Code" panose="020B0609020000020004" pitchFamily="49" charset="0"/>
                <a:ea typeface="Cascadia Code" panose="020B0609020000020004" pitchFamily="49" charset="0"/>
                <a:cs typeface="Cascadia Code" panose="020B0609020000020004" pitchFamily="49" charset="0"/>
              </a:rPr>
              <a:t>Bar plot with error bars</a:t>
            </a:r>
            <a:endParaRPr lang="en-GB" sz="1625" dirty="0">
              <a:solidFill>
                <a:srgbClr val="000000"/>
              </a:solidFill>
              <a:latin typeface="Cascadia Code" panose="020B0609020000020004" pitchFamily="49" charset="0"/>
              <a:ea typeface="Cascadia Code" panose="020B0609020000020004" pitchFamily="49" charset="0"/>
              <a:cs typeface="Cascadia Code" panose="020B0609020000020004" pitchFamily="49" charset="0"/>
            </a:endParaRPr>
          </a:p>
        </p:txBody>
      </p:sp>
    </p:spTree>
    <p:extLst>
      <p:ext uri="{BB962C8B-B14F-4D97-AF65-F5344CB8AC3E}">
        <p14:creationId xmlns:p14="http://schemas.microsoft.com/office/powerpoint/2010/main" val="8395559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973E01-CF35-A4E4-30AA-AD4C76C1489F}"/>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45C48B98-2A21-9C12-059B-CA176D158207}"/>
              </a:ext>
            </a:extLst>
          </p:cNvPr>
          <p:cNvSpPr/>
          <p:nvPr/>
        </p:nvSpPr>
        <p:spPr>
          <a:xfrm>
            <a:off x="0" y="642937"/>
            <a:ext cx="4953000" cy="2786063"/>
          </a:xfrm>
          <a:prstGeom prst="rect">
            <a:avLst/>
          </a:prstGeom>
          <a:solidFill>
            <a:srgbClr val="D9A44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63" dirty="0"/>
          </a:p>
        </p:txBody>
      </p:sp>
      <p:sp>
        <p:nvSpPr>
          <p:cNvPr id="5" name="Rectangle 4">
            <a:extLst>
              <a:ext uri="{FF2B5EF4-FFF2-40B4-BE49-F238E27FC236}">
                <a16:creationId xmlns:a16="http://schemas.microsoft.com/office/drawing/2014/main" id="{2386A839-1BA4-6378-D202-D7CEE0378030}"/>
              </a:ext>
            </a:extLst>
          </p:cNvPr>
          <p:cNvSpPr/>
          <p:nvPr/>
        </p:nvSpPr>
        <p:spPr>
          <a:xfrm>
            <a:off x="0" y="3429000"/>
            <a:ext cx="4953000" cy="2786063"/>
          </a:xfrm>
          <a:prstGeom prst="rect">
            <a:avLst/>
          </a:prstGeom>
          <a:solidFill>
            <a:srgbClr val="D9A44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63" dirty="0"/>
          </a:p>
        </p:txBody>
      </p:sp>
      <p:sp>
        <p:nvSpPr>
          <p:cNvPr id="9" name="Rectangle 8">
            <a:extLst>
              <a:ext uri="{FF2B5EF4-FFF2-40B4-BE49-F238E27FC236}">
                <a16:creationId xmlns:a16="http://schemas.microsoft.com/office/drawing/2014/main" id="{5B389D0E-244E-A2BE-8336-6B6D247EFFAE}"/>
              </a:ext>
            </a:extLst>
          </p:cNvPr>
          <p:cNvSpPr/>
          <p:nvPr/>
        </p:nvSpPr>
        <p:spPr>
          <a:xfrm>
            <a:off x="4953000" y="642937"/>
            <a:ext cx="4953000" cy="2786063"/>
          </a:xfrm>
          <a:prstGeom prst="rect">
            <a:avLst/>
          </a:prstGeom>
          <a:solidFill>
            <a:srgbClr val="D9A44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63" dirty="0"/>
          </a:p>
        </p:txBody>
      </p:sp>
      <p:sp>
        <p:nvSpPr>
          <p:cNvPr id="13" name="Rectangle 12">
            <a:extLst>
              <a:ext uri="{FF2B5EF4-FFF2-40B4-BE49-F238E27FC236}">
                <a16:creationId xmlns:a16="http://schemas.microsoft.com/office/drawing/2014/main" id="{F0031045-BF17-E2D5-4E45-0136CC4B8AC2}"/>
              </a:ext>
            </a:extLst>
          </p:cNvPr>
          <p:cNvSpPr/>
          <p:nvPr/>
        </p:nvSpPr>
        <p:spPr>
          <a:xfrm>
            <a:off x="4953000" y="3429000"/>
            <a:ext cx="4953000" cy="2786063"/>
          </a:xfrm>
          <a:prstGeom prst="rect">
            <a:avLst/>
          </a:prstGeom>
          <a:solidFill>
            <a:srgbClr val="D9A44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63" dirty="0"/>
          </a:p>
        </p:txBody>
      </p:sp>
      <p:pic>
        <p:nvPicPr>
          <p:cNvPr id="7" name="Graphic 6" descr="Bar chart outline">
            <a:extLst>
              <a:ext uri="{FF2B5EF4-FFF2-40B4-BE49-F238E27FC236}">
                <a16:creationId xmlns:a16="http://schemas.microsoft.com/office/drawing/2014/main" id="{EF534CC2-AE26-D69C-ED35-299ABCCD7BD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6200000">
            <a:off x="4086225" y="2562225"/>
            <a:ext cx="866775" cy="866775"/>
          </a:xfrm>
          <a:prstGeom prst="rect">
            <a:avLst/>
          </a:prstGeom>
        </p:spPr>
      </p:pic>
      <p:sp>
        <p:nvSpPr>
          <p:cNvPr id="15" name="TextBox 14">
            <a:extLst>
              <a:ext uri="{FF2B5EF4-FFF2-40B4-BE49-F238E27FC236}">
                <a16:creationId xmlns:a16="http://schemas.microsoft.com/office/drawing/2014/main" id="{C97CF31B-7015-9C76-FD7D-9F1730E26B3F}"/>
              </a:ext>
            </a:extLst>
          </p:cNvPr>
          <p:cNvSpPr txBox="1"/>
          <p:nvPr/>
        </p:nvSpPr>
        <p:spPr>
          <a:xfrm rot="16200000">
            <a:off x="-645584" y="1558917"/>
            <a:ext cx="2560082" cy="954107"/>
          </a:xfrm>
          <a:prstGeom prst="rect">
            <a:avLst/>
          </a:prstGeom>
          <a:solidFill>
            <a:srgbClr val="E7EAED"/>
          </a:solidFill>
        </p:spPr>
        <p:txBody>
          <a:bodyPr wrap="square">
            <a:spAutoFit/>
          </a:bodyPr>
          <a:lstStyle/>
          <a:p>
            <a:pPr algn="ctr" fontAlgn="ctr">
              <a:buNone/>
            </a:pPr>
            <a:r>
              <a:rPr lang="en-GB" sz="2800" dirty="0">
                <a:solidFill>
                  <a:srgbClr val="000000"/>
                </a:solidFill>
                <a:latin typeface="Cascadia Code" panose="020B0609020000020004" pitchFamily="49" charset="0"/>
                <a:ea typeface="Cascadia Code" panose="020B0609020000020004" pitchFamily="49" charset="0"/>
                <a:cs typeface="Cascadia Code" panose="020B0609020000020004" pitchFamily="49" charset="0"/>
              </a:rPr>
              <a:t>Probability mass plot</a:t>
            </a:r>
            <a:endParaRPr lang="en-GB" sz="1600" dirty="0">
              <a:solidFill>
                <a:srgbClr val="000000"/>
              </a:solidFill>
              <a:latin typeface="Cascadia Code" panose="020B0609020000020004" pitchFamily="49" charset="0"/>
              <a:ea typeface="Cascadia Code" panose="020B0609020000020004" pitchFamily="49" charset="0"/>
              <a:cs typeface="Cascadia Code" panose="020B0609020000020004" pitchFamily="49" charset="0"/>
            </a:endParaRPr>
          </a:p>
        </p:txBody>
      </p:sp>
      <p:pic>
        <p:nvPicPr>
          <p:cNvPr id="16" name="Graphic 15" descr="Bar chart outline">
            <a:extLst>
              <a:ext uri="{FF2B5EF4-FFF2-40B4-BE49-F238E27FC236}">
                <a16:creationId xmlns:a16="http://schemas.microsoft.com/office/drawing/2014/main" id="{C90E89A9-0CAD-E981-8B27-32F20FD02D0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6200000">
            <a:off x="4086226" y="5348288"/>
            <a:ext cx="866775" cy="866775"/>
          </a:xfrm>
          <a:prstGeom prst="rect">
            <a:avLst/>
          </a:prstGeom>
        </p:spPr>
      </p:pic>
      <p:sp>
        <p:nvSpPr>
          <p:cNvPr id="19" name="TextBox 18">
            <a:extLst>
              <a:ext uri="{FF2B5EF4-FFF2-40B4-BE49-F238E27FC236}">
                <a16:creationId xmlns:a16="http://schemas.microsoft.com/office/drawing/2014/main" id="{DD5E8B42-8F4C-13F5-2638-9955A3958141}"/>
              </a:ext>
            </a:extLst>
          </p:cNvPr>
          <p:cNvSpPr txBox="1"/>
          <p:nvPr/>
        </p:nvSpPr>
        <p:spPr>
          <a:xfrm rot="16200000">
            <a:off x="-565979" y="4225715"/>
            <a:ext cx="2560082" cy="1192634"/>
          </a:xfrm>
          <a:prstGeom prst="rect">
            <a:avLst/>
          </a:prstGeom>
          <a:solidFill>
            <a:srgbClr val="E7EAED"/>
          </a:solidFill>
        </p:spPr>
        <p:txBody>
          <a:bodyPr wrap="square">
            <a:spAutoFit/>
          </a:bodyPr>
          <a:lstStyle/>
          <a:p>
            <a:pPr algn="ctr" fontAlgn="ctr">
              <a:buNone/>
            </a:pPr>
            <a:r>
              <a:rPr lang="en-GB" sz="3575" dirty="0">
                <a:solidFill>
                  <a:srgbClr val="000000"/>
                </a:solidFill>
                <a:latin typeface="Cascadia Code" panose="020B0609020000020004" pitchFamily="49" charset="0"/>
                <a:ea typeface="Cascadia Code" panose="020B0609020000020004" pitchFamily="49" charset="0"/>
                <a:cs typeface="Cascadia Code" panose="020B0609020000020004" pitchFamily="49" charset="0"/>
              </a:rPr>
              <a:t>Pie or bar plot</a:t>
            </a:r>
            <a:endParaRPr lang="en-GB" sz="2275" dirty="0">
              <a:solidFill>
                <a:srgbClr val="000000"/>
              </a:solidFill>
              <a:latin typeface="Cascadia Code" panose="020B0609020000020004" pitchFamily="49" charset="0"/>
              <a:ea typeface="Cascadia Code" panose="020B0609020000020004" pitchFamily="49" charset="0"/>
              <a:cs typeface="Cascadia Code" panose="020B0609020000020004" pitchFamily="49" charset="0"/>
            </a:endParaRPr>
          </a:p>
        </p:txBody>
      </p:sp>
      <p:pic>
        <p:nvPicPr>
          <p:cNvPr id="20" name="Graphic 19" descr="Bar chart outline">
            <a:extLst>
              <a:ext uri="{FF2B5EF4-FFF2-40B4-BE49-F238E27FC236}">
                <a16:creationId xmlns:a16="http://schemas.microsoft.com/office/drawing/2014/main" id="{58340058-B99A-00F5-E1E3-06878E6A8B5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6200000">
            <a:off x="9022683" y="2618720"/>
            <a:ext cx="866775" cy="866775"/>
          </a:xfrm>
          <a:prstGeom prst="rect">
            <a:avLst/>
          </a:prstGeom>
        </p:spPr>
      </p:pic>
      <p:sp>
        <p:nvSpPr>
          <p:cNvPr id="21" name="TextBox 20">
            <a:extLst>
              <a:ext uri="{FF2B5EF4-FFF2-40B4-BE49-F238E27FC236}">
                <a16:creationId xmlns:a16="http://schemas.microsoft.com/office/drawing/2014/main" id="{3D7A2263-19D9-DE96-807C-BE6BB8BA3437}"/>
              </a:ext>
            </a:extLst>
          </p:cNvPr>
          <p:cNvSpPr txBox="1"/>
          <p:nvPr/>
        </p:nvSpPr>
        <p:spPr>
          <a:xfrm rot="16200000">
            <a:off x="4150895" y="1639706"/>
            <a:ext cx="2673071" cy="792525"/>
          </a:xfrm>
          <a:prstGeom prst="rect">
            <a:avLst/>
          </a:prstGeom>
          <a:solidFill>
            <a:srgbClr val="E7EAED"/>
          </a:solidFill>
        </p:spPr>
        <p:txBody>
          <a:bodyPr wrap="square">
            <a:spAutoFit/>
          </a:bodyPr>
          <a:lstStyle/>
          <a:p>
            <a:pPr algn="ctr" fontAlgn="ctr">
              <a:buNone/>
            </a:pPr>
            <a:r>
              <a:rPr lang="en-GB" sz="2275" dirty="0">
                <a:solidFill>
                  <a:srgbClr val="000000"/>
                </a:solidFill>
                <a:latin typeface="Cascadia Code" panose="020B0609020000020004" pitchFamily="49" charset="0"/>
                <a:ea typeface="Cascadia Code" panose="020B0609020000020004" pitchFamily="49" charset="0"/>
                <a:cs typeface="Cascadia Code" panose="020B0609020000020004" pitchFamily="49" charset="0"/>
              </a:rPr>
              <a:t>Tree diagram or mosaic plot</a:t>
            </a:r>
            <a:endParaRPr lang="en-GB" sz="1300" dirty="0">
              <a:solidFill>
                <a:srgbClr val="000000"/>
              </a:solidFill>
              <a:latin typeface="Cascadia Code" panose="020B0609020000020004" pitchFamily="49" charset="0"/>
              <a:ea typeface="Cascadia Code" panose="020B0609020000020004" pitchFamily="49" charset="0"/>
              <a:cs typeface="Cascadia Code" panose="020B0609020000020004" pitchFamily="49" charset="0"/>
            </a:endParaRPr>
          </a:p>
        </p:txBody>
      </p:sp>
      <p:pic>
        <p:nvPicPr>
          <p:cNvPr id="22" name="Graphic 21" descr="Bar chart outline">
            <a:extLst>
              <a:ext uri="{FF2B5EF4-FFF2-40B4-BE49-F238E27FC236}">
                <a16:creationId xmlns:a16="http://schemas.microsoft.com/office/drawing/2014/main" id="{B5E0BA0E-9E80-5A70-675C-D744EBC00F0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6200000">
            <a:off x="9039226" y="5404782"/>
            <a:ext cx="866775" cy="866775"/>
          </a:xfrm>
          <a:prstGeom prst="rect">
            <a:avLst/>
          </a:prstGeom>
        </p:spPr>
      </p:pic>
      <p:sp>
        <p:nvSpPr>
          <p:cNvPr id="23" name="TextBox 22">
            <a:extLst>
              <a:ext uri="{FF2B5EF4-FFF2-40B4-BE49-F238E27FC236}">
                <a16:creationId xmlns:a16="http://schemas.microsoft.com/office/drawing/2014/main" id="{C8AD93AA-3C3A-6297-E45F-265E2A4E17F0}"/>
              </a:ext>
            </a:extLst>
          </p:cNvPr>
          <p:cNvSpPr txBox="1"/>
          <p:nvPr/>
        </p:nvSpPr>
        <p:spPr>
          <a:xfrm rot="16200000">
            <a:off x="4236980" y="4375756"/>
            <a:ext cx="2560082" cy="892552"/>
          </a:xfrm>
          <a:prstGeom prst="rect">
            <a:avLst/>
          </a:prstGeom>
          <a:solidFill>
            <a:srgbClr val="E7EAED"/>
          </a:solidFill>
        </p:spPr>
        <p:txBody>
          <a:bodyPr wrap="square">
            <a:spAutoFit/>
          </a:bodyPr>
          <a:lstStyle/>
          <a:p>
            <a:pPr algn="ctr" fontAlgn="ctr">
              <a:buNone/>
            </a:pPr>
            <a:r>
              <a:rPr lang="en-GB" sz="2600" dirty="0">
                <a:solidFill>
                  <a:srgbClr val="000000"/>
                </a:solidFill>
                <a:latin typeface="Cascadia Code" panose="020B0609020000020004" pitchFamily="49" charset="0"/>
                <a:ea typeface="Cascadia Code" panose="020B0609020000020004" pitchFamily="49" charset="0"/>
                <a:cs typeface="Cascadia Code" panose="020B0609020000020004" pitchFamily="49" charset="0"/>
              </a:rPr>
              <a:t>Tree or Venn diagram</a:t>
            </a:r>
            <a:endParaRPr lang="en-GB" sz="1463" dirty="0">
              <a:solidFill>
                <a:srgbClr val="000000"/>
              </a:solidFill>
              <a:latin typeface="Cascadia Code" panose="020B0609020000020004" pitchFamily="49" charset="0"/>
              <a:ea typeface="Cascadia Code" panose="020B0609020000020004" pitchFamily="49" charset="0"/>
              <a:cs typeface="Cascadia Code" panose="020B0609020000020004" pitchFamily="49" charset="0"/>
            </a:endParaRPr>
          </a:p>
        </p:txBody>
      </p:sp>
    </p:spTree>
    <p:extLst>
      <p:ext uri="{BB962C8B-B14F-4D97-AF65-F5344CB8AC3E}">
        <p14:creationId xmlns:p14="http://schemas.microsoft.com/office/powerpoint/2010/main" val="39207907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B3664-F847-6F04-5E5B-36B57221548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8EDCD87-68DD-5A35-613F-B0FD2FAAC22B}"/>
              </a:ext>
            </a:extLst>
          </p:cNvPr>
          <p:cNvSpPr/>
          <p:nvPr/>
        </p:nvSpPr>
        <p:spPr>
          <a:xfrm>
            <a:off x="116114" y="134938"/>
            <a:ext cx="9666515" cy="6614205"/>
          </a:xfrm>
          <a:prstGeom prst="rect">
            <a:avLst/>
          </a:prstGeom>
          <a:solidFill>
            <a:srgbClr val="E7EAED"/>
          </a:solidFill>
          <a:ln w="254000">
            <a:solidFill>
              <a:srgbClr val="6B5B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63"/>
          </a:p>
        </p:txBody>
      </p:sp>
      <p:graphicFrame>
        <p:nvGraphicFramePr>
          <p:cNvPr id="4" name="Table 3">
            <a:extLst>
              <a:ext uri="{FF2B5EF4-FFF2-40B4-BE49-F238E27FC236}">
                <a16:creationId xmlns:a16="http://schemas.microsoft.com/office/drawing/2014/main" id="{C1B11F18-DF4F-FEBD-22CD-36E818B5F2E6}"/>
              </a:ext>
            </a:extLst>
          </p:cNvPr>
          <p:cNvGraphicFramePr>
            <a:graphicFrameLocks noGrp="1"/>
          </p:cNvGraphicFramePr>
          <p:nvPr>
            <p:extLst>
              <p:ext uri="{D42A27DB-BD31-4B8C-83A1-F6EECF244321}">
                <p14:modId xmlns:p14="http://schemas.microsoft.com/office/powerpoint/2010/main" val="1666437318"/>
              </p:ext>
            </p:extLst>
          </p:nvPr>
        </p:nvGraphicFramePr>
        <p:xfrm>
          <a:off x="-740229" y="-1698171"/>
          <a:ext cx="11016343" cy="9071428"/>
        </p:xfrm>
        <a:graphic>
          <a:graphicData uri="http://schemas.openxmlformats.org/drawingml/2006/table">
            <a:tbl>
              <a:tblPr>
                <a:tableStyleId>{5C22544A-7EE6-4342-B048-85BDC9FD1C3A}</a:tableStyleId>
              </a:tblPr>
              <a:tblGrid>
                <a:gridCol w="11016343">
                  <a:extLst>
                    <a:ext uri="{9D8B030D-6E8A-4147-A177-3AD203B41FA5}">
                      <a16:colId xmlns:a16="http://schemas.microsoft.com/office/drawing/2014/main" val="328224983"/>
                    </a:ext>
                  </a:extLst>
                </a:gridCol>
              </a:tblGrid>
              <a:tr h="9071428">
                <a:tc>
                  <a:txBody>
                    <a:bodyPr/>
                    <a:lstStyle/>
                    <a:p>
                      <a:pPr algn="ctr" fontAlgn="ctr">
                        <a:buNone/>
                      </a:pPr>
                      <a:r>
                        <a:rPr lang="en-GB" sz="28000" b="0" i="0" u="none" strike="noStrike"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CASE</a:t>
                      </a:r>
                    </a:p>
                  </a:txBody>
                  <a:tcPr marL="7739" marR="7739" marT="7739" marB="0" anchor="ctr">
                    <a:noFill/>
                  </a:tcPr>
                </a:tc>
                <a:extLst>
                  <a:ext uri="{0D108BD9-81ED-4DB2-BD59-A6C34878D82A}">
                    <a16:rowId xmlns:a16="http://schemas.microsoft.com/office/drawing/2014/main" val="3673612172"/>
                  </a:ext>
                </a:extLst>
              </a:tr>
            </a:tbl>
          </a:graphicData>
        </a:graphic>
      </p:graphicFrame>
      <p:pic>
        <p:nvPicPr>
          <p:cNvPr id="3" name="Picture 2">
            <a:extLst>
              <a:ext uri="{FF2B5EF4-FFF2-40B4-BE49-F238E27FC236}">
                <a16:creationId xmlns:a16="http://schemas.microsoft.com/office/drawing/2014/main" id="{45514695-19DB-2F16-A76A-09990DC5EC11}"/>
              </a:ext>
            </a:extLst>
          </p:cNvPr>
          <p:cNvPicPr>
            <a:picLocks noChangeAspect="1"/>
          </p:cNvPicPr>
          <p:nvPr/>
        </p:nvPicPr>
        <p:blipFill>
          <a:blip r:embed="rId2"/>
          <a:stretch>
            <a:fillRect/>
          </a:stretch>
        </p:blipFill>
        <p:spPr>
          <a:xfrm>
            <a:off x="3865131" y="4724925"/>
            <a:ext cx="1883720" cy="1582324"/>
          </a:xfrm>
          <a:prstGeom prst="rect">
            <a:avLst/>
          </a:prstGeom>
        </p:spPr>
      </p:pic>
      <p:pic>
        <p:nvPicPr>
          <p:cNvPr id="5" name="Graphic 4" descr="Puzzle outline">
            <a:extLst>
              <a:ext uri="{FF2B5EF4-FFF2-40B4-BE49-F238E27FC236}">
                <a16:creationId xmlns:a16="http://schemas.microsoft.com/office/drawing/2014/main" id="{11738965-CEE2-3B66-C362-8DC365C9AB1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063397" y="4809254"/>
            <a:ext cx="1487191" cy="1487191"/>
          </a:xfrm>
          <a:prstGeom prst="rect">
            <a:avLst/>
          </a:prstGeom>
        </p:spPr>
      </p:pic>
    </p:spTree>
    <p:extLst>
      <p:ext uri="{BB962C8B-B14F-4D97-AF65-F5344CB8AC3E}">
        <p14:creationId xmlns:p14="http://schemas.microsoft.com/office/powerpoint/2010/main" val="33390894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A94D29-89A9-929F-5E1B-34A615D1EBB6}"/>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CED3D689-A0B4-16B0-D992-E7A37475FF0B}"/>
              </a:ext>
            </a:extLst>
          </p:cNvPr>
          <p:cNvGraphicFramePr>
            <a:graphicFrameLocks noGrp="1"/>
          </p:cNvGraphicFramePr>
          <p:nvPr>
            <p:extLst>
              <p:ext uri="{D42A27DB-BD31-4B8C-83A1-F6EECF244321}">
                <p14:modId xmlns:p14="http://schemas.microsoft.com/office/powerpoint/2010/main" val="1249738881"/>
              </p:ext>
            </p:extLst>
          </p:nvPr>
        </p:nvGraphicFramePr>
        <p:xfrm>
          <a:off x="1" y="0"/>
          <a:ext cx="10082893" cy="6858000"/>
        </p:xfrm>
        <a:graphic>
          <a:graphicData uri="http://schemas.openxmlformats.org/drawingml/2006/table">
            <a:tbl>
              <a:tblPr>
                <a:tableStyleId>{5C22544A-7EE6-4342-B048-85BDC9FD1C3A}</a:tableStyleId>
              </a:tblPr>
              <a:tblGrid>
                <a:gridCol w="10082893">
                  <a:extLst>
                    <a:ext uri="{9D8B030D-6E8A-4147-A177-3AD203B41FA5}">
                      <a16:colId xmlns:a16="http://schemas.microsoft.com/office/drawing/2014/main" val="328224983"/>
                    </a:ext>
                  </a:extLst>
                </a:gridCol>
              </a:tblGrid>
              <a:tr h="6858000">
                <a:tc>
                  <a:txBody>
                    <a:bodyPr/>
                    <a:lstStyle/>
                    <a:p>
                      <a:pPr algn="ctr" fontAlgn="ctr">
                        <a:buNone/>
                      </a:pPr>
                      <a:r>
                        <a:rPr lang="en-GB" sz="13500" b="0" i="0" u="none" strike="noStrike"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RESEARCH QUESTION</a:t>
                      </a:r>
                    </a:p>
                  </a:txBody>
                  <a:tcPr marL="7739" marR="7739" marT="7739" marB="0" anchor="ctr"/>
                </a:tc>
                <a:extLst>
                  <a:ext uri="{0D108BD9-81ED-4DB2-BD59-A6C34878D82A}">
                    <a16:rowId xmlns:a16="http://schemas.microsoft.com/office/drawing/2014/main" val="3673612172"/>
                  </a:ext>
                </a:extLst>
              </a:tr>
            </a:tbl>
          </a:graphicData>
        </a:graphic>
      </p:graphicFrame>
    </p:spTree>
    <p:extLst>
      <p:ext uri="{BB962C8B-B14F-4D97-AF65-F5344CB8AC3E}">
        <p14:creationId xmlns:p14="http://schemas.microsoft.com/office/powerpoint/2010/main" val="7578729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9558FF-C36A-7B6A-71F5-BFB43D255675}"/>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66679623-FCBF-6A6D-0AB9-A7B1EFA20BC7}"/>
              </a:ext>
            </a:extLst>
          </p:cNvPr>
          <p:cNvGraphicFramePr>
            <a:graphicFrameLocks noGrp="1"/>
          </p:cNvGraphicFramePr>
          <p:nvPr>
            <p:extLst>
              <p:ext uri="{D42A27DB-BD31-4B8C-83A1-F6EECF244321}">
                <p14:modId xmlns:p14="http://schemas.microsoft.com/office/powerpoint/2010/main" val="1405727612"/>
              </p:ext>
            </p:extLst>
          </p:nvPr>
        </p:nvGraphicFramePr>
        <p:xfrm>
          <a:off x="0" y="0"/>
          <a:ext cx="9906000" cy="6858000"/>
        </p:xfrm>
        <a:graphic>
          <a:graphicData uri="http://schemas.openxmlformats.org/drawingml/2006/table">
            <a:tbl>
              <a:tblPr>
                <a:tableStyleId>{5C22544A-7EE6-4342-B048-85BDC9FD1C3A}</a:tableStyleId>
              </a:tblPr>
              <a:tblGrid>
                <a:gridCol w="9906000">
                  <a:extLst>
                    <a:ext uri="{9D8B030D-6E8A-4147-A177-3AD203B41FA5}">
                      <a16:colId xmlns:a16="http://schemas.microsoft.com/office/drawing/2014/main" val="328224983"/>
                    </a:ext>
                  </a:extLst>
                </a:gridCol>
              </a:tblGrid>
              <a:tr h="6858000">
                <a:tc>
                  <a:txBody>
                    <a:bodyPr/>
                    <a:lstStyle/>
                    <a:p>
                      <a:pPr algn="ctr" fontAlgn="ctr">
                        <a:buNone/>
                      </a:pPr>
                      <a:r>
                        <a:rPr lang="en-GB" sz="9300" b="0" i="0" u="none" strike="noStrike"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DATA STRUCTURE</a:t>
                      </a:r>
                    </a:p>
                    <a:p>
                      <a:pPr algn="ctr" fontAlgn="ctr">
                        <a:buNone/>
                      </a:pPr>
                      <a:r>
                        <a:rPr lang="en-GB" sz="4400" b="0" i="0" u="none" strike="noStrike"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ne variable / Two variables; </a:t>
                      </a:r>
                    </a:p>
                    <a:p>
                      <a:pPr algn="ctr" fontAlgn="ctr">
                        <a:buNone/>
                      </a:pPr>
                      <a:r>
                        <a:rPr lang="en-GB" sz="4400" b="0" i="0" u="none" strike="noStrike"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Numerical or Categorical; Independent or Paired; </a:t>
                      </a:r>
                    </a:p>
                    <a:p>
                      <a:pPr algn="ctr" fontAlgn="ctr">
                        <a:buNone/>
                      </a:pPr>
                      <a:r>
                        <a:rPr lang="en-GB" sz="4400" b="0" i="0" u="none" strike="noStrike"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 Groups</a:t>
                      </a:r>
                    </a:p>
                  </a:txBody>
                  <a:tcPr marL="6191" marR="6191" marT="6191" marB="0" anchor="ctr"/>
                </a:tc>
                <a:extLst>
                  <a:ext uri="{0D108BD9-81ED-4DB2-BD59-A6C34878D82A}">
                    <a16:rowId xmlns:a16="http://schemas.microsoft.com/office/drawing/2014/main" val="3673612172"/>
                  </a:ext>
                </a:extLst>
              </a:tr>
            </a:tbl>
          </a:graphicData>
        </a:graphic>
      </p:graphicFrame>
    </p:spTree>
    <p:extLst>
      <p:ext uri="{BB962C8B-B14F-4D97-AF65-F5344CB8AC3E}">
        <p14:creationId xmlns:p14="http://schemas.microsoft.com/office/powerpoint/2010/main" val="16083797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85FAD9-B066-88A0-0F82-FDB72ACD4693}"/>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7AA6351D-9F58-CF09-D88D-8E0F4DB795ED}"/>
              </a:ext>
            </a:extLst>
          </p:cNvPr>
          <p:cNvGraphicFramePr>
            <a:graphicFrameLocks noGrp="1"/>
          </p:cNvGraphicFramePr>
          <p:nvPr>
            <p:extLst>
              <p:ext uri="{D42A27DB-BD31-4B8C-83A1-F6EECF244321}">
                <p14:modId xmlns:p14="http://schemas.microsoft.com/office/powerpoint/2010/main" val="3022444263"/>
              </p:ext>
            </p:extLst>
          </p:nvPr>
        </p:nvGraphicFramePr>
        <p:xfrm>
          <a:off x="1" y="0"/>
          <a:ext cx="9905999" cy="6858000"/>
        </p:xfrm>
        <a:graphic>
          <a:graphicData uri="http://schemas.openxmlformats.org/drawingml/2006/table">
            <a:tbl>
              <a:tblPr>
                <a:tableStyleId>{5C22544A-7EE6-4342-B048-85BDC9FD1C3A}</a:tableStyleId>
              </a:tblPr>
              <a:tblGrid>
                <a:gridCol w="9905999">
                  <a:extLst>
                    <a:ext uri="{9D8B030D-6E8A-4147-A177-3AD203B41FA5}">
                      <a16:colId xmlns:a16="http://schemas.microsoft.com/office/drawing/2014/main" val="328224983"/>
                    </a:ext>
                  </a:extLst>
                </a:gridCol>
              </a:tblGrid>
              <a:tr h="6858000">
                <a:tc>
                  <a:txBody>
                    <a:bodyPr/>
                    <a:lstStyle/>
                    <a:p>
                      <a:pPr algn="ctr" fontAlgn="ctr">
                        <a:buNone/>
                      </a:pPr>
                      <a:r>
                        <a:rPr lang="en-GB" sz="11200" b="0" i="0" u="none" strike="noStrike"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KEY ASSUMPTION</a:t>
                      </a:r>
                    </a:p>
                  </a:txBody>
                  <a:tcPr marL="7739" marR="7739" marT="7739" marB="0" anchor="ctr"/>
                </a:tc>
                <a:extLst>
                  <a:ext uri="{0D108BD9-81ED-4DB2-BD59-A6C34878D82A}">
                    <a16:rowId xmlns:a16="http://schemas.microsoft.com/office/drawing/2014/main" val="3673612172"/>
                  </a:ext>
                </a:extLst>
              </a:tr>
            </a:tbl>
          </a:graphicData>
        </a:graphic>
      </p:graphicFrame>
    </p:spTree>
    <p:extLst>
      <p:ext uri="{BB962C8B-B14F-4D97-AF65-F5344CB8AC3E}">
        <p14:creationId xmlns:p14="http://schemas.microsoft.com/office/powerpoint/2010/main" val="42622936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1C9A56-F370-2A64-3190-474AEA3E9CE7}"/>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97C63F3D-81C1-7BED-A681-C64D27BBDDD0}"/>
              </a:ext>
            </a:extLst>
          </p:cNvPr>
          <p:cNvGraphicFramePr>
            <a:graphicFrameLocks noGrp="1"/>
          </p:cNvGraphicFramePr>
          <p:nvPr>
            <p:extLst>
              <p:ext uri="{D42A27DB-BD31-4B8C-83A1-F6EECF244321}">
                <p14:modId xmlns:p14="http://schemas.microsoft.com/office/powerpoint/2010/main" val="2288319741"/>
              </p:ext>
            </p:extLst>
          </p:nvPr>
        </p:nvGraphicFramePr>
        <p:xfrm>
          <a:off x="0" y="-1213821"/>
          <a:ext cx="9906000" cy="7939314"/>
        </p:xfrm>
        <a:graphic>
          <a:graphicData uri="http://schemas.openxmlformats.org/drawingml/2006/table">
            <a:tbl>
              <a:tblPr>
                <a:tableStyleId>{5C22544A-7EE6-4342-B048-85BDC9FD1C3A}</a:tableStyleId>
              </a:tblPr>
              <a:tblGrid>
                <a:gridCol w="9906000">
                  <a:extLst>
                    <a:ext uri="{9D8B030D-6E8A-4147-A177-3AD203B41FA5}">
                      <a16:colId xmlns:a16="http://schemas.microsoft.com/office/drawing/2014/main" val="328224983"/>
                    </a:ext>
                  </a:extLst>
                </a:gridCol>
              </a:tblGrid>
              <a:tr h="7939314">
                <a:tc>
                  <a:txBody>
                    <a:bodyPr/>
                    <a:lstStyle/>
                    <a:p>
                      <a:pPr algn="ctr" fontAlgn="ctr">
                        <a:buNone/>
                      </a:pPr>
                      <a:r>
                        <a:rPr lang="en-GB" sz="9600" b="0" i="0" u="none" strike="noStrike"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STATISTICAL METHOD</a:t>
                      </a:r>
                    </a:p>
                  </a:txBody>
                  <a:tcPr marL="6191" marR="6191" marT="6191" marB="0" anchor="ctr"/>
                </a:tc>
                <a:extLst>
                  <a:ext uri="{0D108BD9-81ED-4DB2-BD59-A6C34878D82A}">
                    <a16:rowId xmlns:a16="http://schemas.microsoft.com/office/drawing/2014/main" val="3673612172"/>
                  </a:ext>
                </a:extLst>
              </a:tr>
            </a:tbl>
          </a:graphicData>
        </a:graphic>
      </p:graphicFrame>
      <p:sp>
        <p:nvSpPr>
          <p:cNvPr id="2" name="Rectangle 1">
            <a:extLst>
              <a:ext uri="{FF2B5EF4-FFF2-40B4-BE49-F238E27FC236}">
                <a16:creationId xmlns:a16="http://schemas.microsoft.com/office/drawing/2014/main" id="{2F17CF72-7731-E92F-F161-D1BD33CFC924}"/>
              </a:ext>
            </a:extLst>
          </p:cNvPr>
          <p:cNvSpPr/>
          <p:nvPr/>
        </p:nvSpPr>
        <p:spPr>
          <a:xfrm>
            <a:off x="101601" y="132507"/>
            <a:ext cx="9695542" cy="6631150"/>
          </a:xfrm>
          <a:prstGeom prst="rect">
            <a:avLst/>
          </a:prstGeom>
          <a:noFill/>
          <a:ln w="254000">
            <a:solidFill>
              <a:srgbClr val="2F5D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63"/>
          </a:p>
        </p:txBody>
      </p:sp>
      <p:pic>
        <p:nvPicPr>
          <p:cNvPr id="6" name="Picture 5">
            <a:extLst>
              <a:ext uri="{FF2B5EF4-FFF2-40B4-BE49-F238E27FC236}">
                <a16:creationId xmlns:a16="http://schemas.microsoft.com/office/drawing/2014/main" id="{F3EC9226-6066-6EB5-BF2D-91F69FF9E427}"/>
              </a:ext>
            </a:extLst>
          </p:cNvPr>
          <p:cNvPicPr>
            <a:picLocks noChangeAspect="1"/>
          </p:cNvPicPr>
          <p:nvPr/>
        </p:nvPicPr>
        <p:blipFill>
          <a:blip r:embed="rId2"/>
          <a:stretch>
            <a:fillRect/>
          </a:stretch>
        </p:blipFill>
        <p:spPr>
          <a:xfrm>
            <a:off x="3814768" y="4409894"/>
            <a:ext cx="1584926" cy="1556454"/>
          </a:xfrm>
          <a:prstGeom prst="rect">
            <a:avLst/>
          </a:prstGeom>
        </p:spPr>
      </p:pic>
      <p:pic>
        <p:nvPicPr>
          <p:cNvPr id="7" name="Graphic 6" descr="Mining tools outline">
            <a:extLst>
              <a:ext uri="{FF2B5EF4-FFF2-40B4-BE49-F238E27FC236}">
                <a16:creationId xmlns:a16="http://schemas.microsoft.com/office/drawing/2014/main" id="{20AB463C-5FE2-2011-85ED-EE892490818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940772" y="4476912"/>
            <a:ext cx="1257393" cy="1257393"/>
          </a:xfrm>
          <a:prstGeom prst="rect">
            <a:avLst/>
          </a:prstGeom>
        </p:spPr>
      </p:pic>
    </p:spTree>
    <p:extLst>
      <p:ext uri="{BB962C8B-B14F-4D97-AF65-F5344CB8AC3E}">
        <p14:creationId xmlns:p14="http://schemas.microsoft.com/office/powerpoint/2010/main" val="28859683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31F258-F657-2EE8-0C5A-1B01A9593E4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B2C3801-76E6-5877-25FF-FC7AD2AF6DE0}"/>
              </a:ext>
            </a:extLst>
          </p:cNvPr>
          <p:cNvSpPr/>
          <p:nvPr/>
        </p:nvSpPr>
        <p:spPr>
          <a:xfrm>
            <a:off x="116114" y="134938"/>
            <a:ext cx="9666515" cy="6614205"/>
          </a:xfrm>
          <a:prstGeom prst="rect">
            <a:avLst/>
          </a:prstGeom>
          <a:solidFill>
            <a:srgbClr val="E7EAED"/>
          </a:solidFill>
          <a:ln w="254000">
            <a:solidFill>
              <a:srgbClr val="6B5B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63"/>
          </a:p>
        </p:txBody>
      </p:sp>
      <p:graphicFrame>
        <p:nvGraphicFramePr>
          <p:cNvPr id="4" name="Table 3">
            <a:extLst>
              <a:ext uri="{FF2B5EF4-FFF2-40B4-BE49-F238E27FC236}">
                <a16:creationId xmlns:a16="http://schemas.microsoft.com/office/drawing/2014/main" id="{4F1FFD93-71BF-A0A6-85C7-E1C529E8ED84}"/>
              </a:ext>
            </a:extLst>
          </p:cNvPr>
          <p:cNvGraphicFramePr>
            <a:graphicFrameLocks noGrp="1"/>
          </p:cNvGraphicFramePr>
          <p:nvPr/>
        </p:nvGraphicFramePr>
        <p:xfrm>
          <a:off x="-740229" y="-1698171"/>
          <a:ext cx="11016343" cy="9071428"/>
        </p:xfrm>
        <a:graphic>
          <a:graphicData uri="http://schemas.openxmlformats.org/drawingml/2006/table">
            <a:tbl>
              <a:tblPr>
                <a:tableStyleId>{5C22544A-7EE6-4342-B048-85BDC9FD1C3A}</a:tableStyleId>
              </a:tblPr>
              <a:tblGrid>
                <a:gridCol w="11016343">
                  <a:extLst>
                    <a:ext uri="{9D8B030D-6E8A-4147-A177-3AD203B41FA5}">
                      <a16:colId xmlns:a16="http://schemas.microsoft.com/office/drawing/2014/main" val="328224983"/>
                    </a:ext>
                  </a:extLst>
                </a:gridCol>
              </a:tblGrid>
              <a:tr h="9071428">
                <a:tc>
                  <a:txBody>
                    <a:bodyPr/>
                    <a:lstStyle/>
                    <a:p>
                      <a:pPr algn="ctr" fontAlgn="ctr">
                        <a:buNone/>
                      </a:pPr>
                      <a:r>
                        <a:rPr lang="en-GB" sz="28000" b="0" i="0" u="none" strike="noStrike"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CASE</a:t>
                      </a:r>
                    </a:p>
                  </a:txBody>
                  <a:tcPr marL="7739" marR="7739" marT="7739" marB="0" anchor="ctr">
                    <a:noFill/>
                  </a:tcPr>
                </a:tc>
                <a:extLst>
                  <a:ext uri="{0D108BD9-81ED-4DB2-BD59-A6C34878D82A}">
                    <a16:rowId xmlns:a16="http://schemas.microsoft.com/office/drawing/2014/main" val="3673612172"/>
                  </a:ext>
                </a:extLst>
              </a:tr>
            </a:tbl>
          </a:graphicData>
        </a:graphic>
      </p:graphicFrame>
      <p:pic>
        <p:nvPicPr>
          <p:cNvPr id="3" name="Picture 2">
            <a:extLst>
              <a:ext uri="{FF2B5EF4-FFF2-40B4-BE49-F238E27FC236}">
                <a16:creationId xmlns:a16="http://schemas.microsoft.com/office/drawing/2014/main" id="{C93B77B6-5C64-7A8C-0DF3-4C58FA3DAFFA}"/>
              </a:ext>
            </a:extLst>
          </p:cNvPr>
          <p:cNvPicPr>
            <a:picLocks noChangeAspect="1"/>
          </p:cNvPicPr>
          <p:nvPr/>
        </p:nvPicPr>
        <p:blipFill>
          <a:blip r:embed="rId2"/>
          <a:stretch>
            <a:fillRect/>
          </a:stretch>
        </p:blipFill>
        <p:spPr>
          <a:xfrm>
            <a:off x="3865131" y="4724925"/>
            <a:ext cx="1883720" cy="1582324"/>
          </a:xfrm>
          <a:prstGeom prst="rect">
            <a:avLst/>
          </a:prstGeom>
        </p:spPr>
      </p:pic>
      <p:pic>
        <p:nvPicPr>
          <p:cNvPr id="5" name="Graphic 4" descr="Puzzle outline">
            <a:extLst>
              <a:ext uri="{FF2B5EF4-FFF2-40B4-BE49-F238E27FC236}">
                <a16:creationId xmlns:a16="http://schemas.microsoft.com/office/drawing/2014/main" id="{F84E6CFC-EA99-EC1D-A2D1-1C8A9A17301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063397" y="4809254"/>
            <a:ext cx="1487191" cy="1487191"/>
          </a:xfrm>
          <a:prstGeom prst="rect">
            <a:avLst/>
          </a:prstGeom>
        </p:spPr>
      </p:pic>
    </p:spTree>
    <p:extLst>
      <p:ext uri="{BB962C8B-B14F-4D97-AF65-F5344CB8AC3E}">
        <p14:creationId xmlns:p14="http://schemas.microsoft.com/office/powerpoint/2010/main" val="35540826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643F29-92CA-69F9-22AD-B1565ECBBE78}"/>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D4495934-2DEF-3C36-CE1B-762B109E3C6D}"/>
              </a:ext>
            </a:extLst>
          </p:cNvPr>
          <p:cNvSpPr/>
          <p:nvPr/>
        </p:nvSpPr>
        <p:spPr>
          <a:xfrm>
            <a:off x="0" y="0"/>
            <a:ext cx="9906000" cy="6858000"/>
          </a:xfrm>
          <a:prstGeom prst="rect">
            <a:avLst/>
          </a:prstGeom>
          <a:solidFill>
            <a:srgbClr val="E7EA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aphicFrame>
        <p:nvGraphicFramePr>
          <p:cNvPr id="4" name="Table 3">
            <a:extLst>
              <a:ext uri="{FF2B5EF4-FFF2-40B4-BE49-F238E27FC236}">
                <a16:creationId xmlns:a16="http://schemas.microsoft.com/office/drawing/2014/main" id="{60FEB55D-7D9E-1C00-6784-BA1108E165F8}"/>
              </a:ext>
            </a:extLst>
          </p:cNvPr>
          <p:cNvGraphicFramePr>
            <a:graphicFrameLocks noGrp="1"/>
          </p:cNvGraphicFramePr>
          <p:nvPr/>
        </p:nvGraphicFramePr>
        <p:xfrm>
          <a:off x="2" y="-2046514"/>
          <a:ext cx="9782628" cy="9173029"/>
        </p:xfrm>
        <a:graphic>
          <a:graphicData uri="http://schemas.openxmlformats.org/drawingml/2006/table">
            <a:tbl>
              <a:tblPr>
                <a:tableStyleId>{5C22544A-7EE6-4342-B048-85BDC9FD1C3A}</a:tableStyleId>
              </a:tblPr>
              <a:tblGrid>
                <a:gridCol w="9782628">
                  <a:extLst>
                    <a:ext uri="{9D8B030D-6E8A-4147-A177-3AD203B41FA5}">
                      <a16:colId xmlns:a16="http://schemas.microsoft.com/office/drawing/2014/main" val="328224983"/>
                    </a:ext>
                  </a:extLst>
                </a:gridCol>
              </a:tblGrid>
              <a:tr h="9173029">
                <a:tc>
                  <a:txBody>
                    <a:bodyPr/>
                    <a:lstStyle/>
                    <a:p>
                      <a:pPr algn="ctr" fontAlgn="ctr">
                        <a:buNone/>
                      </a:pPr>
                      <a:r>
                        <a:rPr lang="en-GB" sz="9300" b="0" i="0" u="none" strike="noStrike"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VISUALISATION</a:t>
                      </a:r>
                    </a:p>
                    <a:p>
                      <a:pPr algn="ctr" fontAlgn="ctr">
                        <a:buNone/>
                      </a:pPr>
                      <a:r>
                        <a:rPr lang="en-GB" sz="4900" b="0" i="0" u="none" strike="noStrike"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(add a little drawing)</a:t>
                      </a:r>
                    </a:p>
                  </a:txBody>
                  <a:tcPr marL="7739" marR="7739" marT="7739" marB="0" anchor="ctr">
                    <a:noFill/>
                  </a:tcPr>
                </a:tc>
                <a:extLst>
                  <a:ext uri="{0D108BD9-81ED-4DB2-BD59-A6C34878D82A}">
                    <a16:rowId xmlns:a16="http://schemas.microsoft.com/office/drawing/2014/main" val="3673612172"/>
                  </a:ext>
                </a:extLst>
              </a:tr>
            </a:tbl>
          </a:graphicData>
        </a:graphic>
      </p:graphicFrame>
      <p:sp>
        <p:nvSpPr>
          <p:cNvPr id="2" name="Rectangle 1">
            <a:extLst>
              <a:ext uri="{FF2B5EF4-FFF2-40B4-BE49-F238E27FC236}">
                <a16:creationId xmlns:a16="http://schemas.microsoft.com/office/drawing/2014/main" id="{52C22884-5158-705E-00CC-2ED78F168CCD}"/>
              </a:ext>
            </a:extLst>
          </p:cNvPr>
          <p:cNvSpPr/>
          <p:nvPr/>
        </p:nvSpPr>
        <p:spPr>
          <a:xfrm>
            <a:off x="88447" y="101600"/>
            <a:ext cx="9694182" cy="6647542"/>
          </a:xfrm>
          <a:prstGeom prst="rect">
            <a:avLst/>
          </a:prstGeom>
          <a:noFill/>
          <a:ln w="254000">
            <a:solidFill>
              <a:srgbClr val="D9A44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63"/>
          </a:p>
        </p:txBody>
      </p:sp>
      <p:pic>
        <p:nvPicPr>
          <p:cNvPr id="3" name="Picture 2">
            <a:extLst>
              <a:ext uri="{FF2B5EF4-FFF2-40B4-BE49-F238E27FC236}">
                <a16:creationId xmlns:a16="http://schemas.microsoft.com/office/drawing/2014/main" id="{88B2BECC-645A-85F3-260E-EB6BF30DCDC1}"/>
              </a:ext>
            </a:extLst>
          </p:cNvPr>
          <p:cNvPicPr>
            <a:picLocks noChangeAspect="1"/>
          </p:cNvPicPr>
          <p:nvPr/>
        </p:nvPicPr>
        <p:blipFill>
          <a:blip r:embed="rId2"/>
          <a:stretch>
            <a:fillRect/>
          </a:stretch>
        </p:blipFill>
        <p:spPr>
          <a:xfrm>
            <a:off x="4044382" y="4771696"/>
            <a:ext cx="1817233" cy="1600250"/>
          </a:xfrm>
          <a:prstGeom prst="rect">
            <a:avLst/>
          </a:prstGeom>
        </p:spPr>
      </p:pic>
      <p:pic>
        <p:nvPicPr>
          <p:cNvPr id="5" name="Graphic 4" descr="Bar chart outline">
            <a:extLst>
              <a:ext uri="{FF2B5EF4-FFF2-40B4-BE49-F238E27FC236}">
                <a16:creationId xmlns:a16="http://schemas.microsoft.com/office/drawing/2014/main" id="{7A9483E6-7564-FCB4-F064-15EB6870F88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214486" y="4771696"/>
            <a:ext cx="1477027" cy="1477027"/>
          </a:xfrm>
          <a:prstGeom prst="rect">
            <a:avLst/>
          </a:prstGeom>
        </p:spPr>
      </p:pic>
    </p:spTree>
    <p:extLst>
      <p:ext uri="{BB962C8B-B14F-4D97-AF65-F5344CB8AC3E}">
        <p14:creationId xmlns:p14="http://schemas.microsoft.com/office/powerpoint/2010/main" val="39572181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B80127-1732-CFAA-4396-40F4E2841759}"/>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BE83135D-E41F-2A60-47A8-4A206911BAAF}"/>
              </a:ext>
            </a:extLst>
          </p:cNvPr>
          <p:cNvGraphicFramePr>
            <a:graphicFrameLocks noGrp="1"/>
          </p:cNvGraphicFramePr>
          <p:nvPr>
            <p:extLst>
              <p:ext uri="{D42A27DB-BD31-4B8C-83A1-F6EECF244321}">
                <p14:modId xmlns:p14="http://schemas.microsoft.com/office/powerpoint/2010/main" val="2900114734"/>
              </p:ext>
            </p:extLst>
          </p:nvPr>
        </p:nvGraphicFramePr>
        <p:xfrm>
          <a:off x="2" y="0"/>
          <a:ext cx="9905998" cy="6858000"/>
        </p:xfrm>
        <a:graphic>
          <a:graphicData uri="http://schemas.openxmlformats.org/drawingml/2006/table">
            <a:tbl>
              <a:tblPr>
                <a:tableStyleId>{5C22544A-7EE6-4342-B048-85BDC9FD1C3A}</a:tableStyleId>
              </a:tblPr>
              <a:tblGrid>
                <a:gridCol w="9905998">
                  <a:extLst>
                    <a:ext uri="{9D8B030D-6E8A-4147-A177-3AD203B41FA5}">
                      <a16:colId xmlns:a16="http://schemas.microsoft.com/office/drawing/2014/main" val="328224983"/>
                    </a:ext>
                  </a:extLst>
                </a:gridCol>
              </a:tblGrid>
              <a:tr h="6858000">
                <a:tc>
                  <a:txBody>
                    <a:bodyPr/>
                    <a:lstStyle/>
                    <a:p>
                      <a:pPr algn="ctr" fontAlgn="ctr">
                        <a:buNone/>
                      </a:pPr>
                      <a:r>
                        <a:rPr lang="en-GB" sz="7800" b="0" i="0" u="none" strike="noStrike"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WHAT ARE WE CALCULATING?</a:t>
                      </a:r>
                    </a:p>
                  </a:txBody>
                  <a:tcPr marL="7739" marR="7739" marT="7739" marB="0" anchor="ctr"/>
                </a:tc>
                <a:extLst>
                  <a:ext uri="{0D108BD9-81ED-4DB2-BD59-A6C34878D82A}">
                    <a16:rowId xmlns:a16="http://schemas.microsoft.com/office/drawing/2014/main" val="3673612172"/>
                  </a:ext>
                </a:extLst>
              </a:tr>
            </a:tbl>
          </a:graphicData>
        </a:graphic>
      </p:graphicFrame>
    </p:spTree>
    <p:extLst>
      <p:ext uri="{BB962C8B-B14F-4D97-AF65-F5344CB8AC3E}">
        <p14:creationId xmlns:p14="http://schemas.microsoft.com/office/powerpoint/2010/main" val="16859038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939250-83E0-D876-21CE-8E48994423B4}"/>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F0A888C7-7EA9-7683-010E-8BACAD05890A}"/>
              </a:ext>
            </a:extLst>
          </p:cNvPr>
          <p:cNvGraphicFramePr>
            <a:graphicFrameLocks noGrp="1"/>
          </p:cNvGraphicFramePr>
          <p:nvPr>
            <p:extLst>
              <p:ext uri="{D42A27DB-BD31-4B8C-83A1-F6EECF244321}">
                <p14:modId xmlns:p14="http://schemas.microsoft.com/office/powerpoint/2010/main" val="1302435711"/>
              </p:ext>
            </p:extLst>
          </p:nvPr>
        </p:nvGraphicFramePr>
        <p:xfrm>
          <a:off x="0" y="0"/>
          <a:ext cx="9906000" cy="6858000"/>
        </p:xfrm>
        <a:graphic>
          <a:graphicData uri="http://schemas.openxmlformats.org/drawingml/2006/table">
            <a:tbl>
              <a:tblPr>
                <a:tableStyleId>{5C22544A-7EE6-4342-B048-85BDC9FD1C3A}</a:tableStyleId>
              </a:tblPr>
              <a:tblGrid>
                <a:gridCol w="9906000">
                  <a:extLst>
                    <a:ext uri="{9D8B030D-6E8A-4147-A177-3AD203B41FA5}">
                      <a16:colId xmlns:a16="http://schemas.microsoft.com/office/drawing/2014/main" val="328224983"/>
                    </a:ext>
                  </a:extLst>
                </a:gridCol>
              </a:tblGrid>
              <a:tr h="6858000">
                <a:tc>
                  <a:txBody>
                    <a:bodyPr/>
                    <a:lstStyle/>
                    <a:p>
                      <a:pPr algn="ctr" fontAlgn="ctr">
                        <a:buNone/>
                      </a:pPr>
                      <a:r>
                        <a:rPr lang="en-GB" sz="9300" b="0" i="0" u="none" strike="noStrike"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DATA DESCRIPTION</a:t>
                      </a:r>
                    </a:p>
                    <a:p>
                      <a:pPr algn="ctr" fontAlgn="ctr">
                        <a:buNone/>
                      </a:pPr>
                      <a:r>
                        <a:rPr lang="en-GB" sz="4400" b="0" i="0" u="none" strike="noStrike"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Categories, events, mutually exclusive or not</a:t>
                      </a:r>
                    </a:p>
                  </a:txBody>
                  <a:tcPr marL="6191" marR="6191" marT="6191" marB="0" anchor="ctr"/>
                </a:tc>
                <a:extLst>
                  <a:ext uri="{0D108BD9-81ED-4DB2-BD59-A6C34878D82A}">
                    <a16:rowId xmlns:a16="http://schemas.microsoft.com/office/drawing/2014/main" val="3673612172"/>
                  </a:ext>
                </a:extLst>
              </a:tr>
            </a:tbl>
          </a:graphicData>
        </a:graphic>
      </p:graphicFrame>
    </p:spTree>
    <p:extLst>
      <p:ext uri="{BB962C8B-B14F-4D97-AF65-F5344CB8AC3E}">
        <p14:creationId xmlns:p14="http://schemas.microsoft.com/office/powerpoint/2010/main" val="41879500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1936B1-4F4B-636B-F6E7-09BC0BCD75D7}"/>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0B8326F4-A355-181F-35D8-71D106DDBC1B}"/>
              </a:ext>
            </a:extLst>
          </p:cNvPr>
          <p:cNvGraphicFramePr>
            <a:graphicFrameLocks noGrp="1"/>
          </p:cNvGraphicFramePr>
          <p:nvPr>
            <p:extLst>
              <p:ext uri="{D42A27DB-BD31-4B8C-83A1-F6EECF244321}">
                <p14:modId xmlns:p14="http://schemas.microsoft.com/office/powerpoint/2010/main" val="4286114276"/>
              </p:ext>
            </p:extLst>
          </p:nvPr>
        </p:nvGraphicFramePr>
        <p:xfrm>
          <a:off x="0" y="-1213821"/>
          <a:ext cx="9906000" cy="7939314"/>
        </p:xfrm>
        <a:graphic>
          <a:graphicData uri="http://schemas.openxmlformats.org/drawingml/2006/table">
            <a:tbl>
              <a:tblPr>
                <a:tableStyleId>{5C22544A-7EE6-4342-B048-85BDC9FD1C3A}</a:tableStyleId>
              </a:tblPr>
              <a:tblGrid>
                <a:gridCol w="9906000">
                  <a:extLst>
                    <a:ext uri="{9D8B030D-6E8A-4147-A177-3AD203B41FA5}">
                      <a16:colId xmlns:a16="http://schemas.microsoft.com/office/drawing/2014/main" val="328224983"/>
                    </a:ext>
                  </a:extLst>
                </a:gridCol>
              </a:tblGrid>
              <a:tr h="7939314">
                <a:tc>
                  <a:txBody>
                    <a:bodyPr/>
                    <a:lstStyle/>
                    <a:p>
                      <a:pPr algn="ctr" fontAlgn="ctr">
                        <a:buNone/>
                      </a:pPr>
                      <a:r>
                        <a:rPr lang="en-GB" sz="9300" b="0" i="0" u="none" strike="noStrike"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RULE / DISTRIUBTION</a:t>
                      </a:r>
                    </a:p>
                    <a:p>
                      <a:pPr algn="ctr" fontAlgn="ctr">
                        <a:buNone/>
                      </a:pPr>
                      <a:r>
                        <a:rPr lang="en-GB" sz="3600" b="0" i="0" u="none" strike="noStrike"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Addition, multiplication, conditional, binomial</a:t>
                      </a:r>
                    </a:p>
                  </a:txBody>
                  <a:tcPr marL="6191" marR="6191" marT="6191" marB="0" anchor="ctr"/>
                </a:tc>
                <a:extLst>
                  <a:ext uri="{0D108BD9-81ED-4DB2-BD59-A6C34878D82A}">
                    <a16:rowId xmlns:a16="http://schemas.microsoft.com/office/drawing/2014/main" val="3673612172"/>
                  </a:ext>
                </a:extLst>
              </a:tr>
            </a:tbl>
          </a:graphicData>
        </a:graphic>
      </p:graphicFrame>
      <p:sp>
        <p:nvSpPr>
          <p:cNvPr id="2" name="Rectangle 1">
            <a:extLst>
              <a:ext uri="{FF2B5EF4-FFF2-40B4-BE49-F238E27FC236}">
                <a16:creationId xmlns:a16="http://schemas.microsoft.com/office/drawing/2014/main" id="{A47B4A8D-B1E6-C234-5286-921069FA31E6}"/>
              </a:ext>
            </a:extLst>
          </p:cNvPr>
          <p:cNvSpPr/>
          <p:nvPr/>
        </p:nvSpPr>
        <p:spPr>
          <a:xfrm>
            <a:off x="101601" y="132507"/>
            <a:ext cx="9695542" cy="6631150"/>
          </a:xfrm>
          <a:prstGeom prst="rect">
            <a:avLst/>
          </a:prstGeom>
          <a:noFill/>
          <a:ln w="254000">
            <a:solidFill>
              <a:srgbClr val="2F5D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63"/>
          </a:p>
        </p:txBody>
      </p:sp>
      <p:pic>
        <p:nvPicPr>
          <p:cNvPr id="6" name="Picture 5">
            <a:extLst>
              <a:ext uri="{FF2B5EF4-FFF2-40B4-BE49-F238E27FC236}">
                <a16:creationId xmlns:a16="http://schemas.microsoft.com/office/drawing/2014/main" id="{7800AB5A-E3DE-106F-198B-FAB5A2EC7302}"/>
              </a:ext>
            </a:extLst>
          </p:cNvPr>
          <p:cNvPicPr>
            <a:picLocks noChangeAspect="1"/>
          </p:cNvPicPr>
          <p:nvPr/>
        </p:nvPicPr>
        <p:blipFill>
          <a:blip r:embed="rId2"/>
          <a:stretch>
            <a:fillRect/>
          </a:stretch>
        </p:blipFill>
        <p:spPr>
          <a:xfrm>
            <a:off x="3800254" y="4946942"/>
            <a:ext cx="1584926" cy="1556454"/>
          </a:xfrm>
          <a:prstGeom prst="rect">
            <a:avLst/>
          </a:prstGeom>
        </p:spPr>
      </p:pic>
      <p:pic>
        <p:nvPicPr>
          <p:cNvPr id="7" name="Graphic 6" descr="Mining tools outline">
            <a:extLst>
              <a:ext uri="{FF2B5EF4-FFF2-40B4-BE49-F238E27FC236}">
                <a16:creationId xmlns:a16="http://schemas.microsoft.com/office/drawing/2014/main" id="{D8D8C1A2-1A96-A227-5AFB-C5804287BED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926258" y="5013960"/>
            <a:ext cx="1257393" cy="1257393"/>
          </a:xfrm>
          <a:prstGeom prst="rect">
            <a:avLst/>
          </a:prstGeom>
        </p:spPr>
      </p:pic>
    </p:spTree>
    <p:extLst>
      <p:ext uri="{BB962C8B-B14F-4D97-AF65-F5344CB8AC3E}">
        <p14:creationId xmlns:p14="http://schemas.microsoft.com/office/powerpoint/2010/main" val="14160697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E43A28-0062-B03E-1633-25E70F1E69B7}"/>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6CD0DD65-903B-FE8E-128F-5741115DE16D}"/>
              </a:ext>
            </a:extLst>
          </p:cNvPr>
          <p:cNvSpPr/>
          <p:nvPr/>
        </p:nvSpPr>
        <p:spPr>
          <a:xfrm>
            <a:off x="0" y="0"/>
            <a:ext cx="9906000" cy="6858000"/>
          </a:xfrm>
          <a:prstGeom prst="rect">
            <a:avLst/>
          </a:prstGeom>
          <a:solidFill>
            <a:srgbClr val="E7EA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aphicFrame>
        <p:nvGraphicFramePr>
          <p:cNvPr id="4" name="Table 3">
            <a:extLst>
              <a:ext uri="{FF2B5EF4-FFF2-40B4-BE49-F238E27FC236}">
                <a16:creationId xmlns:a16="http://schemas.microsoft.com/office/drawing/2014/main" id="{38AC220E-6AF6-0E4E-9F69-01F0D58100FE}"/>
              </a:ext>
            </a:extLst>
          </p:cNvPr>
          <p:cNvGraphicFramePr>
            <a:graphicFrameLocks noGrp="1"/>
          </p:cNvGraphicFramePr>
          <p:nvPr>
            <p:extLst>
              <p:ext uri="{D42A27DB-BD31-4B8C-83A1-F6EECF244321}">
                <p14:modId xmlns:p14="http://schemas.microsoft.com/office/powerpoint/2010/main" val="3664244591"/>
              </p:ext>
            </p:extLst>
          </p:nvPr>
        </p:nvGraphicFramePr>
        <p:xfrm>
          <a:off x="2" y="-2046514"/>
          <a:ext cx="9782628" cy="9173029"/>
        </p:xfrm>
        <a:graphic>
          <a:graphicData uri="http://schemas.openxmlformats.org/drawingml/2006/table">
            <a:tbl>
              <a:tblPr>
                <a:tableStyleId>{5C22544A-7EE6-4342-B048-85BDC9FD1C3A}</a:tableStyleId>
              </a:tblPr>
              <a:tblGrid>
                <a:gridCol w="9782628">
                  <a:extLst>
                    <a:ext uri="{9D8B030D-6E8A-4147-A177-3AD203B41FA5}">
                      <a16:colId xmlns:a16="http://schemas.microsoft.com/office/drawing/2014/main" val="328224983"/>
                    </a:ext>
                  </a:extLst>
                </a:gridCol>
              </a:tblGrid>
              <a:tr h="9173029">
                <a:tc>
                  <a:txBody>
                    <a:bodyPr/>
                    <a:lstStyle/>
                    <a:p>
                      <a:pPr algn="ctr" fontAlgn="ctr">
                        <a:buNone/>
                      </a:pPr>
                      <a:r>
                        <a:rPr lang="en-GB" sz="9300" b="0" i="0" u="none" strike="noStrike"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VISUALISATION</a:t>
                      </a:r>
                    </a:p>
                    <a:p>
                      <a:pPr algn="ctr" fontAlgn="ctr">
                        <a:buNone/>
                      </a:pPr>
                      <a:r>
                        <a:rPr lang="en-GB" sz="4900" b="0" i="0" u="none" strike="noStrike"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(add a little drawing)</a:t>
                      </a:r>
                    </a:p>
                  </a:txBody>
                  <a:tcPr marL="7739" marR="7739" marT="7739" marB="0" anchor="ctr">
                    <a:noFill/>
                  </a:tcPr>
                </a:tc>
                <a:extLst>
                  <a:ext uri="{0D108BD9-81ED-4DB2-BD59-A6C34878D82A}">
                    <a16:rowId xmlns:a16="http://schemas.microsoft.com/office/drawing/2014/main" val="3673612172"/>
                  </a:ext>
                </a:extLst>
              </a:tr>
            </a:tbl>
          </a:graphicData>
        </a:graphic>
      </p:graphicFrame>
      <p:sp>
        <p:nvSpPr>
          <p:cNvPr id="2" name="Rectangle 1">
            <a:extLst>
              <a:ext uri="{FF2B5EF4-FFF2-40B4-BE49-F238E27FC236}">
                <a16:creationId xmlns:a16="http://schemas.microsoft.com/office/drawing/2014/main" id="{C54702B7-FABC-CF9E-E6FC-AD1EC0043A75}"/>
              </a:ext>
            </a:extLst>
          </p:cNvPr>
          <p:cNvSpPr/>
          <p:nvPr/>
        </p:nvSpPr>
        <p:spPr>
          <a:xfrm>
            <a:off x="88447" y="101600"/>
            <a:ext cx="9694182" cy="6647542"/>
          </a:xfrm>
          <a:prstGeom prst="rect">
            <a:avLst/>
          </a:prstGeom>
          <a:noFill/>
          <a:ln w="254000">
            <a:solidFill>
              <a:srgbClr val="D9A44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63"/>
          </a:p>
        </p:txBody>
      </p:sp>
      <p:pic>
        <p:nvPicPr>
          <p:cNvPr id="3" name="Picture 2">
            <a:extLst>
              <a:ext uri="{FF2B5EF4-FFF2-40B4-BE49-F238E27FC236}">
                <a16:creationId xmlns:a16="http://schemas.microsoft.com/office/drawing/2014/main" id="{6B5D4DA7-E8D5-12A9-A13A-51C8B6010C4A}"/>
              </a:ext>
            </a:extLst>
          </p:cNvPr>
          <p:cNvPicPr>
            <a:picLocks noChangeAspect="1"/>
          </p:cNvPicPr>
          <p:nvPr/>
        </p:nvPicPr>
        <p:blipFill>
          <a:blip r:embed="rId2"/>
          <a:stretch>
            <a:fillRect/>
          </a:stretch>
        </p:blipFill>
        <p:spPr>
          <a:xfrm>
            <a:off x="4044382" y="4771696"/>
            <a:ext cx="1817233" cy="1600250"/>
          </a:xfrm>
          <a:prstGeom prst="rect">
            <a:avLst/>
          </a:prstGeom>
        </p:spPr>
      </p:pic>
      <p:pic>
        <p:nvPicPr>
          <p:cNvPr id="5" name="Graphic 4" descr="Bar chart outline">
            <a:extLst>
              <a:ext uri="{FF2B5EF4-FFF2-40B4-BE49-F238E27FC236}">
                <a16:creationId xmlns:a16="http://schemas.microsoft.com/office/drawing/2014/main" id="{910F1E6B-863A-E02F-9567-9AB0953169A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214486" y="4771696"/>
            <a:ext cx="1477027" cy="1477027"/>
          </a:xfrm>
          <a:prstGeom prst="rect">
            <a:avLst/>
          </a:prstGeom>
        </p:spPr>
      </p:pic>
    </p:spTree>
    <p:extLst>
      <p:ext uri="{BB962C8B-B14F-4D97-AF65-F5344CB8AC3E}">
        <p14:creationId xmlns:p14="http://schemas.microsoft.com/office/powerpoint/2010/main" val="33093244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F3A412E8-0BEC-C17E-FA7F-673384070CEE}"/>
              </a:ext>
            </a:extLst>
          </p:cNvPr>
          <p:cNvGraphicFramePr>
            <a:graphicFrameLocks noGrp="1"/>
          </p:cNvGraphicFramePr>
          <p:nvPr>
            <p:extLst>
              <p:ext uri="{D42A27DB-BD31-4B8C-83A1-F6EECF244321}">
                <p14:modId xmlns:p14="http://schemas.microsoft.com/office/powerpoint/2010/main" val="3248630496"/>
              </p:ext>
            </p:extLst>
          </p:nvPr>
        </p:nvGraphicFramePr>
        <p:xfrm>
          <a:off x="117929" y="3978191"/>
          <a:ext cx="9670144" cy="2119769"/>
        </p:xfrm>
        <a:graphic>
          <a:graphicData uri="http://schemas.openxmlformats.org/drawingml/2006/table">
            <a:tbl>
              <a:tblPr firstRow="1" firstCol="1">
                <a:tableStyleId>{7DF18680-E054-41AD-8BC1-D1AEF772440D}</a:tableStyleId>
              </a:tblPr>
              <a:tblGrid>
                <a:gridCol w="533893">
                  <a:extLst>
                    <a:ext uri="{9D8B030D-6E8A-4147-A177-3AD203B41FA5}">
                      <a16:colId xmlns:a16="http://schemas.microsoft.com/office/drawing/2014/main" val="3706546155"/>
                    </a:ext>
                  </a:extLst>
                </a:gridCol>
                <a:gridCol w="2242352">
                  <a:extLst>
                    <a:ext uri="{9D8B030D-6E8A-4147-A177-3AD203B41FA5}">
                      <a16:colId xmlns:a16="http://schemas.microsoft.com/office/drawing/2014/main" val="593275305"/>
                    </a:ext>
                  </a:extLst>
                </a:gridCol>
                <a:gridCol w="3176666">
                  <a:extLst>
                    <a:ext uri="{9D8B030D-6E8A-4147-A177-3AD203B41FA5}">
                      <a16:colId xmlns:a16="http://schemas.microsoft.com/office/drawing/2014/main" val="1845068336"/>
                    </a:ext>
                  </a:extLst>
                </a:gridCol>
                <a:gridCol w="1721806">
                  <a:extLst>
                    <a:ext uri="{9D8B030D-6E8A-4147-A177-3AD203B41FA5}">
                      <a16:colId xmlns:a16="http://schemas.microsoft.com/office/drawing/2014/main" val="2473896183"/>
                    </a:ext>
                  </a:extLst>
                </a:gridCol>
                <a:gridCol w="1995427">
                  <a:extLst>
                    <a:ext uri="{9D8B030D-6E8A-4147-A177-3AD203B41FA5}">
                      <a16:colId xmlns:a16="http://schemas.microsoft.com/office/drawing/2014/main" val="3743254094"/>
                    </a:ext>
                  </a:extLst>
                </a:gridCol>
              </a:tblGrid>
              <a:tr h="383476">
                <a:tc>
                  <a:txBody>
                    <a:bodyPr/>
                    <a:lstStyle/>
                    <a:p>
                      <a:pPr algn="ctr" fontAlgn="ctr">
                        <a:buNone/>
                      </a:pPr>
                      <a:r>
                        <a:rPr lang="en-GB" sz="900" b="1" u="none" strike="noStrike" dirty="0">
                          <a:effectLst/>
                        </a:rPr>
                        <a:t>Case</a:t>
                      </a:r>
                      <a:endParaRPr lang="en-GB" sz="900" b="1" i="0" u="none" strike="noStrike" dirty="0">
                        <a:solidFill>
                          <a:srgbClr val="000000"/>
                        </a:solidFill>
                        <a:effectLst/>
                        <a:latin typeface="Aptos Narrow" panose="020B0004020202020204" pitchFamily="34" charset="0"/>
                      </a:endParaRPr>
                    </a:p>
                  </a:txBody>
                  <a:tcPr marL="6191" marR="6191" marT="6191" marB="0" anchor="ctr"/>
                </a:tc>
                <a:tc>
                  <a:txBody>
                    <a:bodyPr/>
                    <a:lstStyle/>
                    <a:p>
                      <a:pPr algn="ctr" fontAlgn="ctr">
                        <a:buNone/>
                      </a:pPr>
                      <a:r>
                        <a:rPr lang="en-GB" sz="900" b="1" u="none" strike="noStrike" dirty="0">
                          <a:effectLst/>
                        </a:rPr>
                        <a:t>What are we calculating?</a:t>
                      </a:r>
                      <a:endParaRPr lang="en-GB" sz="900" b="1" i="0" u="none" strike="noStrike" dirty="0">
                        <a:solidFill>
                          <a:srgbClr val="000000"/>
                        </a:solidFill>
                        <a:effectLst/>
                        <a:latin typeface="Aptos Narrow" panose="020B0004020202020204" pitchFamily="34" charset="0"/>
                      </a:endParaRPr>
                    </a:p>
                  </a:txBody>
                  <a:tcPr marL="6191" marR="6191" marT="6191" marB="0" anchor="ctr"/>
                </a:tc>
                <a:tc>
                  <a:txBody>
                    <a:bodyPr/>
                    <a:lstStyle/>
                    <a:p>
                      <a:pPr algn="ctr" fontAlgn="ctr">
                        <a:buNone/>
                      </a:pPr>
                      <a:r>
                        <a:rPr lang="en-GB" sz="900" b="1" u="none" strike="noStrike" dirty="0">
                          <a:effectLst/>
                        </a:rPr>
                        <a:t>Describe the situation (categories, events, mutually exclusive or not)</a:t>
                      </a:r>
                      <a:endParaRPr lang="en-GB" sz="900" b="1" i="0" u="none" strike="noStrike" dirty="0">
                        <a:solidFill>
                          <a:srgbClr val="000000"/>
                        </a:solidFill>
                        <a:effectLst/>
                        <a:latin typeface="Aptos Narrow" panose="020B0004020202020204" pitchFamily="34" charset="0"/>
                      </a:endParaRPr>
                    </a:p>
                  </a:txBody>
                  <a:tcPr marL="6191" marR="6191" marT="6191" marB="0" anchor="ctr"/>
                </a:tc>
                <a:tc>
                  <a:txBody>
                    <a:bodyPr/>
                    <a:lstStyle/>
                    <a:p>
                      <a:pPr algn="ctr" fontAlgn="ctr">
                        <a:buNone/>
                      </a:pPr>
                      <a:r>
                        <a:rPr lang="en-GB" sz="900" b="1" u="none" strike="noStrike" dirty="0">
                          <a:effectLst/>
                        </a:rPr>
                        <a:t>Rule / Distribution to use</a:t>
                      </a:r>
                      <a:endParaRPr lang="en-GB" sz="900" b="1" i="0" u="none" strike="noStrike" dirty="0">
                        <a:solidFill>
                          <a:srgbClr val="000000"/>
                        </a:solidFill>
                        <a:effectLst/>
                        <a:latin typeface="Aptos Narrow" panose="020B0004020202020204" pitchFamily="34" charset="0"/>
                      </a:endParaRPr>
                    </a:p>
                  </a:txBody>
                  <a:tcPr marL="6191" marR="6191" marT="6191" marB="0" anchor="ctr"/>
                </a:tc>
                <a:tc>
                  <a:txBody>
                    <a:bodyPr/>
                    <a:lstStyle/>
                    <a:p>
                      <a:pPr algn="ctr" fontAlgn="ctr">
                        <a:buNone/>
                      </a:pPr>
                      <a:r>
                        <a:rPr lang="en-GB" sz="900" b="1" u="none" strike="noStrike" dirty="0">
                          <a:effectLst/>
                        </a:rPr>
                        <a:t>Visual representation</a:t>
                      </a:r>
                      <a:endParaRPr lang="en-GB" sz="900" b="1" i="0" u="none" strike="noStrike" dirty="0">
                        <a:solidFill>
                          <a:srgbClr val="000000"/>
                        </a:solidFill>
                        <a:effectLst/>
                        <a:latin typeface="Aptos Narrow" panose="020B0004020202020204" pitchFamily="34" charset="0"/>
                      </a:endParaRPr>
                    </a:p>
                  </a:txBody>
                  <a:tcPr marL="6191" marR="6191" marT="6191" marB="0" anchor="ctr"/>
                </a:tc>
                <a:extLst>
                  <a:ext uri="{0D108BD9-81ED-4DB2-BD59-A6C34878D82A}">
                    <a16:rowId xmlns:a16="http://schemas.microsoft.com/office/drawing/2014/main" val="3254229067"/>
                  </a:ext>
                </a:extLst>
              </a:tr>
              <a:tr h="476301">
                <a:tc>
                  <a:txBody>
                    <a:bodyPr/>
                    <a:lstStyle/>
                    <a:p>
                      <a:pPr algn="ctr" fontAlgn="ctr">
                        <a:buNone/>
                      </a:pPr>
                      <a:r>
                        <a:rPr lang="en-GB" sz="900" b="1" u="none" strike="noStrike" dirty="0">
                          <a:effectLst/>
                        </a:rPr>
                        <a:t>9</a:t>
                      </a:r>
                      <a:endParaRPr lang="en-GB" sz="900" b="1" i="0" u="none" strike="noStrike" dirty="0">
                        <a:solidFill>
                          <a:srgbClr val="000000"/>
                        </a:solidFill>
                        <a:effectLst/>
                        <a:latin typeface="Aptos Narrow" panose="020B0004020202020204" pitchFamily="34" charset="0"/>
                      </a:endParaRPr>
                    </a:p>
                  </a:txBody>
                  <a:tcPr marL="6191" marR="6191" marT="6191" marB="0" anchor="ctr"/>
                </a:tc>
                <a:tc>
                  <a:txBody>
                    <a:bodyPr/>
                    <a:lstStyle/>
                    <a:p>
                      <a:pPr algn="ctr" fontAlgn="ctr">
                        <a:buNone/>
                      </a:pPr>
                      <a:r>
                        <a:rPr lang="en-GB" sz="900" u="none" strike="noStrike">
                          <a:effectLst/>
                        </a:rPr>
                        <a:t>Probability that exactly 2 out of 5 plants are infected</a:t>
                      </a:r>
                      <a:endParaRPr lang="en-GB" sz="900" b="0" i="0" u="none" strike="noStrike">
                        <a:solidFill>
                          <a:srgbClr val="000000"/>
                        </a:solidFill>
                        <a:effectLst/>
                        <a:latin typeface="Aptos Narrow" panose="020B0004020202020204" pitchFamily="34" charset="0"/>
                      </a:endParaRPr>
                    </a:p>
                  </a:txBody>
                  <a:tcPr marL="6191" marR="6191" marT="6191" marB="0" anchor="ctr"/>
                </a:tc>
                <a:tc>
                  <a:txBody>
                    <a:bodyPr/>
                    <a:lstStyle/>
                    <a:p>
                      <a:pPr algn="ctr" fontAlgn="ctr">
                        <a:buNone/>
                      </a:pPr>
                      <a:r>
                        <a:rPr lang="en-GB" sz="900" u="none" strike="noStrike" dirty="0">
                          <a:effectLst/>
                        </a:rPr>
                        <a:t>Repeated independent trials; fixed number of trials (5); two outcomes per trial (infected / not infected); same probability each time</a:t>
                      </a:r>
                      <a:endParaRPr lang="en-GB" sz="900" b="0" i="0" u="none" strike="noStrike" dirty="0">
                        <a:solidFill>
                          <a:srgbClr val="000000"/>
                        </a:solidFill>
                        <a:effectLst/>
                        <a:latin typeface="Aptos Narrow" panose="020B0004020202020204" pitchFamily="34" charset="0"/>
                      </a:endParaRPr>
                    </a:p>
                  </a:txBody>
                  <a:tcPr marL="6191" marR="6191" marT="6191" marB="0" anchor="ctr"/>
                </a:tc>
                <a:tc>
                  <a:txBody>
                    <a:bodyPr/>
                    <a:lstStyle/>
                    <a:p>
                      <a:pPr algn="ctr" fontAlgn="ctr">
                        <a:buNone/>
                      </a:pPr>
                      <a:r>
                        <a:rPr lang="en-GB" sz="900" u="none" strike="noStrike">
                          <a:effectLst/>
                        </a:rPr>
                        <a:t>Binomial distribution (exact probability)</a:t>
                      </a:r>
                      <a:endParaRPr lang="en-GB" sz="900" b="1" i="0" u="none" strike="noStrike">
                        <a:solidFill>
                          <a:srgbClr val="000000"/>
                        </a:solidFill>
                        <a:effectLst/>
                        <a:latin typeface="Aptos Narrow" panose="020B0004020202020204" pitchFamily="34" charset="0"/>
                      </a:endParaRPr>
                    </a:p>
                  </a:txBody>
                  <a:tcPr marL="6191" marR="6191" marT="6191" marB="0" anchor="ctr"/>
                </a:tc>
                <a:tc>
                  <a:txBody>
                    <a:bodyPr/>
                    <a:lstStyle/>
                    <a:p>
                      <a:pPr algn="ctr" fontAlgn="ctr">
                        <a:buNone/>
                      </a:pPr>
                      <a:r>
                        <a:rPr lang="en-GB" sz="900" u="none" strike="noStrike">
                          <a:effectLst/>
                        </a:rPr>
                        <a:t>Probability mass function (bar plot of binomial probabilities)</a:t>
                      </a:r>
                      <a:endParaRPr lang="en-GB" sz="900" b="0" i="0" u="none" strike="noStrike">
                        <a:solidFill>
                          <a:srgbClr val="000000"/>
                        </a:solidFill>
                        <a:effectLst/>
                        <a:latin typeface="Aptos Narrow" panose="020B0004020202020204" pitchFamily="34" charset="0"/>
                      </a:endParaRPr>
                    </a:p>
                  </a:txBody>
                  <a:tcPr marL="6191" marR="6191" marT="6191" marB="0" anchor="ctr"/>
                </a:tc>
                <a:extLst>
                  <a:ext uri="{0D108BD9-81ED-4DB2-BD59-A6C34878D82A}">
                    <a16:rowId xmlns:a16="http://schemas.microsoft.com/office/drawing/2014/main" val="917174436"/>
                  </a:ext>
                </a:extLst>
              </a:tr>
              <a:tr h="365215">
                <a:tc>
                  <a:txBody>
                    <a:bodyPr/>
                    <a:lstStyle/>
                    <a:p>
                      <a:pPr algn="ctr" fontAlgn="ctr">
                        <a:buNone/>
                      </a:pPr>
                      <a:r>
                        <a:rPr lang="en-GB" sz="900" b="1" u="none" strike="noStrike" dirty="0">
                          <a:effectLst/>
                        </a:rPr>
                        <a:t>10</a:t>
                      </a:r>
                      <a:endParaRPr lang="en-GB" sz="900" b="1" i="0" u="none" strike="noStrike" dirty="0">
                        <a:solidFill>
                          <a:srgbClr val="000000"/>
                        </a:solidFill>
                        <a:effectLst/>
                        <a:latin typeface="Aptos Narrow" panose="020B0004020202020204" pitchFamily="34" charset="0"/>
                      </a:endParaRPr>
                    </a:p>
                  </a:txBody>
                  <a:tcPr marL="6191" marR="6191" marT="6191" marB="0" anchor="ctr"/>
                </a:tc>
                <a:tc>
                  <a:txBody>
                    <a:bodyPr/>
                    <a:lstStyle/>
                    <a:p>
                      <a:pPr algn="ctr" fontAlgn="ctr">
                        <a:buNone/>
                      </a:pPr>
                      <a:r>
                        <a:rPr lang="en-GB" sz="900" u="none" strike="noStrike" dirty="0">
                          <a:effectLst/>
                        </a:rPr>
                        <a:t>Probability the bird eats insects OR fruit</a:t>
                      </a:r>
                      <a:endParaRPr lang="en-GB" sz="900" b="0" i="0" u="none" strike="noStrike" dirty="0">
                        <a:solidFill>
                          <a:srgbClr val="000000"/>
                        </a:solidFill>
                        <a:effectLst/>
                        <a:latin typeface="Aptos Narrow" panose="020B0004020202020204" pitchFamily="34" charset="0"/>
                      </a:endParaRPr>
                    </a:p>
                  </a:txBody>
                  <a:tcPr marL="6191" marR="6191" marT="6191" marB="0" anchor="ctr"/>
                </a:tc>
                <a:tc>
                  <a:txBody>
                    <a:bodyPr/>
                    <a:lstStyle/>
                    <a:p>
                      <a:pPr algn="ctr" fontAlgn="ctr">
                        <a:buNone/>
                      </a:pPr>
                      <a:r>
                        <a:rPr lang="en-GB" sz="900" u="none" strike="noStrike">
                          <a:effectLst/>
                        </a:rPr>
                        <a:t>Single event with multiple categories; categories are mutually exclusive (only one food type per feeding event)</a:t>
                      </a:r>
                      <a:endParaRPr lang="en-GB" sz="900" b="0" i="0" u="none" strike="noStrike">
                        <a:solidFill>
                          <a:srgbClr val="000000"/>
                        </a:solidFill>
                        <a:effectLst/>
                        <a:latin typeface="Aptos Narrow" panose="020B0004020202020204" pitchFamily="34" charset="0"/>
                      </a:endParaRPr>
                    </a:p>
                  </a:txBody>
                  <a:tcPr marL="6191" marR="6191" marT="6191" marB="0" anchor="ctr"/>
                </a:tc>
                <a:tc>
                  <a:txBody>
                    <a:bodyPr/>
                    <a:lstStyle/>
                    <a:p>
                      <a:pPr algn="ctr" fontAlgn="ctr">
                        <a:buNone/>
                      </a:pPr>
                      <a:r>
                        <a:rPr lang="en-GB" sz="900" u="none" strike="noStrike">
                          <a:effectLst/>
                        </a:rPr>
                        <a:t>Addition rule (for mutually exclusive events)</a:t>
                      </a:r>
                      <a:endParaRPr lang="en-GB" sz="900" b="1" i="0" u="none" strike="noStrike">
                        <a:solidFill>
                          <a:srgbClr val="000000"/>
                        </a:solidFill>
                        <a:effectLst/>
                        <a:latin typeface="Aptos Narrow" panose="020B0004020202020204" pitchFamily="34" charset="0"/>
                      </a:endParaRPr>
                    </a:p>
                  </a:txBody>
                  <a:tcPr marL="6191" marR="6191" marT="6191" marB="0" anchor="ctr"/>
                </a:tc>
                <a:tc>
                  <a:txBody>
                    <a:bodyPr/>
                    <a:lstStyle/>
                    <a:p>
                      <a:pPr algn="ctr" fontAlgn="ctr">
                        <a:buNone/>
                      </a:pPr>
                      <a:r>
                        <a:rPr lang="en-GB" sz="900" u="none" strike="noStrike">
                          <a:effectLst/>
                        </a:rPr>
                        <a:t>Bar chart or simple categorical diagram</a:t>
                      </a:r>
                      <a:endParaRPr lang="en-GB" sz="900" b="0" i="0" u="none" strike="noStrike">
                        <a:solidFill>
                          <a:srgbClr val="000000"/>
                        </a:solidFill>
                        <a:effectLst/>
                        <a:latin typeface="Aptos Narrow" panose="020B0004020202020204" pitchFamily="34" charset="0"/>
                      </a:endParaRPr>
                    </a:p>
                  </a:txBody>
                  <a:tcPr marL="6191" marR="6191" marT="6191" marB="0" anchor="ctr"/>
                </a:tc>
                <a:extLst>
                  <a:ext uri="{0D108BD9-81ED-4DB2-BD59-A6C34878D82A}">
                    <a16:rowId xmlns:a16="http://schemas.microsoft.com/office/drawing/2014/main" val="1574071506"/>
                  </a:ext>
                </a:extLst>
              </a:tr>
              <a:tr h="511301">
                <a:tc>
                  <a:txBody>
                    <a:bodyPr/>
                    <a:lstStyle/>
                    <a:p>
                      <a:pPr algn="ctr" fontAlgn="ctr">
                        <a:buNone/>
                      </a:pPr>
                      <a:r>
                        <a:rPr lang="en-GB" sz="900" b="1" u="none" strike="noStrike">
                          <a:effectLst/>
                        </a:rPr>
                        <a:t>11</a:t>
                      </a:r>
                      <a:endParaRPr lang="en-GB" sz="900" b="1" i="0" u="none" strike="noStrike">
                        <a:solidFill>
                          <a:srgbClr val="000000"/>
                        </a:solidFill>
                        <a:effectLst/>
                        <a:latin typeface="Aptos Narrow" panose="020B0004020202020204" pitchFamily="34" charset="0"/>
                      </a:endParaRPr>
                    </a:p>
                  </a:txBody>
                  <a:tcPr marL="6191" marR="6191" marT="6191" marB="0" anchor="ctr"/>
                </a:tc>
                <a:tc>
                  <a:txBody>
                    <a:bodyPr/>
                    <a:lstStyle/>
                    <a:p>
                      <a:pPr algn="ctr" fontAlgn="ctr">
                        <a:buNone/>
                      </a:pPr>
                      <a:r>
                        <a:rPr lang="en-GB" sz="900" u="none" strike="noStrike" dirty="0">
                          <a:effectLst/>
                        </a:rPr>
                        <a:t>Probability an infected individual was vaccinated (P(Vaccinated | Infected))</a:t>
                      </a:r>
                      <a:endParaRPr lang="en-GB" sz="900" b="0" i="0" u="none" strike="noStrike" dirty="0">
                        <a:solidFill>
                          <a:srgbClr val="000000"/>
                        </a:solidFill>
                        <a:effectLst/>
                        <a:latin typeface="Aptos Narrow" panose="020B0004020202020204" pitchFamily="34" charset="0"/>
                      </a:endParaRPr>
                    </a:p>
                  </a:txBody>
                  <a:tcPr marL="6191" marR="6191" marT="6191" marB="0" anchor="ctr"/>
                </a:tc>
                <a:tc>
                  <a:txBody>
                    <a:bodyPr/>
                    <a:lstStyle/>
                    <a:p>
                      <a:pPr algn="ctr" fontAlgn="ctr">
                        <a:buNone/>
                      </a:pPr>
                      <a:r>
                        <a:rPr lang="en-GB" sz="900" u="none" strike="noStrike">
                          <a:effectLst/>
                        </a:rPr>
                        <a:t>Two related events; not mutually exclusive; conditional relationship; requires reversing conditioning</a:t>
                      </a:r>
                      <a:endParaRPr lang="en-GB" sz="900" b="0" i="0" u="none" strike="noStrike">
                        <a:solidFill>
                          <a:srgbClr val="000000"/>
                        </a:solidFill>
                        <a:effectLst/>
                        <a:latin typeface="Aptos Narrow" panose="020B0004020202020204" pitchFamily="34" charset="0"/>
                      </a:endParaRPr>
                    </a:p>
                  </a:txBody>
                  <a:tcPr marL="6191" marR="6191" marT="6191" marB="0" anchor="ctr"/>
                </a:tc>
                <a:tc>
                  <a:txBody>
                    <a:bodyPr/>
                    <a:lstStyle/>
                    <a:p>
                      <a:pPr algn="ctr" fontAlgn="ctr">
                        <a:buNone/>
                      </a:pPr>
                      <a:r>
                        <a:rPr lang="en-GB" sz="900" u="none" strike="noStrike">
                          <a:effectLst/>
                        </a:rPr>
                        <a:t>Conditional probability (Probability tree / Bayes reasoning)</a:t>
                      </a:r>
                      <a:endParaRPr lang="en-GB" sz="900" b="1" i="0" u="none" strike="noStrike">
                        <a:solidFill>
                          <a:srgbClr val="000000"/>
                        </a:solidFill>
                        <a:effectLst/>
                        <a:latin typeface="Aptos Narrow" panose="020B0004020202020204" pitchFamily="34" charset="0"/>
                      </a:endParaRPr>
                    </a:p>
                  </a:txBody>
                  <a:tcPr marL="6191" marR="6191" marT="6191" marB="0" anchor="ctr"/>
                </a:tc>
                <a:tc>
                  <a:txBody>
                    <a:bodyPr/>
                    <a:lstStyle/>
                    <a:p>
                      <a:pPr algn="ctr" fontAlgn="ctr">
                        <a:buNone/>
                      </a:pPr>
                      <a:r>
                        <a:rPr lang="en-GB" sz="900" u="none" strike="noStrike">
                          <a:effectLst/>
                        </a:rPr>
                        <a:t>Probability tree diagram</a:t>
                      </a:r>
                      <a:endParaRPr lang="en-GB" sz="900" b="0" i="0" u="none" strike="noStrike">
                        <a:solidFill>
                          <a:srgbClr val="000000"/>
                        </a:solidFill>
                        <a:effectLst/>
                        <a:latin typeface="Aptos Narrow" panose="020B0004020202020204" pitchFamily="34" charset="0"/>
                      </a:endParaRPr>
                    </a:p>
                  </a:txBody>
                  <a:tcPr marL="6191" marR="6191" marT="6191" marB="0" anchor="ctr"/>
                </a:tc>
                <a:extLst>
                  <a:ext uri="{0D108BD9-81ED-4DB2-BD59-A6C34878D82A}">
                    <a16:rowId xmlns:a16="http://schemas.microsoft.com/office/drawing/2014/main" val="3458032298"/>
                  </a:ext>
                </a:extLst>
              </a:tr>
              <a:tr h="383476">
                <a:tc>
                  <a:txBody>
                    <a:bodyPr/>
                    <a:lstStyle/>
                    <a:p>
                      <a:pPr algn="ctr" fontAlgn="ctr">
                        <a:buNone/>
                      </a:pPr>
                      <a:r>
                        <a:rPr lang="en-GB" sz="900" b="1" u="none" strike="noStrike" dirty="0">
                          <a:effectLst/>
                        </a:rPr>
                        <a:t>12</a:t>
                      </a:r>
                      <a:endParaRPr lang="en-GB" sz="900" b="1" i="0" u="none" strike="noStrike" dirty="0">
                        <a:solidFill>
                          <a:srgbClr val="000000"/>
                        </a:solidFill>
                        <a:effectLst/>
                        <a:latin typeface="Aptos Narrow" panose="020B0004020202020204" pitchFamily="34" charset="0"/>
                      </a:endParaRPr>
                    </a:p>
                  </a:txBody>
                  <a:tcPr marL="6191" marR="6191" marT="6191" marB="0" anchor="ctr"/>
                </a:tc>
                <a:tc>
                  <a:txBody>
                    <a:bodyPr/>
                    <a:lstStyle/>
                    <a:p>
                      <a:pPr algn="ctr" fontAlgn="ctr">
                        <a:buNone/>
                      </a:pPr>
                      <a:r>
                        <a:rPr lang="en-GB" sz="900" u="none" strike="noStrike" dirty="0">
                          <a:effectLst/>
                        </a:rPr>
                        <a:t>Probability offspring has both dominant traits (A AND B)</a:t>
                      </a:r>
                      <a:endParaRPr lang="en-GB" sz="900" b="0" i="0" u="none" strike="noStrike" dirty="0">
                        <a:solidFill>
                          <a:srgbClr val="000000"/>
                        </a:solidFill>
                        <a:effectLst/>
                        <a:latin typeface="Aptos Narrow" panose="020B0004020202020204" pitchFamily="34" charset="0"/>
                      </a:endParaRPr>
                    </a:p>
                  </a:txBody>
                  <a:tcPr marL="6191" marR="6191" marT="6191" marB="0" anchor="ctr"/>
                </a:tc>
                <a:tc>
                  <a:txBody>
                    <a:bodyPr/>
                    <a:lstStyle/>
                    <a:p>
                      <a:pPr algn="ctr" fontAlgn="ctr">
                        <a:buNone/>
                      </a:pPr>
                      <a:r>
                        <a:rPr lang="en-GB" sz="900" u="none" strike="noStrike">
                          <a:effectLst/>
                        </a:rPr>
                        <a:t>Two separate events; events are independent; joint occurrence required</a:t>
                      </a:r>
                      <a:endParaRPr lang="en-GB" sz="900" b="0" i="0" u="none" strike="noStrike">
                        <a:solidFill>
                          <a:srgbClr val="000000"/>
                        </a:solidFill>
                        <a:effectLst/>
                        <a:latin typeface="Aptos Narrow" panose="020B0004020202020204" pitchFamily="34" charset="0"/>
                      </a:endParaRPr>
                    </a:p>
                  </a:txBody>
                  <a:tcPr marL="6191" marR="6191" marT="6191" marB="0" anchor="ctr"/>
                </a:tc>
                <a:tc>
                  <a:txBody>
                    <a:bodyPr/>
                    <a:lstStyle/>
                    <a:p>
                      <a:pPr algn="ctr" fontAlgn="ctr">
                        <a:buNone/>
                      </a:pPr>
                      <a:r>
                        <a:rPr lang="en-GB" sz="900" u="none" strike="noStrike">
                          <a:effectLst/>
                        </a:rPr>
                        <a:t>Multiplication rule (independent events)</a:t>
                      </a:r>
                      <a:endParaRPr lang="en-GB" sz="900" b="1" i="0" u="none" strike="noStrike">
                        <a:solidFill>
                          <a:srgbClr val="000000"/>
                        </a:solidFill>
                        <a:effectLst/>
                        <a:latin typeface="Aptos Narrow" panose="020B0004020202020204" pitchFamily="34" charset="0"/>
                      </a:endParaRPr>
                    </a:p>
                  </a:txBody>
                  <a:tcPr marL="6191" marR="6191" marT="6191" marB="0" anchor="ctr"/>
                </a:tc>
                <a:tc>
                  <a:txBody>
                    <a:bodyPr/>
                    <a:lstStyle/>
                    <a:p>
                      <a:pPr algn="ctr" fontAlgn="ctr">
                        <a:buNone/>
                      </a:pPr>
                      <a:r>
                        <a:rPr lang="en-GB" sz="900" u="none" strike="noStrike" dirty="0">
                          <a:effectLst/>
                        </a:rPr>
                        <a:t>Tree diagram showing branches multiplied</a:t>
                      </a:r>
                      <a:endParaRPr lang="en-GB" sz="900" b="0" i="0" u="none" strike="noStrike" dirty="0">
                        <a:solidFill>
                          <a:srgbClr val="000000"/>
                        </a:solidFill>
                        <a:effectLst/>
                        <a:latin typeface="Aptos Narrow" panose="020B0004020202020204" pitchFamily="34" charset="0"/>
                      </a:endParaRPr>
                    </a:p>
                  </a:txBody>
                  <a:tcPr marL="6191" marR="6191" marT="6191" marB="0" anchor="ctr"/>
                </a:tc>
                <a:extLst>
                  <a:ext uri="{0D108BD9-81ED-4DB2-BD59-A6C34878D82A}">
                    <a16:rowId xmlns:a16="http://schemas.microsoft.com/office/drawing/2014/main" val="3637518958"/>
                  </a:ext>
                </a:extLst>
              </a:tr>
            </a:tbl>
          </a:graphicData>
        </a:graphic>
      </p:graphicFrame>
      <p:graphicFrame>
        <p:nvGraphicFramePr>
          <p:cNvPr id="3" name="Table 2">
            <a:extLst>
              <a:ext uri="{FF2B5EF4-FFF2-40B4-BE49-F238E27FC236}">
                <a16:creationId xmlns:a16="http://schemas.microsoft.com/office/drawing/2014/main" id="{A4FA247F-4657-9110-E477-23949BF2AA8C}"/>
              </a:ext>
            </a:extLst>
          </p:cNvPr>
          <p:cNvGraphicFramePr>
            <a:graphicFrameLocks noGrp="1"/>
          </p:cNvGraphicFramePr>
          <p:nvPr>
            <p:extLst>
              <p:ext uri="{D42A27DB-BD31-4B8C-83A1-F6EECF244321}">
                <p14:modId xmlns:p14="http://schemas.microsoft.com/office/powerpoint/2010/main" val="3150176563"/>
              </p:ext>
            </p:extLst>
          </p:nvPr>
        </p:nvGraphicFramePr>
        <p:xfrm>
          <a:off x="117929" y="760040"/>
          <a:ext cx="9670142" cy="2829320"/>
        </p:xfrm>
        <a:graphic>
          <a:graphicData uri="http://schemas.openxmlformats.org/drawingml/2006/table">
            <a:tbl>
              <a:tblPr firstRow="1" firstCol="1">
                <a:tableStyleId>{7DF18680-E054-41AD-8BC1-D1AEF772440D}</a:tableStyleId>
              </a:tblPr>
              <a:tblGrid>
                <a:gridCol w="347030">
                  <a:extLst>
                    <a:ext uri="{9D8B030D-6E8A-4147-A177-3AD203B41FA5}">
                      <a16:colId xmlns:a16="http://schemas.microsoft.com/office/drawing/2014/main" val="728550561"/>
                    </a:ext>
                  </a:extLst>
                </a:gridCol>
                <a:gridCol w="2309089">
                  <a:extLst>
                    <a:ext uri="{9D8B030D-6E8A-4147-A177-3AD203B41FA5}">
                      <a16:colId xmlns:a16="http://schemas.microsoft.com/office/drawing/2014/main" val="3622069899"/>
                    </a:ext>
                  </a:extLst>
                </a:gridCol>
                <a:gridCol w="3190012">
                  <a:extLst>
                    <a:ext uri="{9D8B030D-6E8A-4147-A177-3AD203B41FA5}">
                      <a16:colId xmlns:a16="http://schemas.microsoft.com/office/drawing/2014/main" val="3830025147"/>
                    </a:ext>
                  </a:extLst>
                </a:gridCol>
                <a:gridCol w="1267996">
                  <a:extLst>
                    <a:ext uri="{9D8B030D-6E8A-4147-A177-3AD203B41FA5}">
                      <a16:colId xmlns:a16="http://schemas.microsoft.com/office/drawing/2014/main" val="3646089787"/>
                    </a:ext>
                  </a:extLst>
                </a:gridCol>
                <a:gridCol w="1353144">
                  <a:extLst>
                    <a:ext uri="{9D8B030D-6E8A-4147-A177-3AD203B41FA5}">
                      <a16:colId xmlns:a16="http://schemas.microsoft.com/office/drawing/2014/main" val="16181459"/>
                    </a:ext>
                  </a:extLst>
                </a:gridCol>
                <a:gridCol w="1202871">
                  <a:extLst>
                    <a:ext uri="{9D8B030D-6E8A-4147-A177-3AD203B41FA5}">
                      <a16:colId xmlns:a16="http://schemas.microsoft.com/office/drawing/2014/main" val="2219024753"/>
                    </a:ext>
                  </a:extLst>
                </a:gridCol>
              </a:tblGrid>
              <a:tr h="365998">
                <a:tc>
                  <a:txBody>
                    <a:bodyPr/>
                    <a:lstStyle/>
                    <a:p>
                      <a:pPr algn="ctr" fontAlgn="ctr">
                        <a:buNone/>
                      </a:pPr>
                      <a:r>
                        <a:rPr lang="en-GB" sz="900" b="1" u="none" strike="noStrike" dirty="0">
                          <a:effectLst/>
                        </a:rPr>
                        <a:t>Case</a:t>
                      </a:r>
                      <a:endParaRPr lang="en-GB" sz="900" b="1" i="0" u="none" strike="noStrike" dirty="0">
                        <a:solidFill>
                          <a:srgbClr val="000000"/>
                        </a:solidFill>
                        <a:effectLst/>
                        <a:latin typeface="Aptos Narrow" panose="020B0004020202020204" pitchFamily="34" charset="0"/>
                      </a:endParaRPr>
                    </a:p>
                  </a:txBody>
                  <a:tcPr marL="5773" marR="5773" marT="5773" marB="0" anchor="ctr"/>
                </a:tc>
                <a:tc>
                  <a:txBody>
                    <a:bodyPr/>
                    <a:lstStyle/>
                    <a:p>
                      <a:pPr algn="ctr" fontAlgn="ctr">
                        <a:buNone/>
                      </a:pPr>
                      <a:r>
                        <a:rPr lang="en-GB" sz="900" b="1" u="none" strike="noStrike" dirty="0">
                          <a:effectLst/>
                        </a:rPr>
                        <a:t>Research question</a:t>
                      </a:r>
                      <a:endParaRPr lang="en-GB" sz="900" b="1" i="0" u="none" strike="noStrike" dirty="0">
                        <a:solidFill>
                          <a:srgbClr val="000000"/>
                        </a:solidFill>
                        <a:effectLst/>
                        <a:latin typeface="Aptos Narrow" panose="020B0004020202020204" pitchFamily="34" charset="0"/>
                      </a:endParaRPr>
                    </a:p>
                  </a:txBody>
                  <a:tcPr marL="5773" marR="5773" marT="5773" marB="0" anchor="ctr"/>
                </a:tc>
                <a:tc>
                  <a:txBody>
                    <a:bodyPr/>
                    <a:lstStyle/>
                    <a:p>
                      <a:pPr algn="ctr" fontAlgn="ctr">
                        <a:buNone/>
                      </a:pPr>
                      <a:r>
                        <a:rPr lang="en-GB" sz="900" b="1" u="none" strike="noStrike" dirty="0">
                          <a:effectLst/>
                        </a:rPr>
                        <a:t>Data structure (One variable / Two variables; Numerical or Categorical; Independent or Paired; # Groups)</a:t>
                      </a:r>
                      <a:endParaRPr lang="en-GB" sz="900" b="1" i="0" u="none" strike="noStrike" dirty="0">
                        <a:solidFill>
                          <a:srgbClr val="000000"/>
                        </a:solidFill>
                        <a:effectLst/>
                        <a:latin typeface="Aptos Narrow" panose="020B0004020202020204" pitchFamily="34" charset="0"/>
                      </a:endParaRPr>
                    </a:p>
                  </a:txBody>
                  <a:tcPr marL="5773" marR="5773" marT="5773" marB="0" anchor="ctr"/>
                </a:tc>
                <a:tc>
                  <a:txBody>
                    <a:bodyPr/>
                    <a:lstStyle/>
                    <a:p>
                      <a:pPr algn="ctr" fontAlgn="ctr">
                        <a:buNone/>
                      </a:pPr>
                      <a:r>
                        <a:rPr lang="en-GB" sz="900" b="1" u="none" strike="noStrike" dirty="0">
                          <a:effectLst/>
                        </a:rPr>
                        <a:t>Key assumption</a:t>
                      </a:r>
                      <a:endParaRPr lang="en-GB" sz="900" b="1" i="0" u="none" strike="noStrike" dirty="0">
                        <a:solidFill>
                          <a:srgbClr val="000000"/>
                        </a:solidFill>
                        <a:effectLst/>
                        <a:latin typeface="Aptos Narrow" panose="020B0004020202020204" pitchFamily="34" charset="0"/>
                      </a:endParaRPr>
                    </a:p>
                  </a:txBody>
                  <a:tcPr marL="5773" marR="5773" marT="5773" marB="0" anchor="ctr"/>
                </a:tc>
                <a:tc>
                  <a:txBody>
                    <a:bodyPr/>
                    <a:lstStyle/>
                    <a:p>
                      <a:pPr algn="ctr" fontAlgn="ctr">
                        <a:buNone/>
                      </a:pPr>
                      <a:r>
                        <a:rPr lang="en-GB" sz="900" b="1" u="none" strike="noStrike" dirty="0">
                          <a:effectLst/>
                        </a:rPr>
                        <a:t>Statistical method</a:t>
                      </a:r>
                      <a:endParaRPr lang="en-GB" sz="900" b="1" i="0" u="none" strike="noStrike" dirty="0">
                        <a:solidFill>
                          <a:srgbClr val="000000"/>
                        </a:solidFill>
                        <a:effectLst/>
                        <a:latin typeface="Aptos Narrow" panose="020B0004020202020204" pitchFamily="34" charset="0"/>
                      </a:endParaRPr>
                    </a:p>
                  </a:txBody>
                  <a:tcPr marL="5773" marR="5773" marT="5773" marB="0" anchor="ctr"/>
                </a:tc>
                <a:tc>
                  <a:txBody>
                    <a:bodyPr/>
                    <a:lstStyle/>
                    <a:p>
                      <a:pPr algn="ctr" fontAlgn="ctr">
                        <a:buNone/>
                      </a:pPr>
                      <a:r>
                        <a:rPr lang="en-GB" sz="900" b="1" u="none" strike="noStrike" dirty="0">
                          <a:effectLst/>
                        </a:rPr>
                        <a:t>Visualisation</a:t>
                      </a:r>
                      <a:endParaRPr lang="en-GB" sz="900" b="1" i="0" u="none" strike="noStrike" dirty="0">
                        <a:solidFill>
                          <a:srgbClr val="000000"/>
                        </a:solidFill>
                        <a:effectLst/>
                        <a:latin typeface="Aptos Narrow" panose="020B0004020202020204" pitchFamily="34" charset="0"/>
                      </a:endParaRPr>
                    </a:p>
                  </a:txBody>
                  <a:tcPr marL="5773" marR="5773" marT="5773" marB="0" anchor="ctr"/>
                </a:tc>
                <a:extLst>
                  <a:ext uri="{0D108BD9-81ED-4DB2-BD59-A6C34878D82A}">
                    <a16:rowId xmlns:a16="http://schemas.microsoft.com/office/drawing/2014/main" val="2627361539"/>
                  </a:ext>
                </a:extLst>
              </a:tr>
              <a:tr h="244956">
                <a:tc>
                  <a:txBody>
                    <a:bodyPr/>
                    <a:lstStyle/>
                    <a:p>
                      <a:pPr algn="ctr" fontAlgn="ctr">
                        <a:buNone/>
                      </a:pPr>
                      <a:r>
                        <a:rPr lang="en-GB" sz="900" b="1" u="none" strike="noStrike" dirty="0">
                          <a:effectLst/>
                        </a:rPr>
                        <a:t>1</a:t>
                      </a:r>
                      <a:endParaRPr lang="en-GB" sz="900" b="1" i="0" u="none" strike="noStrike" dirty="0">
                        <a:solidFill>
                          <a:srgbClr val="000000"/>
                        </a:solidFill>
                        <a:effectLst/>
                        <a:latin typeface="Aptos Narrow" panose="020B0004020202020204" pitchFamily="34" charset="0"/>
                      </a:endParaRPr>
                    </a:p>
                  </a:txBody>
                  <a:tcPr marL="5773" marR="5773" marT="5773" marB="0" anchor="ctr"/>
                </a:tc>
                <a:tc>
                  <a:txBody>
                    <a:bodyPr/>
                    <a:lstStyle/>
                    <a:p>
                      <a:pPr algn="ctr" fontAlgn="ctr">
                        <a:buNone/>
                      </a:pPr>
                      <a:r>
                        <a:rPr lang="en-GB" sz="900" u="none" strike="noStrike">
                          <a:effectLst/>
                        </a:rPr>
                        <a:t>Is mean mass different from 10 g?</a:t>
                      </a:r>
                      <a:endParaRPr lang="en-GB" sz="900" b="0" i="0" u="none" strike="noStrike">
                        <a:solidFill>
                          <a:srgbClr val="000000"/>
                        </a:solidFill>
                        <a:effectLst/>
                        <a:latin typeface="Aptos Narrow" panose="020B0004020202020204" pitchFamily="34" charset="0"/>
                      </a:endParaRPr>
                    </a:p>
                  </a:txBody>
                  <a:tcPr marL="5773" marR="5773" marT="5773" marB="0" anchor="ctr"/>
                </a:tc>
                <a:tc>
                  <a:txBody>
                    <a:bodyPr/>
                    <a:lstStyle/>
                    <a:p>
                      <a:pPr algn="ctr" fontAlgn="ctr">
                        <a:buNone/>
                      </a:pPr>
                      <a:r>
                        <a:rPr lang="en-GB" sz="900" u="none" strike="noStrike">
                          <a:effectLst/>
                        </a:rPr>
                        <a:t>One variable; Numerical; One sample</a:t>
                      </a:r>
                      <a:endParaRPr lang="en-GB" sz="900" b="0" i="0" u="none" strike="noStrike">
                        <a:solidFill>
                          <a:srgbClr val="000000"/>
                        </a:solidFill>
                        <a:effectLst/>
                        <a:latin typeface="Aptos Narrow" panose="020B0004020202020204" pitchFamily="34" charset="0"/>
                      </a:endParaRPr>
                    </a:p>
                  </a:txBody>
                  <a:tcPr marL="5773" marR="5773" marT="5773" marB="0" anchor="ctr"/>
                </a:tc>
                <a:tc>
                  <a:txBody>
                    <a:bodyPr/>
                    <a:lstStyle/>
                    <a:p>
                      <a:pPr algn="ctr" fontAlgn="ctr">
                        <a:buNone/>
                      </a:pPr>
                      <a:r>
                        <a:rPr lang="en-GB" sz="900" u="none" strike="noStrike">
                          <a:effectLst/>
                        </a:rPr>
                        <a:t>Approx. normal</a:t>
                      </a:r>
                      <a:endParaRPr lang="en-GB" sz="900" b="0" i="0" u="none" strike="noStrike">
                        <a:solidFill>
                          <a:srgbClr val="000000"/>
                        </a:solidFill>
                        <a:effectLst/>
                        <a:latin typeface="Aptos Narrow" panose="020B0004020202020204" pitchFamily="34" charset="0"/>
                      </a:endParaRPr>
                    </a:p>
                  </a:txBody>
                  <a:tcPr marL="5773" marR="5773" marT="5773" marB="0" anchor="ctr"/>
                </a:tc>
                <a:tc>
                  <a:txBody>
                    <a:bodyPr/>
                    <a:lstStyle/>
                    <a:p>
                      <a:pPr algn="ctr" fontAlgn="ctr">
                        <a:buNone/>
                      </a:pPr>
                      <a:r>
                        <a:rPr lang="en-GB" sz="900" u="none" strike="noStrike">
                          <a:effectLst/>
                        </a:rPr>
                        <a:t>One-sample t-test</a:t>
                      </a:r>
                      <a:endParaRPr lang="en-GB" sz="900" b="0" i="0" u="none" strike="noStrike">
                        <a:solidFill>
                          <a:srgbClr val="000000"/>
                        </a:solidFill>
                        <a:effectLst/>
                        <a:latin typeface="Aptos Narrow" panose="020B0004020202020204" pitchFamily="34" charset="0"/>
                      </a:endParaRPr>
                    </a:p>
                  </a:txBody>
                  <a:tcPr marL="5773" marR="5773" marT="5773" marB="0" anchor="ctr"/>
                </a:tc>
                <a:tc>
                  <a:txBody>
                    <a:bodyPr/>
                    <a:lstStyle/>
                    <a:p>
                      <a:pPr algn="ctr" fontAlgn="ctr">
                        <a:buNone/>
                      </a:pPr>
                      <a:r>
                        <a:rPr lang="en-GB" sz="900" u="none" strike="noStrike">
                          <a:effectLst/>
                        </a:rPr>
                        <a:t>Histogram + mean &amp; CI</a:t>
                      </a:r>
                      <a:endParaRPr lang="en-GB" sz="900" b="0" i="0" u="none" strike="noStrike">
                        <a:solidFill>
                          <a:srgbClr val="000000"/>
                        </a:solidFill>
                        <a:effectLst/>
                        <a:latin typeface="Aptos Narrow" panose="020B0004020202020204" pitchFamily="34" charset="0"/>
                      </a:endParaRPr>
                    </a:p>
                  </a:txBody>
                  <a:tcPr marL="5773" marR="5773" marT="5773" marB="0" anchor="ctr"/>
                </a:tc>
                <a:extLst>
                  <a:ext uri="{0D108BD9-81ED-4DB2-BD59-A6C34878D82A}">
                    <a16:rowId xmlns:a16="http://schemas.microsoft.com/office/drawing/2014/main" val="1693181553"/>
                  </a:ext>
                </a:extLst>
              </a:tr>
              <a:tr h="278188">
                <a:tc>
                  <a:txBody>
                    <a:bodyPr/>
                    <a:lstStyle/>
                    <a:p>
                      <a:pPr algn="ctr" fontAlgn="ctr">
                        <a:buNone/>
                      </a:pPr>
                      <a:r>
                        <a:rPr lang="en-GB" sz="900" b="1" u="none" strike="noStrike">
                          <a:effectLst/>
                        </a:rPr>
                        <a:t>2</a:t>
                      </a:r>
                      <a:endParaRPr lang="en-GB" sz="900" b="1" i="0" u="none" strike="noStrike">
                        <a:solidFill>
                          <a:srgbClr val="000000"/>
                        </a:solidFill>
                        <a:effectLst/>
                        <a:latin typeface="Aptos Narrow" panose="020B0004020202020204" pitchFamily="34" charset="0"/>
                      </a:endParaRPr>
                    </a:p>
                  </a:txBody>
                  <a:tcPr marL="5773" marR="5773" marT="5773" marB="0" anchor="ctr"/>
                </a:tc>
                <a:tc>
                  <a:txBody>
                    <a:bodyPr/>
                    <a:lstStyle/>
                    <a:p>
                      <a:pPr algn="ctr" fontAlgn="ctr">
                        <a:buNone/>
                      </a:pPr>
                      <a:r>
                        <a:rPr lang="en-GB" sz="900" u="none" strike="noStrike">
                          <a:effectLst/>
                        </a:rPr>
                        <a:t>Is germination rate different from 50%?</a:t>
                      </a:r>
                      <a:endParaRPr lang="en-GB" sz="900" b="0" i="0" u="none" strike="noStrike">
                        <a:solidFill>
                          <a:srgbClr val="000000"/>
                        </a:solidFill>
                        <a:effectLst/>
                        <a:latin typeface="Aptos Narrow" panose="020B0004020202020204" pitchFamily="34" charset="0"/>
                      </a:endParaRPr>
                    </a:p>
                  </a:txBody>
                  <a:tcPr marL="5773" marR="5773" marT="5773" marB="0" anchor="ctr"/>
                </a:tc>
                <a:tc>
                  <a:txBody>
                    <a:bodyPr/>
                    <a:lstStyle/>
                    <a:p>
                      <a:pPr algn="ctr" fontAlgn="ctr">
                        <a:buNone/>
                      </a:pPr>
                      <a:r>
                        <a:rPr lang="en-GB" sz="900" u="none" strike="noStrike" dirty="0">
                          <a:effectLst/>
                        </a:rPr>
                        <a:t>One variable; Categorical (success/failure); One sample</a:t>
                      </a:r>
                      <a:endParaRPr lang="en-GB" sz="900" b="0" i="0" u="none" strike="noStrike" dirty="0">
                        <a:solidFill>
                          <a:srgbClr val="000000"/>
                        </a:solidFill>
                        <a:effectLst/>
                        <a:latin typeface="Aptos Narrow" panose="020B0004020202020204" pitchFamily="34" charset="0"/>
                      </a:endParaRPr>
                    </a:p>
                  </a:txBody>
                  <a:tcPr marL="5773" marR="5773" marT="5773" marB="0" anchor="ctr"/>
                </a:tc>
                <a:tc>
                  <a:txBody>
                    <a:bodyPr/>
                    <a:lstStyle/>
                    <a:p>
                      <a:pPr algn="ctr" fontAlgn="ctr">
                        <a:buNone/>
                      </a:pPr>
                      <a:r>
                        <a:rPr lang="en-GB" sz="900" u="none" strike="noStrike">
                          <a:effectLst/>
                        </a:rPr>
                        <a:t>Independent trials; binomial setting</a:t>
                      </a:r>
                      <a:endParaRPr lang="en-GB" sz="900" b="0" i="0" u="none" strike="noStrike">
                        <a:solidFill>
                          <a:srgbClr val="000000"/>
                        </a:solidFill>
                        <a:effectLst/>
                        <a:latin typeface="Aptos Narrow" panose="020B0004020202020204" pitchFamily="34" charset="0"/>
                      </a:endParaRPr>
                    </a:p>
                  </a:txBody>
                  <a:tcPr marL="5773" marR="5773" marT="5773" marB="0" anchor="ctr"/>
                </a:tc>
                <a:tc>
                  <a:txBody>
                    <a:bodyPr/>
                    <a:lstStyle/>
                    <a:p>
                      <a:pPr algn="ctr" fontAlgn="ctr">
                        <a:buNone/>
                      </a:pPr>
                      <a:r>
                        <a:rPr lang="en-GB" sz="900" u="none" strike="noStrike">
                          <a:effectLst/>
                        </a:rPr>
                        <a:t>Binomial test</a:t>
                      </a:r>
                      <a:endParaRPr lang="en-GB" sz="900" b="0" i="0" u="none" strike="noStrike">
                        <a:solidFill>
                          <a:srgbClr val="000000"/>
                        </a:solidFill>
                        <a:effectLst/>
                        <a:latin typeface="Aptos Narrow" panose="020B0004020202020204" pitchFamily="34" charset="0"/>
                      </a:endParaRPr>
                    </a:p>
                  </a:txBody>
                  <a:tcPr marL="5773" marR="5773" marT="5773" marB="0" anchor="ctr"/>
                </a:tc>
                <a:tc>
                  <a:txBody>
                    <a:bodyPr/>
                    <a:lstStyle/>
                    <a:p>
                      <a:pPr algn="ctr" fontAlgn="ctr">
                        <a:buNone/>
                      </a:pPr>
                      <a:r>
                        <a:rPr lang="en-GB" sz="900" u="none" strike="noStrike">
                          <a:effectLst/>
                        </a:rPr>
                        <a:t>Bar plot (proportion)</a:t>
                      </a:r>
                      <a:endParaRPr lang="en-GB" sz="900" b="0" i="0" u="none" strike="noStrike">
                        <a:solidFill>
                          <a:srgbClr val="000000"/>
                        </a:solidFill>
                        <a:effectLst/>
                        <a:latin typeface="Aptos Narrow" panose="020B0004020202020204" pitchFamily="34" charset="0"/>
                      </a:endParaRPr>
                    </a:p>
                  </a:txBody>
                  <a:tcPr marL="5773" marR="5773" marT="5773" marB="0" anchor="ctr"/>
                </a:tc>
                <a:extLst>
                  <a:ext uri="{0D108BD9-81ED-4DB2-BD59-A6C34878D82A}">
                    <a16:rowId xmlns:a16="http://schemas.microsoft.com/office/drawing/2014/main" val="3398200442"/>
                  </a:ext>
                </a:extLst>
              </a:tr>
              <a:tr h="278188">
                <a:tc>
                  <a:txBody>
                    <a:bodyPr/>
                    <a:lstStyle/>
                    <a:p>
                      <a:pPr algn="ctr" fontAlgn="ctr">
                        <a:buNone/>
                      </a:pPr>
                      <a:r>
                        <a:rPr lang="en-GB" sz="900" b="1" u="none" strike="noStrike">
                          <a:effectLst/>
                        </a:rPr>
                        <a:t>3</a:t>
                      </a:r>
                      <a:endParaRPr lang="en-GB" sz="900" b="1" i="0" u="none" strike="noStrike">
                        <a:solidFill>
                          <a:srgbClr val="000000"/>
                        </a:solidFill>
                        <a:effectLst/>
                        <a:latin typeface="Aptos Narrow" panose="020B0004020202020204" pitchFamily="34" charset="0"/>
                      </a:endParaRPr>
                    </a:p>
                  </a:txBody>
                  <a:tcPr marL="5773" marR="5773" marT="5773" marB="0" anchor="ctr"/>
                </a:tc>
                <a:tc>
                  <a:txBody>
                    <a:bodyPr/>
                    <a:lstStyle/>
                    <a:p>
                      <a:pPr algn="ctr" fontAlgn="ctr">
                        <a:buNone/>
                      </a:pPr>
                      <a:r>
                        <a:rPr lang="en-GB" sz="900" u="none" strike="noStrike">
                          <a:effectLst/>
                        </a:rPr>
                        <a:t>Do parasite counts follow a Poisson distribution?</a:t>
                      </a:r>
                      <a:endParaRPr lang="en-GB" sz="900" b="0" i="0" u="none" strike="noStrike">
                        <a:solidFill>
                          <a:srgbClr val="000000"/>
                        </a:solidFill>
                        <a:effectLst/>
                        <a:latin typeface="Aptos Narrow" panose="020B0004020202020204" pitchFamily="34" charset="0"/>
                      </a:endParaRPr>
                    </a:p>
                  </a:txBody>
                  <a:tcPr marL="5773" marR="5773" marT="5773" marB="0" anchor="ctr"/>
                </a:tc>
                <a:tc>
                  <a:txBody>
                    <a:bodyPr/>
                    <a:lstStyle/>
                    <a:p>
                      <a:pPr algn="ctr" fontAlgn="ctr">
                        <a:buNone/>
                      </a:pPr>
                      <a:r>
                        <a:rPr lang="en-GB" sz="900" u="none" strike="noStrike" dirty="0">
                          <a:effectLst/>
                        </a:rPr>
                        <a:t>One variable; Categorical (counts in categories)</a:t>
                      </a:r>
                      <a:endParaRPr lang="en-GB" sz="900" b="0" i="0" u="none" strike="noStrike" dirty="0">
                        <a:solidFill>
                          <a:srgbClr val="000000"/>
                        </a:solidFill>
                        <a:effectLst/>
                        <a:latin typeface="Aptos Narrow" panose="020B0004020202020204" pitchFamily="34" charset="0"/>
                      </a:endParaRPr>
                    </a:p>
                  </a:txBody>
                  <a:tcPr marL="5773" marR="5773" marT="5773" marB="0" anchor="ctr"/>
                </a:tc>
                <a:tc>
                  <a:txBody>
                    <a:bodyPr/>
                    <a:lstStyle/>
                    <a:p>
                      <a:pPr algn="ctr" fontAlgn="ctr">
                        <a:buNone/>
                      </a:pPr>
                      <a:r>
                        <a:rPr lang="en-GB" sz="900" u="none" strike="noStrike">
                          <a:effectLst/>
                        </a:rPr>
                        <a:t>Expected frequencies adequate</a:t>
                      </a:r>
                      <a:endParaRPr lang="en-GB" sz="900" b="0" i="0" u="none" strike="noStrike">
                        <a:solidFill>
                          <a:srgbClr val="000000"/>
                        </a:solidFill>
                        <a:effectLst/>
                        <a:latin typeface="Aptos Narrow" panose="020B0004020202020204" pitchFamily="34" charset="0"/>
                      </a:endParaRPr>
                    </a:p>
                  </a:txBody>
                  <a:tcPr marL="5773" marR="5773" marT="5773" marB="0" anchor="ctr"/>
                </a:tc>
                <a:tc>
                  <a:txBody>
                    <a:bodyPr/>
                    <a:lstStyle/>
                    <a:p>
                      <a:pPr algn="ctr" fontAlgn="ctr">
                        <a:buNone/>
                      </a:pPr>
                      <a:r>
                        <a:rPr lang="en-GB" sz="900" u="none" strike="noStrike">
                          <a:effectLst/>
                        </a:rPr>
                        <a:t>Chi-square goodness-of-fit</a:t>
                      </a:r>
                      <a:endParaRPr lang="en-GB" sz="900" b="0" i="0" u="none" strike="noStrike">
                        <a:solidFill>
                          <a:srgbClr val="000000"/>
                        </a:solidFill>
                        <a:effectLst/>
                        <a:latin typeface="Aptos Narrow" panose="020B0004020202020204" pitchFamily="34" charset="0"/>
                      </a:endParaRPr>
                    </a:p>
                  </a:txBody>
                  <a:tcPr marL="5773" marR="5773" marT="5773" marB="0" anchor="ctr"/>
                </a:tc>
                <a:tc>
                  <a:txBody>
                    <a:bodyPr/>
                    <a:lstStyle/>
                    <a:p>
                      <a:pPr algn="ctr" fontAlgn="ctr">
                        <a:buNone/>
                      </a:pPr>
                      <a:r>
                        <a:rPr lang="en-GB" sz="900" u="none" strike="noStrike">
                          <a:effectLst/>
                        </a:rPr>
                        <a:t>Observed vs expected bar plot</a:t>
                      </a:r>
                      <a:endParaRPr lang="en-GB" sz="900" b="0" i="0" u="none" strike="noStrike">
                        <a:solidFill>
                          <a:srgbClr val="000000"/>
                        </a:solidFill>
                        <a:effectLst/>
                        <a:latin typeface="Aptos Narrow" panose="020B0004020202020204" pitchFamily="34" charset="0"/>
                      </a:endParaRPr>
                    </a:p>
                  </a:txBody>
                  <a:tcPr marL="5773" marR="5773" marT="5773" marB="0" anchor="ctr"/>
                </a:tc>
                <a:extLst>
                  <a:ext uri="{0D108BD9-81ED-4DB2-BD59-A6C34878D82A}">
                    <a16:rowId xmlns:a16="http://schemas.microsoft.com/office/drawing/2014/main" val="1463565979"/>
                  </a:ext>
                </a:extLst>
              </a:tr>
              <a:tr h="365998">
                <a:tc>
                  <a:txBody>
                    <a:bodyPr/>
                    <a:lstStyle/>
                    <a:p>
                      <a:pPr algn="ctr" fontAlgn="ctr">
                        <a:buNone/>
                      </a:pPr>
                      <a:r>
                        <a:rPr lang="en-GB" sz="900" b="1" u="none" strike="noStrike" dirty="0">
                          <a:effectLst/>
                        </a:rPr>
                        <a:t>4</a:t>
                      </a:r>
                      <a:endParaRPr lang="en-GB" sz="900" b="1" i="0" u="none" strike="noStrike" dirty="0">
                        <a:solidFill>
                          <a:srgbClr val="000000"/>
                        </a:solidFill>
                        <a:effectLst/>
                        <a:latin typeface="Aptos Narrow" panose="020B0004020202020204" pitchFamily="34" charset="0"/>
                      </a:endParaRPr>
                    </a:p>
                  </a:txBody>
                  <a:tcPr marL="5773" marR="5773" marT="5773" marB="0" anchor="ctr"/>
                </a:tc>
                <a:tc>
                  <a:txBody>
                    <a:bodyPr/>
                    <a:lstStyle/>
                    <a:p>
                      <a:pPr algn="ctr" fontAlgn="ctr">
                        <a:buNone/>
                      </a:pPr>
                      <a:r>
                        <a:rPr lang="en-GB" sz="900" u="none" strike="noStrike">
                          <a:effectLst/>
                        </a:rPr>
                        <a:t>Do treatments differ in mean height?</a:t>
                      </a:r>
                      <a:endParaRPr lang="en-GB" sz="900" b="0" i="0" u="none" strike="noStrike">
                        <a:solidFill>
                          <a:srgbClr val="000000"/>
                        </a:solidFill>
                        <a:effectLst/>
                        <a:latin typeface="Aptos Narrow" panose="020B0004020202020204" pitchFamily="34" charset="0"/>
                      </a:endParaRPr>
                    </a:p>
                  </a:txBody>
                  <a:tcPr marL="5773" marR="5773" marT="5773" marB="0" anchor="ctr"/>
                </a:tc>
                <a:tc>
                  <a:txBody>
                    <a:bodyPr/>
                    <a:lstStyle/>
                    <a:p>
                      <a:pPr algn="ctr" fontAlgn="ctr">
                        <a:buNone/>
                      </a:pPr>
                      <a:r>
                        <a:rPr lang="en-GB" sz="900" u="none" strike="noStrike">
                          <a:effectLst/>
                        </a:rPr>
                        <a:t>Two variables; Numerical response; Categorical explanatory (2 groups); Independent</a:t>
                      </a:r>
                      <a:endParaRPr lang="en-GB" sz="900" b="0" i="0" u="none" strike="noStrike">
                        <a:solidFill>
                          <a:srgbClr val="000000"/>
                        </a:solidFill>
                        <a:effectLst/>
                        <a:latin typeface="Aptos Narrow" panose="020B0004020202020204" pitchFamily="34" charset="0"/>
                      </a:endParaRPr>
                    </a:p>
                  </a:txBody>
                  <a:tcPr marL="5773" marR="5773" marT="5773" marB="0" anchor="ctr"/>
                </a:tc>
                <a:tc>
                  <a:txBody>
                    <a:bodyPr/>
                    <a:lstStyle/>
                    <a:p>
                      <a:pPr algn="ctr" fontAlgn="ctr">
                        <a:buNone/>
                      </a:pPr>
                      <a:r>
                        <a:rPr lang="en-GB" sz="900" u="none" strike="noStrike">
                          <a:effectLst/>
                        </a:rPr>
                        <a:t>Approx. normal; unequal variance</a:t>
                      </a:r>
                      <a:endParaRPr lang="en-GB" sz="900" b="0" i="0" u="none" strike="noStrike">
                        <a:solidFill>
                          <a:srgbClr val="000000"/>
                        </a:solidFill>
                        <a:effectLst/>
                        <a:latin typeface="Aptos Narrow" panose="020B0004020202020204" pitchFamily="34" charset="0"/>
                      </a:endParaRPr>
                    </a:p>
                  </a:txBody>
                  <a:tcPr marL="5773" marR="5773" marT="5773" marB="0" anchor="ctr"/>
                </a:tc>
                <a:tc>
                  <a:txBody>
                    <a:bodyPr/>
                    <a:lstStyle/>
                    <a:p>
                      <a:pPr algn="ctr" fontAlgn="ctr">
                        <a:buNone/>
                      </a:pPr>
                      <a:r>
                        <a:rPr lang="en-GB" sz="900" u="none" strike="noStrike">
                          <a:effectLst/>
                        </a:rPr>
                        <a:t>Welch’s t-test</a:t>
                      </a:r>
                      <a:endParaRPr lang="en-GB" sz="900" b="0" i="0" u="none" strike="noStrike">
                        <a:solidFill>
                          <a:srgbClr val="000000"/>
                        </a:solidFill>
                        <a:effectLst/>
                        <a:latin typeface="Aptos Narrow" panose="020B0004020202020204" pitchFamily="34" charset="0"/>
                      </a:endParaRPr>
                    </a:p>
                  </a:txBody>
                  <a:tcPr marL="5773" marR="5773" marT="5773" marB="0" anchor="ctr"/>
                </a:tc>
                <a:tc>
                  <a:txBody>
                    <a:bodyPr/>
                    <a:lstStyle/>
                    <a:p>
                      <a:pPr algn="ctr" fontAlgn="ctr">
                        <a:buNone/>
                      </a:pPr>
                      <a:r>
                        <a:rPr lang="en-GB" sz="900" u="none" strike="noStrike" dirty="0">
                          <a:effectLst/>
                        </a:rPr>
                        <a:t>Boxplot (2 groups)</a:t>
                      </a:r>
                      <a:endParaRPr lang="en-GB" sz="900" b="0" i="0" u="none" strike="noStrike" dirty="0">
                        <a:solidFill>
                          <a:srgbClr val="000000"/>
                        </a:solidFill>
                        <a:effectLst/>
                        <a:latin typeface="Aptos Narrow" panose="020B0004020202020204" pitchFamily="34" charset="0"/>
                      </a:endParaRPr>
                    </a:p>
                  </a:txBody>
                  <a:tcPr marL="5773" marR="5773" marT="5773" marB="0" anchor="ctr"/>
                </a:tc>
                <a:extLst>
                  <a:ext uri="{0D108BD9-81ED-4DB2-BD59-A6C34878D82A}">
                    <a16:rowId xmlns:a16="http://schemas.microsoft.com/office/drawing/2014/main" val="3227729051"/>
                  </a:ext>
                </a:extLst>
              </a:tr>
              <a:tr h="365998">
                <a:tc>
                  <a:txBody>
                    <a:bodyPr/>
                    <a:lstStyle/>
                    <a:p>
                      <a:pPr algn="ctr" fontAlgn="ctr">
                        <a:buNone/>
                      </a:pPr>
                      <a:r>
                        <a:rPr lang="en-GB" sz="900" b="1" u="none" strike="noStrike" dirty="0">
                          <a:effectLst/>
                        </a:rPr>
                        <a:t>5</a:t>
                      </a:r>
                      <a:endParaRPr lang="en-GB" sz="900" b="1" i="0" u="none" strike="noStrike" dirty="0">
                        <a:solidFill>
                          <a:srgbClr val="000000"/>
                        </a:solidFill>
                        <a:effectLst/>
                        <a:latin typeface="Aptos Narrow" panose="020B0004020202020204" pitchFamily="34" charset="0"/>
                      </a:endParaRPr>
                    </a:p>
                  </a:txBody>
                  <a:tcPr marL="5773" marR="5773" marT="5773" marB="0" anchor="ctr"/>
                </a:tc>
                <a:tc>
                  <a:txBody>
                    <a:bodyPr/>
                    <a:lstStyle/>
                    <a:p>
                      <a:pPr algn="ctr" fontAlgn="ctr">
                        <a:buNone/>
                      </a:pPr>
                      <a:r>
                        <a:rPr lang="en-GB" sz="900" u="none" strike="noStrike">
                          <a:effectLst/>
                        </a:rPr>
                        <a:t>Do treatments differ in recovery time?</a:t>
                      </a:r>
                      <a:endParaRPr lang="en-GB" sz="900" b="0" i="0" u="none" strike="noStrike">
                        <a:solidFill>
                          <a:srgbClr val="000000"/>
                        </a:solidFill>
                        <a:effectLst/>
                        <a:latin typeface="Aptos Narrow" panose="020B0004020202020204" pitchFamily="34" charset="0"/>
                      </a:endParaRPr>
                    </a:p>
                  </a:txBody>
                  <a:tcPr marL="5773" marR="5773" marT="5773" marB="0" anchor="ctr"/>
                </a:tc>
                <a:tc>
                  <a:txBody>
                    <a:bodyPr/>
                    <a:lstStyle/>
                    <a:p>
                      <a:pPr algn="ctr" fontAlgn="ctr">
                        <a:buNone/>
                      </a:pPr>
                      <a:r>
                        <a:rPr lang="en-GB" sz="900" u="none" strike="noStrike">
                          <a:effectLst/>
                        </a:rPr>
                        <a:t>Two variables; Numerical response; Categorical explanatory (2 groups); Independent</a:t>
                      </a:r>
                      <a:endParaRPr lang="en-GB" sz="900" b="0" i="0" u="none" strike="noStrike">
                        <a:solidFill>
                          <a:srgbClr val="000000"/>
                        </a:solidFill>
                        <a:effectLst/>
                        <a:latin typeface="Aptos Narrow" panose="020B0004020202020204" pitchFamily="34" charset="0"/>
                      </a:endParaRPr>
                    </a:p>
                  </a:txBody>
                  <a:tcPr marL="5773" marR="5773" marT="5773" marB="0" anchor="ctr"/>
                </a:tc>
                <a:tc>
                  <a:txBody>
                    <a:bodyPr/>
                    <a:lstStyle/>
                    <a:p>
                      <a:pPr algn="ctr" fontAlgn="ctr">
                        <a:buNone/>
                      </a:pPr>
                      <a:r>
                        <a:rPr lang="en-GB" sz="900" u="none" strike="noStrike">
                          <a:effectLst/>
                        </a:rPr>
                        <a:t>Non-normal distribution</a:t>
                      </a:r>
                      <a:endParaRPr lang="en-GB" sz="900" b="0" i="0" u="none" strike="noStrike">
                        <a:solidFill>
                          <a:srgbClr val="000000"/>
                        </a:solidFill>
                        <a:effectLst/>
                        <a:latin typeface="Aptos Narrow" panose="020B0004020202020204" pitchFamily="34" charset="0"/>
                      </a:endParaRPr>
                    </a:p>
                  </a:txBody>
                  <a:tcPr marL="5773" marR="5773" marT="5773" marB="0" anchor="ctr"/>
                </a:tc>
                <a:tc>
                  <a:txBody>
                    <a:bodyPr/>
                    <a:lstStyle/>
                    <a:p>
                      <a:pPr algn="ctr" fontAlgn="ctr">
                        <a:buNone/>
                      </a:pPr>
                      <a:r>
                        <a:rPr lang="en-GB" sz="900" u="none" strike="noStrike">
                          <a:effectLst/>
                        </a:rPr>
                        <a:t>Mann–Whitney U</a:t>
                      </a:r>
                      <a:endParaRPr lang="en-GB" sz="900" b="0" i="0" u="none" strike="noStrike">
                        <a:solidFill>
                          <a:srgbClr val="000000"/>
                        </a:solidFill>
                        <a:effectLst/>
                        <a:latin typeface="Aptos Narrow" panose="020B0004020202020204" pitchFamily="34" charset="0"/>
                      </a:endParaRPr>
                    </a:p>
                  </a:txBody>
                  <a:tcPr marL="5773" marR="5773" marT="5773" marB="0" anchor="ctr"/>
                </a:tc>
                <a:tc>
                  <a:txBody>
                    <a:bodyPr/>
                    <a:lstStyle/>
                    <a:p>
                      <a:pPr algn="ctr" fontAlgn="ctr">
                        <a:buNone/>
                      </a:pPr>
                      <a:r>
                        <a:rPr lang="en-GB" sz="900" u="none" strike="noStrike">
                          <a:effectLst/>
                        </a:rPr>
                        <a:t>Boxplot / violin</a:t>
                      </a:r>
                      <a:endParaRPr lang="en-GB" sz="900" b="0" i="0" u="none" strike="noStrike">
                        <a:solidFill>
                          <a:srgbClr val="000000"/>
                        </a:solidFill>
                        <a:effectLst/>
                        <a:latin typeface="Aptos Narrow" panose="020B0004020202020204" pitchFamily="34" charset="0"/>
                      </a:endParaRPr>
                    </a:p>
                  </a:txBody>
                  <a:tcPr marL="5773" marR="5773" marT="5773" marB="0" anchor="ctr"/>
                </a:tc>
                <a:extLst>
                  <a:ext uri="{0D108BD9-81ED-4DB2-BD59-A6C34878D82A}">
                    <a16:rowId xmlns:a16="http://schemas.microsoft.com/office/drawing/2014/main" val="3017714306"/>
                  </a:ext>
                </a:extLst>
              </a:tr>
              <a:tr h="278188">
                <a:tc>
                  <a:txBody>
                    <a:bodyPr/>
                    <a:lstStyle/>
                    <a:p>
                      <a:pPr algn="ctr" fontAlgn="ctr">
                        <a:buNone/>
                      </a:pPr>
                      <a:r>
                        <a:rPr lang="en-GB" sz="900" b="1" u="none" strike="noStrike" dirty="0">
                          <a:effectLst/>
                        </a:rPr>
                        <a:t>6</a:t>
                      </a:r>
                      <a:endParaRPr lang="en-GB" sz="900" b="1" i="0" u="none" strike="noStrike" dirty="0">
                        <a:solidFill>
                          <a:srgbClr val="000000"/>
                        </a:solidFill>
                        <a:effectLst/>
                        <a:latin typeface="Aptos Narrow" panose="020B0004020202020204" pitchFamily="34" charset="0"/>
                      </a:endParaRPr>
                    </a:p>
                  </a:txBody>
                  <a:tcPr marL="5773" marR="5773" marT="5773" marB="0" anchor="ctr"/>
                </a:tc>
                <a:tc>
                  <a:txBody>
                    <a:bodyPr/>
                    <a:lstStyle/>
                    <a:p>
                      <a:pPr algn="ctr" fontAlgn="ctr">
                        <a:buNone/>
                      </a:pPr>
                      <a:r>
                        <a:rPr lang="en-GB" sz="900" u="none" strike="noStrike">
                          <a:effectLst/>
                        </a:rPr>
                        <a:t>Does treatment change blood pressure?</a:t>
                      </a:r>
                      <a:endParaRPr lang="en-GB" sz="900" b="0" i="0" u="none" strike="noStrike">
                        <a:solidFill>
                          <a:srgbClr val="000000"/>
                        </a:solidFill>
                        <a:effectLst/>
                        <a:latin typeface="Aptos Narrow" panose="020B0004020202020204" pitchFamily="34" charset="0"/>
                      </a:endParaRPr>
                    </a:p>
                  </a:txBody>
                  <a:tcPr marL="5773" marR="5773" marT="5773" marB="0" anchor="ctr"/>
                </a:tc>
                <a:tc>
                  <a:txBody>
                    <a:bodyPr/>
                    <a:lstStyle/>
                    <a:p>
                      <a:pPr algn="ctr" fontAlgn="ctr">
                        <a:buNone/>
                      </a:pPr>
                      <a:r>
                        <a:rPr lang="en-GB" sz="900" u="none" strike="noStrike">
                          <a:effectLst/>
                        </a:rPr>
                        <a:t>Two variables; Numerical response; Paired measurements</a:t>
                      </a:r>
                      <a:endParaRPr lang="en-GB" sz="900" b="0" i="0" u="none" strike="noStrike">
                        <a:solidFill>
                          <a:srgbClr val="000000"/>
                        </a:solidFill>
                        <a:effectLst/>
                        <a:latin typeface="Aptos Narrow" panose="020B0004020202020204" pitchFamily="34" charset="0"/>
                      </a:endParaRPr>
                    </a:p>
                  </a:txBody>
                  <a:tcPr marL="5773" marR="5773" marT="5773" marB="0" anchor="ctr"/>
                </a:tc>
                <a:tc>
                  <a:txBody>
                    <a:bodyPr/>
                    <a:lstStyle/>
                    <a:p>
                      <a:pPr algn="ctr" fontAlgn="ctr">
                        <a:buNone/>
                      </a:pPr>
                      <a:r>
                        <a:rPr lang="en-GB" sz="900" u="none" strike="noStrike">
                          <a:effectLst/>
                        </a:rPr>
                        <a:t>Approx. normal differences</a:t>
                      </a:r>
                      <a:endParaRPr lang="en-GB" sz="900" b="0" i="0" u="none" strike="noStrike">
                        <a:solidFill>
                          <a:srgbClr val="000000"/>
                        </a:solidFill>
                        <a:effectLst/>
                        <a:latin typeface="Aptos Narrow" panose="020B0004020202020204" pitchFamily="34" charset="0"/>
                      </a:endParaRPr>
                    </a:p>
                  </a:txBody>
                  <a:tcPr marL="5773" marR="5773" marT="5773" marB="0" anchor="ctr"/>
                </a:tc>
                <a:tc>
                  <a:txBody>
                    <a:bodyPr/>
                    <a:lstStyle/>
                    <a:p>
                      <a:pPr algn="ctr" fontAlgn="ctr">
                        <a:buNone/>
                      </a:pPr>
                      <a:r>
                        <a:rPr lang="en-GB" sz="900" u="none" strike="noStrike">
                          <a:effectLst/>
                        </a:rPr>
                        <a:t>Paired t-test (Sign test if non-normal)</a:t>
                      </a:r>
                      <a:endParaRPr lang="en-GB" sz="900" b="0" i="0" u="none" strike="noStrike">
                        <a:solidFill>
                          <a:srgbClr val="000000"/>
                        </a:solidFill>
                        <a:effectLst/>
                        <a:latin typeface="Aptos Narrow" panose="020B0004020202020204" pitchFamily="34" charset="0"/>
                      </a:endParaRPr>
                    </a:p>
                  </a:txBody>
                  <a:tcPr marL="5773" marR="5773" marT="5773" marB="0" anchor="ctr"/>
                </a:tc>
                <a:tc>
                  <a:txBody>
                    <a:bodyPr/>
                    <a:lstStyle/>
                    <a:p>
                      <a:pPr algn="ctr" fontAlgn="ctr">
                        <a:buNone/>
                      </a:pPr>
                      <a:r>
                        <a:rPr lang="en-GB" sz="900" u="none" strike="noStrike">
                          <a:effectLst/>
                        </a:rPr>
                        <a:t>Paired dot plot</a:t>
                      </a:r>
                      <a:endParaRPr lang="en-GB" sz="900" b="0" i="0" u="none" strike="noStrike">
                        <a:solidFill>
                          <a:srgbClr val="000000"/>
                        </a:solidFill>
                        <a:effectLst/>
                        <a:latin typeface="Aptos Narrow" panose="020B0004020202020204" pitchFamily="34" charset="0"/>
                      </a:endParaRPr>
                    </a:p>
                  </a:txBody>
                  <a:tcPr marL="5773" marR="5773" marT="5773" marB="0" anchor="ctr"/>
                </a:tc>
                <a:extLst>
                  <a:ext uri="{0D108BD9-81ED-4DB2-BD59-A6C34878D82A}">
                    <a16:rowId xmlns:a16="http://schemas.microsoft.com/office/drawing/2014/main" val="758592929"/>
                  </a:ext>
                </a:extLst>
              </a:tr>
              <a:tr h="278188">
                <a:tc>
                  <a:txBody>
                    <a:bodyPr/>
                    <a:lstStyle/>
                    <a:p>
                      <a:pPr algn="ctr" fontAlgn="ctr">
                        <a:buNone/>
                      </a:pPr>
                      <a:r>
                        <a:rPr lang="en-GB" sz="900" b="1" u="none" strike="noStrike" dirty="0">
                          <a:effectLst/>
                        </a:rPr>
                        <a:t>7</a:t>
                      </a:r>
                      <a:endParaRPr lang="en-GB" sz="900" b="1" i="0" u="none" strike="noStrike" dirty="0">
                        <a:solidFill>
                          <a:srgbClr val="000000"/>
                        </a:solidFill>
                        <a:effectLst/>
                        <a:latin typeface="Aptos Narrow" panose="020B0004020202020204" pitchFamily="34" charset="0"/>
                      </a:endParaRPr>
                    </a:p>
                  </a:txBody>
                  <a:tcPr marL="5773" marR="5773" marT="5773" marB="0" anchor="ctr"/>
                </a:tc>
                <a:tc>
                  <a:txBody>
                    <a:bodyPr/>
                    <a:lstStyle/>
                    <a:p>
                      <a:pPr algn="ctr" fontAlgn="ctr">
                        <a:buNone/>
                      </a:pPr>
                      <a:r>
                        <a:rPr lang="en-GB" sz="900" u="none" strike="noStrike">
                          <a:effectLst/>
                        </a:rPr>
                        <a:t>Is disease associated with smoking?</a:t>
                      </a:r>
                      <a:endParaRPr lang="en-GB" sz="900" b="0" i="0" u="none" strike="noStrike">
                        <a:solidFill>
                          <a:srgbClr val="000000"/>
                        </a:solidFill>
                        <a:effectLst/>
                        <a:latin typeface="Aptos Narrow" panose="020B0004020202020204" pitchFamily="34" charset="0"/>
                      </a:endParaRPr>
                    </a:p>
                  </a:txBody>
                  <a:tcPr marL="5773" marR="5773" marT="5773" marB="0" anchor="ctr"/>
                </a:tc>
                <a:tc>
                  <a:txBody>
                    <a:bodyPr/>
                    <a:lstStyle/>
                    <a:p>
                      <a:pPr algn="ctr" fontAlgn="ctr">
                        <a:buNone/>
                      </a:pPr>
                      <a:r>
                        <a:rPr lang="en-GB" sz="900" u="none" strike="noStrike">
                          <a:effectLst/>
                        </a:rPr>
                        <a:t>Two variables; Both categorical; Independent; 2×2 table</a:t>
                      </a:r>
                      <a:endParaRPr lang="en-GB" sz="900" b="0" i="0" u="none" strike="noStrike">
                        <a:solidFill>
                          <a:srgbClr val="000000"/>
                        </a:solidFill>
                        <a:effectLst/>
                        <a:latin typeface="Aptos Narrow" panose="020B0004020202020204" pitchFamily="34" charset="0"/>
                      </a:endParaRPr>
                    </a:p>
                  </a:txBody>
                  <a:tcPr marL="5773" marR="5773" marT="5773" marB="0" anchor="ctr"/>
                </a:tc>
                <a:tc>
                  <a:txBody>
                    <a:bodyPr/>
                    <a:lstStyle/>
                    <a:p>
                      <a:pPr algn="ctr" fontAlgn="ctr">
                        <a:buNone/>
                      </a:pPr>
                      <a:r>
                        <a:rPr lang="en-GB" sz="900" u="none" strike="noStrike">
                          <a:effectLst/>
                        </a:rPr>
                        <a:t>Expected counts adequate</a:t>
                      </a:r>
                      <a:endParaRPr lang="en-GB" sz="900" b="0" i="0" u="none" strike="noStrike">
                        <a:solidFill>
                          <a:srgbClr val="000000"/>
                        </a:solidFill>
                        <a:effectLst/>
                        <a:latin typeface="Aptos Narrow" panose="020B0004020202020204" pitchFamily="34" charset="0"/>
                      </a:endParaRPr>
                    </a:p>
                  </a:txBody>
                  <a:tcPr marL="5773" marR="5773" marT="5773" marB="0" anchor="ctr"/>
                </a:tc>
                <a:tc>
                  <a:txBody>
                    <a:bodyPr/>
                    <a:lstStyle/>
                    <a:p>
                      <a:pPr algn="ctr" fontAlgn="ctr">
                        <a:buNone/>
                      </a:pPr>
                      <a:r>
                        <a:rPr lang="en-GB" sz="900" u="none" strike="noStrike">
                          <a:effectLst/>
                        </a:rPr>
                        <a:t>Chi-square independence (+ OR/RR)</a:t>
                      </a:r>
                      <a:endParaRPr lang="en-GB" sz="900" b="0" i="0" u="none" strike="noStrike">
                        <a:solidFill>
                          <a:srgbClr val="000000"/>
                        </a:solidFill>
                        <a:effectLst/>
                        <a:latin typeface="Aptos Narrow" panose="020B0004020202020204" pitchFamily="34" charset="0"/>
                      </a:endParaRPr>
                    </a:p>
                  </a:txBody>
                  <a:tcPr marL="5773" marR="5773" marT="5773" marB="0" anchor="ctr"/>
                </a:tc>
                <a:tc>
                  <a:txBody>
                    <a:bodyPr/>
                    <a:lstStyle/>
                    <a:p>
                      <a:pPr algn="ctr" fontAlgn="ctr">
                        <a:buNone/>
                      </a:pPr>
                      <a:r>
                        <a:rPr lang="en-GB" sz="900" u="none" strike="noStrike">
                          <a:effectLst/>
                        </a:rPr>
                        <a:t>Mosaic plot</a:t>
                      </a:r>
                      <a:endParaRPr lang="en-GB" sz="900" b="0" i="0" u="none" strike="noStrike">
                        <a:solidFill>
                          <a:srgbClr val="000000"/>
                        </a:solidFill>
                        <a:effectLst/>
                        <a:latin typeface="Aptos Narrow" panose="020B0004020202020204" pitchFamily="34" charset="0"/>
                      </a:endParaRPr>
                    </a:p>
                  </a:txBody>
                  <a:tcPr marL="5773" marR="5773" marT="5773" marB="0" anchor="ctr"/>
                </a:tc>
                <a:extLst>
                  <a:ext uri="{0D108BD9-81ED-4DB2-BD59-A6C34878D82A}">
                    <a16:rowId xmlns:a16="http://schemas.microsoft.com/office/drawing/2014/main" val="3973250388"/>
                  </a:ext>
                </a:extLst>
              </a:tr>
              <a:tr h="365998">
                <a:tc>
                  <a:txBody>
                    <a:bodyPr/>
                    <a:lstStyle/>
                    <a:p>
                      <a:pPr algn="ctr" fontAlgn="ctr">
                        <a:buNone/>
                      </a:pPr>
                      <a:r>
                        <a:rPr lang="en-GB" sz="900" b="1" u="none" strike="noStrike" dirty="0">
                          <a:effectLst/>
                        </a:rPr>
                        <a:t>8</a:t>
                      </a:r>
                      <a:endParaRPr lang="en-GB" sz="900" b="1" i="0" u="none" strike="noStrike" dirty="0">
                        <a:solidFill>
                          <a:srgbClr val="000000"/>
                        </a:solidFill>
                        <a:effectLst/>
                        <a:latin typeface="Aptos Narrow" panose="020B0004020202020204" pitchFamily="34" charset="0"/>
                      </a:endParaRPr>
                    </a:p>
                  </a:txBody>
                  <a:tcPr marL="5773" marR="5773" marT="5773" marB="0" anchor="ctr"/>
                </a:tc>
                <a:tc>
                  <a:txBody>
                    <a:bodyPr/>
                    <a:lstStyle/>
                    <a:p>
                      <a:pPr algn="ctr" fontAlgn="ctr">
                        <a:buNone/>
                      </a:pPr>
                      <a:r>
                        <a:rPr lang="en-GB" sz="900" u="none" strike="noStrike" dirty="0">
                          <a:effectLst/>
                        </a:rPr>
                        <a:t>Do means differ among temperatures?</a:t>
                      </a:r>
                      <a:endParaRPr lang="en-GB" sz="900" b="0" i="0" u="none" strike="noStrike" dirty="0">
                        <a:solidFill>
                          <a:srgbClr val="000000"/>
                        </a:solidFill>
                        <a:effectLst/>
                        <a:latin typeface="Aptos Narrow" panose="020B0004020202020204" pitchFamily="34" charset="0"/>
                      </a:endParaRPr>
                    </a:p>
                  </a:txBody>
                  <a:tcPr marL="5773" marR="5773" marT="5773" marB="0" anchor="ctr"/>
                </a:tc>
                <a:tc>
                  <a:txBody>
                    <a:bodyPr/>
                    <a:lstStyle/>
                    <a:p>
                      <a:pPr algn="ctr" fontAlgn="ctr">
                        <a:buNone/>
                      </a:pPr>
                      <a:r>
                        <a:rPr lang="en-GB" sz="900" u="none" strike="noStrike">
                          <a:effectLst/>
                        </a:rPr>
                        <a:t>Two variables; Numerical response; Categorical explanatory (&gt;2 groups); Independent</a:t>
                      </a:r>
                      <a:endParaRPr lang="en-GB" sz="900" b="0" i="0" u="none" strike="noStrike">
                        <a:solidFill>
                          <a:srgbClr val="000000"/>
                        </a:solidFill>
                        <a:effectLst/>
                        <a:latin typeface="Aptos Narrow" panose="020B0004020202020204" pitchFamily="34" charset="0"/>
                      </a:endParaRPr>
                    </a:p>
                  </a:txBody>
                  <a:tcPr marL="5773" marR="5773" marT="5773" marB="0" anchor="ctr"/>
                </a:tc>
                <a:tc>
                  <a:txBody>
                    <a:bodyPr/>
                    <a:lstStyle/>
                    <a:p>
                      <a:pPr algn="ctr" fontAlgn="ctr">
                        <a:buNone/>
                      </a:pPr>
                      <a:r>
                        <a:rPr lang="en-GB" sz="900" u="none" strike="noStrike">
                          <a:effectLst/>
                        </a:rPr>
                        <a:t>Approx. normal</a:t>
                      </a:r>
                      <a:endParaRPr lang="en-GB" sz="900" b="0" i="0" u="none" strike="noStrike">
                        <a:solidFill>
                          <a:srgbClr val="000000"/>
                        </a:solidFill>
                        <a:effectLst/>
                        <a:latin typeface="Aptos Narrow" panose="020B0004020202020204" pitchFamily="34" charset="0"/>
                      </a:endParaRPr>
                    </a:p>
                  </a:txBody>
                  <a:tcPr marL="5773" marR="5773" marT="5773" marB="0" anchor="ctr"/>
                </a:tc>
                <a:tc>
                  <a:txBody>
                    <a:bodyPr/>
                    <a:lstStyle/>
                    <a:p>
                      <a:pPr algn="ctr" fontAlgn="ctr">
                        <a:buNone/>
                      </a:pPr>
                      <a:r>
                        <a:rPr lang="en-GB" sz="900" u="none" strike="noStrike">
                          <a:effectLst/>
                        </a:rPr>
                        <a:t>ANOVA (Kruskal–Wallis if non-normal)</a:t>
                      </a:r>
                      <a:endParaRPr lang="en-GB" sz="900" b="0" i="0" u="none" strike="noStrike">
                        <a:solidFill>
                          <a:srgbClr val="000000"/>
                        </a:solidFill>
                        <a:effectLst/>
                        <a:latin typeface="Aptos Narrow" panose="020B0004020202020204" pitchFamily="34" charset="0"/>
                      </a:endParaRPr>
                    </a:p>
                  </a:txBody>
                  <a:tcPr marL="5773" marR="5773" marT="5773" marB="0" anchor="ctr"/>
                </a:tc>
                <a:tc>
                  <a:txBody>
                    <a:bodyPr/>
                    <a:lstStyle/>
                    <a:p>
                      <a:pPr algn="ctr" fontAlgn="ctr">
                        <a:buNone/>
                      </a:pPr>
                      <a:r>
                        <a:rPr lang="en-GB" sz="900" u="none" strike="noStrike" dirty="0">
                          <a:effectLst/>
                        </a:rPr>
                        <a:t>Bar plot with error bars</a:t>
                      </a:r>
                      <a:endParaRPr lang="en-GB" sz="900" b="0" i="0" u="none" strike="noStrike" dirty="0">
                        <a:solidFill>
                          <a:srgbClr val="000000"/>
                        </a:solidFill>
                        <a:effectLst/>
                        <a:latin typeface="Aptos Narrow" panose="020B0004020202020204" pitchFamily="34" charset="0"/>
                      </a:endParaRPr>
                    </a:p>
                  </a:txBody>
                  <a:tcPr marL="5773" marR="5773" marT="5773" marB="0" anchor="ctr"/>
                </a:tc>
                <a:extLst>
                  <a:ext uri="{0D108BD9-81ED-4DB2-BD59-A6C34878D82A}">
                    <a16:rowId xmlns:a16="http://schemas.microsoft.com/office/drawing/2014/main" val="2363156800"/>
                  </a:ext>
                </a:extLst>
              </a:tr>
            </a:tbl>
          </a:graphicData>
        </a:graphic>
      </p:graphicFrame>
      <p:sp>
        <p:nvSpPr>
          <p:cNvPr id="6" name="Title 1">
            <a:extLst>
              <a:ext uri="{FF2B5EF4-FFF2-40B4-BE49-F238E27FC236}">
                <a16:creationId xmlns:a16="http://schemas.microsoft.com/office/drawing/2014/main" id="{C7B59140-3FD7-C062-F44F-EB71C140BD72}"/>
              </a:ext>
            </a:extLst>
          </p:cNvPr>
          <p:cNvSpPr txBox="1">
            <a:spLocks/>
          </p:cNvSpPr>
          <p:nvPr/>
        </p:nvSpPr>
        <p:spPr>
          <a:xfrm>
            <a:off x="3523971" y="127637"/>
            <a:ext cx="1757415" cy="487143"/>
          </a:xfrm>
          <a:prstGeom prst="rect">
            <a:avLst/>
          </a:prstGeom>
        </p:spPr>
        <p:txBody>
          <a:bodyPr vert="horz" lIns="74295" tIns="37148" rIns="74295" bIns="37148"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2600" dirty="0">
                <a:latin typeface="Cascadia Code" panose="020B0609020000020004" pitchFamily="49" charset="0"/>
                <a:ea typeface="Cascadia Code" panose="020B0609020000020004" pitchFamily="49" charset="0"/>
                <a:cs typeface="Cascadia Code" panose="020B0609020000020004" pitchFamily="49" charset="0"/>
              </a:rPr>
              <a:t>SOLUTIONS</a:t>
            </a:r>
          </a:p>
        </p:txBody>
      </p:sp>
    </p:spTree>
    <p:extLst>
      <p:ext uri="{BB962C8B-B14F-4D97-AF65-F5344CB8AC3E}">
        <p14:creationId xmlns:p14="http://schemas.microsoft.com/office/powerpoint/2010/main" val="24142077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4593A6-5E1B-F381-0B9E-B9A4BFD6B7CE}"/>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B47AEE3B-5740-0DF8-6988-935F1BAFB2D3}"/>
              </a:ext>
            </a:extLst>
          </p:cNvPr>
          <p:cNvGraphicFramePr>
            <a:graphicFrameLocks noGrp="1"/>
          </p:cNvGraphicFramePr>
          <p:nvPr/>
        </p:nvGraphicFramePr>
        <p:xfrm>
          <a:off x="117929" y="3978191"/>
          <a:ext cx="9670144" cy="2119769"/>
        </p:xfrm>
        <a:graphic>
          <a:graphicData uri="http://schemas.openxmlformats.org/drawingml/2006/table">
            <a:tbl>
              <a:tblPr firstRow="1" firstCol="1">
                <a:tableStyleId>{7DF18680-E054-41AD-8BC1-D1AEF772440D}</a:tableStyleId>
              </a:tblPr>
              <a:tblGrid>
                <a:gridCol w="533893">
                  <a:extLst>
                    <a:ext uri="{9D8B030D-6E8A-4147-A177-3AD203B41FA5}">
                      <a16:colId xmlns:a16="http://schemas.microsoft.com/office/drawing/2014/main" val="3706546155"/>
                    </a:ext>
                  </a:extLst>
                </a:gridCol>
                <a:gridCol w="2242352">
                  <a:extLst>
                    <a:ext uri="{9D8B030D-6E8A-4147-A177-3AD203B41FA5}">
                      <a16:colId xmlns:a16="http://schemas.microsoft.com/office/drawing/2014/main" val="593275305"/>
                    </a:ext>
                  </a:extLst>
                </a:gridCol>
                <a:gridCol w="3176666">
                  <a:extLst>
                    <a:ext uri="{9D8B030D-6E8A-4147-A177-3AD203B41FA5}">
                      <a16:colId xmlns:a16="http://schemas.microsoft.com/office/drawing/2014/main" val="1845068336"/>
                    </a:ext>
                  </a:extLst>
                </a:gridCol>
                <a:gridCol w="1721806">
                  <a:extLst>
                    <a:ext uri="{9D8B030D-6E8A-4147-A177-3AD203B41FA5}">
                      <a16:colId xmlns:a16="http://schemas.microsoft.com/office/drawing/2014/main" val="2473896183"/>
                    </a:ext>
                  </a:extLst>
                </a:gridCol>
                <a:gridCol w="1995427">
                  <a:extLst>
                    <a:ext uri="{9D8B030D-6E8A-4147-A177-3AD203B41FA5}">
                      <a16:colId xmlns:a16="http://schemas.microsoft.com/office/drawing/2014/main" val="3743254094"/>
                    </a:ext>
                  </a:extLst>
                </a:gridCol>
              </a:tblGrid>
              <a:tr h="383476">
                <a:tc>
                  <a:txBody>
                    <a:bodyPr/>
                    <a:lstStyle/>
                    <a:p>
                      <a:pPr algn="ctr" fontAlgn="ctr">
                        <a:buNone/>
                      </a:pPr>
                      <a:r>
                        <a:rPr lang="en-GB" sz="900" b="1" u="none" strike="noStrike" dirty="0">
                          <a:effectLst/>
                        </a:rPr>
                        <a:t>Case</a:t>
                      </a:r>
                      <a:endParaRPr lang="en-GB" sz="900" b="1" i="0" u="none" strike="noStrike" dirty="0">
                        <a:solidFill>
                          <a:srgbClr val="000000"/>
                        </a:solidFill>
                        <a:effectLst/>
                        <a:latin typeface="Aptos Narrow" panose="020B0004020202020204" pitchFamily="34" charset="0"/>
                      </a:endParaRPr>
                    </a:p>
                  </a:txBody>
                  <a:tcPr marL="6191" marR="6191" marT="6191" marB="0" anchor="ctr"/>
                </a:tc>
                <a:tc>
                  <a:txBody>
                    <a:bodyPr/>
                    <a:lstStyle/>
                    <a:p>
                      <a:pPr algn="ctr" fontAlgn="ctr">
                        <a:buNone/>
                      </a:pPr>
                      <a:r>
                        <a:rPr lang="en-GB" sz="900" b="1" u="none" strike="noStrike" dirty="0">
                          <a:effectLst/>
                        </a:rPr>
                        <a:t>What are we calculating?</a:t>
                      </a:r>
                      <a:endParaRPr lang="en-GB" sz="900" b="1" i="0" u="none" strike="noStrike" dirty="0">
                        <a:solidFill>
                          <a:srgbClr val="000000"/>
                        </a:solidFill>
                        <a:effectLst/>
                        <a:latin typeface="Aptos Narrow" panose="020B0004020202020204" pitchFamily="34" charset="0"/>
                      </a:endParaRPr>
                    </a:p>
                  </a:txBody>
                  <a:tcPr marL="6191" marR="6191" marT="6191" marB="0" anchor="ctr"/>
                </a:tc>
                <a:tc>
                  <a:txBody>
                    <a:bodyPr/>
                    <a:lstStyle/>
                    <a:p>
                      <a:pPr algn="ctr" fontAlgn="ctr">
                        <a:buNone/>
                      </a:pPr>
                      <a:r>
                        <a:rPr lang="en-GB" sz="900" b="1" u="none" strike="noStrike" dirty="0">
                          <a:effectLst/>
                        </a:rPr>
                        <a:t>Describe the situation (categories, events, mutually exclusive or not)</a:t>
                      </a:r>
                      <a:endParaRPr lang="en-GB" sz="900" b="1" i="0" u="none" strike="noStrike" dirty="0">
                        <a:solidFill>
                          <a:srgbClr val="000000"/>
                        </a:solidFill>
                        <a:effectLst/>
                        <a:latin typeface="Aptos Narrow" panose="020B0004020202020204" pitchFamily="34" charset="0"/>
                      </a:endParaRPr>
                    </a:p>
                  </a:txBody>
                  <a:tcPr marL="6191" marR="6191" marT="6191" marB="0" anchor="ctr"/>
                </a:tc>
                <a:tc>
                  <a:txBody>
                    <a:bodyPr/>
                    <a:lstStyle/>
                    <a:p>
                      <a:pPr algn="ctr" fontAlgn="ctr">
                        <a:buNone/>
                      </a:pPr>
                      <a:r>
                        <a:rPr lang="en-GB" sz="900" b="1" u="none" strike="noStrike" dirty="0">
                          <a:effectLst/>
                        </a:rPr>
                        <a:t>Rule / Distribution to use</a:t>
                      </a:r>
                      <a:endParaRPr lang="en-GB" sz="900" b="1" i="0" u="none" strike="noStrike" dirty="0">
                        <a:solidFill>
                          <a:srgbClr val="000000"/>
                        </a:solidFill>
                        <a:effectLst/>
                        <a:latin typeface="Aptos Narrow" panose="020B0004020202020204" pitchFamily="34" charset="0"/>
                      </a:endParaRPr>
                    </a:p>
                  </a:txBody>
                  <a:tcPr marL="6191" marR="6191" marT="6191" marB="0" anchor="ctr"/>
                </a:tc>
                <a:tc>
                  <a:txBody>
                    <a:bodyPr/>
                    <a:lstStyle/>
                    <a:p>
                      <a:pPr algn="ctr" fontAlgn="ctr">
                        <a:buNone/>
                      </a:pPr>
                      <a:r>
                        <a:rPr lang="en-GB" sz="900" b="1" u="none" strike="noStrike" dirty="0">
                          <a:effectLst/>
                        </a:rPr>
                        <a:t>Visual representation</a:t>
                      </a:r>
                      <a:endParaRPr lang="en-GB" sz="900" b="1" i="0" u="none" strike="noStrike" dirty="0">
                        <a:solidFill>
                          <a:srgbClr val="000000"/>
                        </a:solidFill>
                        <a:effectLst/>
                        <a:latin typeface="Aptos Narrow" panose="020B0004020202020204" pitchFamily="34" charset="0"/>
                      </a:endParaRPr>
                    </a:p>
                  </a:txBody>
                  <a:tcPr marL="6191" marR="6191" marT="6191" marB="0" anchor="ctr"/>
                </a:tc>
                <a:extLst>
                  <a:ext uri="{0D108BD9-81ED-4DB2-BD59-A6C34878D82A}">
                    <a16:rowId xmlns:a16="http://schemas.microsoft.com/office/drawing/2014/main" val="3254229067"/>
                  </a:ext>
                </a:extLst>
              </a:tr>
              <a:tr h="476301">
                <a:tc>
                  <a:txBody>
                    <a:bodyPr/>
                    <a:lstStyle/>
                    <a:p>
                      <a:pPr algn="ctr" fontAlgn="ctr">
                        <a:buNone/>
                      </a:pPr>
                      <a:r>
                        <a:rPr lang="en-GB" sz="900" b="1" u="none" strike="noStrike" dirty="0">
                          <a:effectLst/>
                        </a:rPr>
                        <a:t>9</a:t>
                      </a:r>
                      <a:endParaRPr lang="en-GB" sz="900" b="1" i="0" u="none" strike="noStrike" dirty="0">
                        <a:solidFill>
                          <a:srgbClr val="000000"/>
                        </a:solidFill>
                        <a:effectLst/>
                        <a:latin typeface="Aptos Narrow" panose="020B0004020202020204" pitchFamily="34" charset="0"/>
                      </a:endParaRPr>
                    </a:p>
                  </a:txBody>
                  <a:tcPr marL="6191" marR="6191" marT="6191" marB="0" anchor="ctr"/>
                </a:tc>
                <a:tc>
                  <a:txBody>
                    <a:bodyPr/>
                    <a:lstStyle/>
                    <a:p>
                      <a:pPr algn="ctr" fontAlgn="ctr">
                        <a:buNone/>
                      </a:pPr>
                      <a:r>
                        <a:rPr lang="en-GB" sz="900" u="none" strike="noStrike">
                          <a:effectLst/>
                        </a:rPr>
                        <a:t>Probability that exactly 2 out of 5 plants are infected</a:t>
                      </a:r>
                      <a:endParaRPr lang="en-GB" sz="900" b="0" i="0" u="none" strike="noStrike">
                        <a:solidFill>
                          <a:srgbClr val="000000"/>
                        </a:solidFill>
                        <a:effectLst/>
                        <a:latin typeface="Aptos Narrow" panose="020B0004020202020204" pitchFamily="34" charset="0"/>
                      </a:endParaRPr>
                    </a:p>
                  </a:txBody>
                  <a:tcPr marL="6191" marR="6191" marT="6191" marB="0" anchor="ctr"/>
                </a:tc>
                <a:tc>
                  <a:txBody>
                    <a:bodyPr/>
                    <a:lstStyle/>
                    <a:p>
                      <a:pPr algn="ctr" fontAlgn="ctr">
                        <a:buNone/>
                      </a:pPr>
                      <a:r>
                        <a:rPr lang="en-GB" sz="900" u="none" strike="noStrike" dirty="0">
                          <a:effectLst/>
                        </a:rPr>
                        <a:t>Repeated independent trials; fixed number of trials (5); two outcomes per trial (infected / not infected); same probability each time</a:t>
                      </a:r>
                      <a:endParaRPr lang="en-GB" sz="900" b="0" i="0" u="none" strike="noStrike" dirty="0">
                        <a:solidFill>
                          <a:srgbClr val="000000"/>
                        </a:solidFill>
                        <a:effectLst/>
                        <a:latin typeface="Aptos Narrow" panose="020B0004020202020204" pitchFamily="34" charset="0"/>
                      </a:endParaRPr>
                    </a:p>
                  </a:txBody>
                  <a:tcPr marL="6191" marR="6191" marT="6191" marB="0" anchor="ctr"/>
                </a:tc>
                <a:tc>
                  <a:txBody>
                    <a:bodyPr/>
                    <a:lstStyle/>
                    <a:p>
                      <a:pPr algn="ctr" fontAlgn="ctr">
                        <a:buNone/>
                      </a:pPr>
                      <a:r>
                        <a:rPr lang="en-GB" sz="900" u="none" strike="noStrike">
                          <a:effectLst/>
                        </a:rPr>
                        <a:t>Binomial distribution (exact probability)</a:t>
                      </a:r>
                      <a:endParaRPr lang="en-GB" sz="900" b="1" i="0" u="none" strike="noStrike">
                        <a:solidFill>
                          <a:srgbClr val="000000"/>
                        </a:solidFill>
                        <a:effectLst/>
                        <a:latin typeface="Aptos Narrow" panose="020B0004020202020204" pitchFamily="34" charset="0"/>
                      </a:endParaRPr>
                    </a:p>
                  </a:txBody>
                  <a:tcPr marL="6191" marR="6191" marT="6191" marB="0" anchor="ctr"/>
                </a:tc>
                <a:tc>
                  <a:txBody>
                    <a:bodyPr/>
                    <a:lstStyle/>
                    <a:p>
                      <a:pPr algn="ctr" fontAlgn="ctr">
                        <a:buNone/>
                      </a:pPr>
                      <a:r>
                        <a:rPr lang="en-GB" sz="900" u="none" strike="noStrike">
                          <a:effectLst/>
                        </a:rPr>
                        <a:t>Probability mass function (bar plot of binomial probabilities)</a:t>
                      </a:r>
                      <a:endParaRPr lang="en-GB" sz="900" b="0" i="0" u="none" strike="noStrike">
                        <a:solidFill>
                          <a:srgbClr val="000000"/>
                        </a:solidFill>
                        <a:effectLst/>
                        <a:latin typeface="Aptos Narrow" panose="020B0004020202020204" pitchFamily="34" charset="0"/>
                      </a:endParaRPr>
                    </a:p>
                  </a:txBody>
                  <a:tcPr marL="6191" marR="6191" marT="6191" marB="0" anchor="ctr"/>
                </a:tc>
                <a:extLst>
                  <a:ext uri="{0D108BD9-81ED-4DB2-BD59-A6C34878D82A}">
                    <a16:rowId xmlns:a16="http://schemas.microsoft.com/office/drawing/2014/main" val="917174436"/>
                  </a:ext>
                </a:extLst>
              </a:tr>
              <a:tr h="365215">
                <a:tc>
                  <a:txBody>
                    <a:bodyPr/>
                    <a:lstStyle/>
                    <a:p>
                      <a:pPr algn="ctr" fontAlgn="ctr">
                        <a:buNone/>
                      </a:pPr>
                      <a:r>
                        <a:rPr lang="en-GB" sz="900" b="1" u="none" strike="noStrike" dirty="0">
                          <a:effectLst/>
                        </a:rPr>
                        <a:t>10</a:t>
                      </a:r>
                      <a:endParaRPr lang="en-GB" sz="900" b="1" i="0" u="none" strike="noStrike" dirty="0">
                        <a:solidFill>
                          <a:srgbClr val="000000"/>
                        </a:solidFill>
                        <a:effectLst/>
                        <a:latin typeface="Aptos Narrow" panose="020B0004020202020204" pitchFamily="34" charset="0"/>
                      </a:endParaRPr>
                    </a:p>
                  </a:txBody>
                  <a:tcPr marL="6191" marR="6191" marT="6191" marB="0" anchor="ctr"/>
                </a:tc>
                <a:tc>
                  <a:txBody>
                    <a:bodyPr/>
                    <a:lstStyle/>
                    <a:p>
                      <a:pPr algn="ctr" fontAlgn="ctr">
                        <a:buNone/>
                      </a:pPr>
                      <a:r>
                        <a:rPr lang="en-GB" sz="900" u="none" strike="noStrike" dirty="0">
                          <a:effectLst/>
                        </a:rPr>
                        <a:t>Probability the bird eats insects OR fruit</a:t>
                      </a:r>
                      <a:endParaRPr lang="en-GB" sz="900" b="0" i="0" u="none" strike="noStrike" dirty="0">
                        <a:solidFill>
                          <a:srgbClr val="000000"/>
                        </a:solidFill>
                        <a:effectLst/>
                        <a:latin typeface="Aptos Narrow" panose="020B0004020202020204" pitchFamily="34" charset="0"/>
                      </a:endParaRPr>
                    </a:p>
                  </a:txBody>
                  <a:tcPr marL="6191" marR="6191" marT="6191" marB="0" anchor="ctr"/>
                </a:tc>
                <a:tc>
                  <a:txBody>
                    <a:bodyPr/>
                    <a:lstStyle/>
                    <a:p>
                      <a:pPr algn="ctr" fontAlgn="ctr">
                        <a:buNone/>
                      </a:pPr>
                      <a:r>
                        <a:rPr lang="en-GB" sz="900" u="none" strike="noStrike">
                          <a:effectLst/>
                        </a:rPr>
                        <a:t>Single event with multiple categories; categories are mutually exclusive (only one food type per feeding event)</a:t>
                      </a:r>
                      <a:endParaRPr lang="en-GB" sz="900" b="0" i="0" u="none" strike="noStrike">
                        <a:solidFill>
                          <a:srgbClr val="000000"/>
                        </a:solidFill>
                        <a:effectLst/>
                        <a:latin typeface="Aptos Narrow" panose="020B0004020202020204" pitchFamily="34" charset="0"/>
                      </a:endParaRPr>
                    </a:p>
                  </a:txBody>
                  <a:tcPr marL="6191" marR="6191" marT="6191" marB="0" anchor="ctr"/>
                </a:tc>
                <a:tc>
                  <a:txBody>
                    <a:bodyPr/>
                    <a:lstStyle/>
                    <a:p>
                      <a:pPr algn="ctr" fontAlgn="ctr">
                        <a:buNone/>
                      </a:pPr>
                      <a:r>
                        <a:rPr lang="en-GB" sz="900" u="none" strike="noStrike">
                          <a:effectLst/>
                        </a:rPr>
                        <a:t>Addition rule (for mutually exclusive events)</a:t>
                      </a:r>
                      <a:endParaRPr lang="en-GB" sz="900" b="1" i="0" u="none" strike="noStrike">
                        <a:solidFill>
                          <a:srgbClr val="000000"/>
                        </a:solidFill>
                        <a:effectLst/>
                        <a:latin typeface="Aptos Narrow" panose="020B0004020202020204" pitchFamily="34" charset="0"/>
                      </a:endParaRPr>
                    </a:p>
                  </a:txBody>
                  <a:tcPr marL="6191" marR="6191" marT="6191" marB="0" anchor="ctr"/>
                </a:tc>
                <a:tc>
                  <a:txBody>
                    <a:bodyPr/>
                    <a:lstStyle/>
                    <a:p>
                      <a:pPr algn="ctr" fontAlgn="ctr">
                        <a:buNone/>
                      </a:pPr>
                      <a:r>
                        <a:rPr lang="en-GB" sz="900" u="none" strike="noStrike">
                          <a:effectLst/>
                        </a:rPr>
                        <a:t>Bar chart or simple categorical diagram</a:t>
                      </a:r>
                      <a:endParaRPr lang="en-GB" sz="900" b="0" i="0" u="none" strike="noStrike">
                        <a:solidFill>
                          <a:srgbClr val="000000"/>
                        </a:solidFill>
                        <a:effectLst/>
                        <a:latin typeface="Aptos Narrow" panose="020B0004020202020204" pitchFamily="34" charset="0"/>
                      </a:endParaRPr>
                    </a:p>
                  </a:txBody>
                  <a:tcPr marL="6191" marR="6191" marT="6191" marB="0" anchor="ctr"/>
                </a:tc>
                <a:extLst>
                  <a:ext uri="{0D108BD9-81ED-4DB2-BD59-A6C34878D82A}">
                    <a16:rowId xmlns:a16="http://schemas.microsoft.com/office/drawing/2014/main" val="1574071506"/>
                  </a:ext>
                </a:extLst>
              </a:tr>
              <a:tr h="511301">
                <a:tc>
                  <a:txBody>
                    <a:bodyPr/>
                    <a:lstStyle/>
                    <a:p>
                      <a:pPr algn="ctr" fontAlgn="ctr">
                        <a:buNone/>
                      </a:pPr>
                      <a:r>
                        <a:rPr lang="en-GB" sz="900" b="1" u="none" strike="noStrike">
                          <a:effectLst/>
                        </a:rPr>
                        <a:t>11</a:t>
                      </a:r>
                      <a:endParaRPr lang="en-GB" sz="900" b="1" i="0" u="none" strike="noStrike">
                        <a:solidFill>
                          <a:srgbClr val="000000"/>
                        </a:solidFill>
                        <a:effectLst/>
                        <a:latin typeface="Aptos Narrow" panose="020B0004020202020204" pitchFamily="34" charset="0"/>
                      </a:endParaRPr>
                    </a:p>
                  </a:txBody>
                  <a:tcPr marL="6191" marR="6191" marT="6191" marB="0" anchor="ctr"/>
                </a:tc>
                <a:tc>
                  <a:txBody>
                    <a:bodyPr/>
                    <a:lstStyle/>
                    <a:p>
                      <a:pPr algn="ctr" fontAlgn="ctr">
                        <a:buNone/>
                      </a:pPr>
                      <a:r>
                        <a:rPr lang="en-GB" sz="900" u="none" strike="noStrike" dirty="0">
                          <a:effectLst/>
                        </a:rPr>
                        <a:t>Probability an infected individual was vaccinated (P(Vaccinated | Infected))</a:t>
                      </a:r>
                      <a:endParaRPr lang="en-GB" sz="900" b="0" i="0" u="none" strike="noStrike" dirty="0">
                        <a:solidFill>
                          <a:srgbClr val="000000"/>
                        </a:solidFill>
                        <a:effectLst/>
                        <a:latin typeface="Aptos Narrow" panose="020B0004020202020204" pitchFamily="34" charset="0"/>
                      </a:endParaRPr>
                    </a:p>
                  </a:txBody>
                  <a:tcPr marL="6191" marR="6191" marT="6191" marB="0" anchor="ctr"/>
                </a:tc>
                <a:tc>
                  <a:txBody>
                    <a:bodyPr/>
                    <a:lstStyle/>
                    <a:p>
                      <a:pPr algn="ctr" fontAlgn="ctr">
                        <a:buNone/>
                      </a:pPr>
                      <a:r>
                        <a:rPr lang="en-GB" sz="900" u="none" strike="noStrike">
                          <a:effectLst/>
                        </a:rPr>
                        <a:t>Two related events; not mutually exclusive; conditional relationship; requires reversing conditioning</a:t>
                      </a:r>
                      <a:endParaRPr lang="en-GB" sz="900" b="0" i="0" u="none" strike="noStrike">
                        <a:solidFill>
                          <a:srgbClr val="000000"/>
                        </a:solidFill>
                        <a:effectLst/>
                        <a:latin typeface="Aptos Narrow" panose="020B0004020202020204" pitchFamily="34" charset="0"/>
                      </a:endParaRPr>
                    </a:p>
                  </a:txBody>
                  <a:tcPr marL="6191" marR="6191" marT="6191" marB="0" anchor="ctr"/>
                </a:tc>
                <a:tc>
                  <a:txBody>
                    <a:bodyPr/>
                    <a:lstStyle/>
                    <a:p>
                      <a:pPr algn="ctr" fontAlgn="ctr">
                        <a:buNone/>
                      </a:pPr>
                      <a:r>
                        <a:rPr lang="en-GB" sz="900" u="none" strike="noStrike">
                          <a:effectLst/>
                        </a:rPr>
                        <a:t>Conditional probability (Probability tree / Bayes reasoning)</a:t>
                      </a:r>
                      <a:endParaRPr lang="en-GB" sz="900" b="1" i="0" u="none" strike="noStrike">
                        <a:solidFill>
                          <a:srgbClr val="000000"/>
                        </a:solidFill>
                        <a:effectLst/>
                        <a:latin typeface="Aptos Narrow" panose="020B0004020202020204" pitchFamily="34" charset="0"/>
                      </a:endParaRPr>
                    </a:p>
                  </a:txBody>
                  <a:tcPr marL="6191" marR="6191" marT="6191" marB="0" anchor="ctr"/>
                </a:tc>
                <a:tc>
                  <a:txBody>
                    <a:bodyPr/>
                    <a:lstStyle/>
                    <a:p>
                      <a:pPr algn="ctr" fontAlgn="ctr">
                        <a:buNone/>
                      </a:pPr>
                      <a:r>
                        <a:rPr lang="en-GB" sz="900" u="none" strike="noStrike">
                          <a:effectLst/>
                        </a:rPr>
                        <a:t>Probability tree diagram</a:t>
                      </a:r>
                      <a:endParaRPr lang="en-GB" sz="900" b="0" i="0" u="none" strike="noStrike">
                        <a:solidFill>
                          <a:srgbClr val="000000"/>
                        </a:solidFill>
                        <a:effectLst/>
                        <a:latin typeface="Aptos Narrow" panose="020B0004020202020204" pitchFamily="34" charset="0"/>
                      </a:endParaRPr>
                    </a:p>
                  </a:txBody>
                  <a:tcPr marL="6191" marR="6191" marT="6191" marB="0" anchor="ctr"/>
                </a:tc>
                <a:extLst>
                  <a:ext uri="{0D108BD9-81ED-4DB2-BD59-A6C34878D82A}">
                    <a16:rowId xmlns:a16="http://schemas.microsoft.com/office/drawing/2014/main" val="3458032298"/>
                  </a:ext>
                </a:extLst>
              </a:tr>
              <a:tr h="383476">
                <a:tc>
                  <a:txBody>
                    <a:bodyPr/>
                    <a:lstStyle/>
                    <a:p>
                      <a:pPr algn="ctr" fontAlgn="ctr">
                        <a:buNone/>
                      </a:pPr>
                      <a:r>
                        <a:rPr lang="en-GB" sz="900" b="1" u="none" strike="noStrike" dirty="0">
                          <a:effectLst/>
                        </a:rPr>
                        <a:t>12</a:t>
                      </a:r>
                      <a:endParaRPr lang="en-GB" sz="900" b="1" i="0" u="none" strike="noStrike" dirty="0">
                        <a:solidFill>
                          <a:srgbClr val="000000"/>
                        </a:solidFill>
                        <a:effectLst/>
                        <a:latin typeface="Aptos Narrow" panose="020B0004020202020204" pitchFamily="34" charset="0"/>
                      </a:endParaRPr>
                    </a:p>
                  </a:txBody>
                  <a:tcPr marL="6191" marR="6191" marT="6191" marB="0" anchor="ctr"/>
                </a:tc>
                <a:tc>
                  <a:txBody>
                    <a:bodyPr/>
                    <a:lstStyle/>
                    <a:p>
                      <a:pPr algn="ctr" fontAlgn="ctr">
                        <a:buNone/>
                      </a:pPr>
                      <a:r>
                        <a:rPr lang="en-GB" sz="900" u="none" strike="noStrike" dirty="0">
                          <a:effectLst/>
                        </a:rPr>
                        <a:t>Probability offspring has both dominant traits (A AND B)</a:t>
                      </a:r>
                      <a:endParaRPr lang="en-GB" sz="900" b="0" i="0" u="none" strike="noStrike" dirty="0">
                        <a:solidFill>
                          <a:srgbClr val="000000"/>
                        </a:solidFill>
                        <a:effectLst/>
                        <a:latin typeface="Aptos Narrow" panose="020B0004020202020204" pitchFamily="34" charset="0"/>
                      </a:endParaRPr>
                    </a:p>
                  </a:txBody>
                  <a:tcPr marL="6191" marR="6191" marT="6191" marB="0" anchor="ctr"/>
                </a:tc>
                <a:tc>
                  <a:txBody>
                    <a:bodyPr/>
                    <a:lstStyle/>
                    <a:p>
                      <a:pPr algn="ctr" fontAlgn="ctr">
                        <a:buNone/>
                      </a:pPr>
                      <a:r>
                        <a:rPr lang="en-GB" sz="900" u="none" strike="noStrike">
                          <a:effectLst/>
                        </a:rPr>
                        <a:t>Two separate events; events are independent; joint occurrence required</a:t>
                      </a:r>
                      <a:endParaRPr lang="en-GB" sz="900" b="0" i="0" u="none" strike="noStrike">
                        <a:solidFill>
                          <a:srgbClr val="000000"/>
                        </a:solidFill>
                        <a:effectLst/>
                        <a:latin typeface="Aptos Narrow" panose="020B0004020202020204" pitchFamily="34" charset="0"/>
                      </a:endParaRPr>
                    </a:p>
                  </a:txBody>
                  <a:tcPr marL="6191" marR="6191" marT="6191" marB="0" anchor="ctr"/>
                </a:tc>
                <a:tc>
                  <a:txBody>
                    <a:bodyPr/>
                    <a:lstStyle/>
                    <a:p>
                      <a:pPr algn="ctr" fontAlgn="ctr">
                        <a:buNone/>
                      </a:pPr>
                      <a:r>
                        <a:rPr lang="en-GB" sz="900" u="none" strike="noStrike">
                          <a:effectLst/>
                        </a:rPr>
                        <a:t>Multiplication rule (independent events)</a:t>
                      </a:r>
                      <a:endParaRPr lang="en-GB" sz="900" b="1" i="0" u="none" strike="noStrike">
                        <a:solidFill>
                          <a:srgbClr val="000000"/>
                        </a:solidFill>
                        <a:effectLst/>
                        <a:latin typeface="Aptos Narrow" panose="020B0004020202020204" pitchFamily="34" charset="0"/>
                      </a:endParaRPr>
                    </a:p>
                  </a:txBody>
                  <a:tcPr marL="6191" marR="6191" marT="6191" marB="0" anchor="ctr"/>
                </a:tc>
                <a:tc>
                  <a:txBody>
                    <a:bodyPr/>
                    <a:lstStyle/>
                    <a:p>
                      <a:pPr algn="ctr" fontAlgn="ctr">
                        <a:buNone/>
                      </a:pPr>
                      <a:r>
                        <a:rPr lang="en-GB" sz="900" u="none" strike="noStrike" dirty="0">
                          <a:effectLst/>
                        </a:rPr>
                        <a:t>Tree diagram showing branches multiplied</a:t>
                      </a:r>
                      <a:endParaRPr lang="en-GB" sz="900" b="0" i="0" u="none" strike="noStrike" dirty="0">
                        <a:solidFill>
                          <a:srgbClr val="000000"/>
                        </a:solidFill>
                        <a:effectLst/>
                        <a:latin typeface="Aptos Narrow" panose="020B0004020202020204" pitchFamily="34" charset="0"/>
                      </a:endParaRPr>
                    </a:p>
                  </a:txBody>
                  <a:tcPr marL="6191" marR="6191" marT="6191" marB="0" anchor="ctr"/>
                </a:tc>
                <a:extLst>
                  <a:ext uri="{0D108BD9-81ED-4DB2-BD59-A6C34878D82A}">
                    <a16:rowId xmlns:a16="http://schemas.microsoft.com/office/drawing/2014/main" val="3637518958"/>
                  </a:ext>
                </a:extLst>
              </a:tr>
            </a:tbl>
          </a:graphicData>
        </a:graphic>
      </p:graphicFrame>
      <p:graphicFrame>
        <p:nvGraphicFramePr>
          <p:cNvPr id="3" name="Table 2">
            <a:extLst>
              <a:ext uri="{FF2B5EF4-FFF2-40B4-BE49-F238E27FC236}">
                <a16:creationId xmlns:a16="http://schemas.microsoft.com/office/drawing/2014/main" id="{DC849640-E958-B56A-E0A8-EAA631E5A810}"/>
              </a:ext>
            </a:extLst>
          </p:cNvPr>
          <p:cNvGraphicFramePr>
            <a:graphicFrameLocks noGrp="1"/>
          </p:cNvGraphicFramePr>
          <p:nvPr/>
        </p:nvGraphicFramePr>
        <p:xfrm>
          <a:off x="117929" y="760040"/>
          <a:ext cx="9670142" cy="2829320"/>
        </p:xfrm>
        <a:graphic>
          <a:graphicData uri="http://schemas.openxmlformats.org/drawingml/2006/table">
            <a:tbl>
              <a:tblPr firstRow="1" firstCol="1">
                <a:tableStyleId>{7DF18680-E054-41AD-8BC1-D1AEF772440D}</a:tableStyleId>
              </a:tblPr>
              <a:tblGrid>
                <a:gridCol w="347030">
                  <a:extLst>
                    <a:ext uri="{9D8B030D-6E8A-4147-A177-3AD203B41FA5}">
                      <a16:colId xmlns:a16="http://schemas.microsoft.com/office/drawing/2014/main" val="728550561"/>
                    </a:ext>
                  </a:extLst>
                </a:gridCol>
                <a:gridCol w="2309089">
                  <a:extLst>
                    <a:ext uri="{9D8B030D-6E8A-4147-A177-3AD203B41FA5}">
                      <a16:colId xmlns:a16="http://schemas.microsoft.com/office/drawing/2014/main" val="3622069899"/>
                    </a:ext>
                  </a:extLst>
                </a:gridCol>
                <a:gridCol w="3190012">
                  <a:extLst>
                    <a:ext uri="{9D8B030D-6E8A-4147-A177-3AD203B41FA5}">
                      <a16:colId xmlns:a16="http://schemas.microsoft.com/office/drawing/2014/main" val="3830025147"/>
                    </a:ext>
                  </a:extLst>
                </a:gridCol>
                <a:gridCol w="1267996">
                  <a:extLst>
                    <a:ext uri="{9D8B030D-6E8A-4147-A177-3AD203B41FA5}">
                      <a16:colId xmlns:a16="http://schemas.microsoft.com/office/drawing/2014/main" val="3646089787"/>
                    </a:ext>
                  </a:extLst>
                </a:gridCol>
                <a:gridCol w="1353144">
                  <a:extLst>
                    <a:ext uri="{9D8B030D-6E8A-4147-A177-3AD203B41FA5}">
                      <a16:colId xmlns:a16="http://schemas.microsoft.com/office/drawing/2014/main" val="16181459"/>
                    </a:ext>
                  </a:extLst>
                </a:gridCol>
                <a:gridCol w="1202871">
                  <a:extLst>
                    <a:ext uri="{9D8B030D-6E8A-4147-A177-3AD203B41FA5}">
                      <a16:colId xmlns:a16="http://schemas.microsoft.com/office/drawing/2014/main" val="2219024753"/>
                    </a:ext>
                  </a:extLst>
                </a:gridCol>
              </a:tblGrid>
              <a:tr h="365998">
                <a:tc>
                  <a:txBody>
                    <a:bodyPr/>
                    <a:lstStyle/>
                    <a:p>
                      <a:pPr algn="ctr" fontAlgn="ctr">
                        <a:buNone/>
                      </a:pPr>
                      <a:r>
                        <a:rPr lang="en-GB" sz="900" b="1" u="none" strike="noStrike" dirty="0">
                          <a:effectLst/>
                        </a:rPr>
                        <a:t>Case</a:t>
                      </a:r>
                      <a:endParaRPr lang="en-GB" sz="900" b="1" i="0" u="none" strike="noStrike" dirty="0">
                        <a:solidFill>
                          <a:srgbClr val="000000"/>
                        </a:solidFill>
                        <a:effectLst/>
                        <a:latin typeface="Aptos Narrow" panose="020B0004020202020204" pitchFamily="34" charset="0"/>
                      </a:endParaRPr>
                    </a:p>
                  </a:txBody>
                  <a:tcPr marL="5773" marR="5773" marT="5773" marB="0" anchor="ctr"/>
                </a:tc>
                <a:tc>
                  <a:txBody>
                    <a:bodyPr/>
                    <a:lstStyle/>
                    <a:p>
                      <a:pPr algn="ctr" fontAlgn="ctr">
                        <a:buNone/>
                      </a:pPr>
                      <a:r>
                        <a:rPr lang="en-GB" sz="900" b="1" u="none" strike="noStrike" dirty="0">
                          <a:effectLst/>
                        </a:rPr>
                        <a:t>Research question</a:t>
                      </a:r>
                      <a:endParaRPr lang="en-GB" sz="900" b="1" i="0" u="none" strike="noStrike" dirty="0">
                        <a:solidFill>
                          <a:srgbClr val="000000"/>
                        </a:solidFill>
                        <a:effectLst/>
                        <a:latin typeface="Aptos Narrow" panose="020B0004020202020204" pitchFamily="34" charset="0"/>
                      </a:endParaRPr>
                    </a:p>
                  </a:txBody>
                  <a:tcPr marL="5773" marR="5773" marT="5773" marB="0" anchor="ctr"/>
                </a:tc>
                <a:tc>
                  <a:txBody>
                    <a:bodyPr/>
                    <a:lstStyle/>
                    <a:p>
                      <a:pPr algn="ctr" fontAlgn="ctr">
                        <a:buNone/>
                      </a:pPr>
                      <a:r>
                        <a:rPr lang="en-GB" sz="900" b="1" u="none" strike="noStrike" dirty="0">
                          <a:effectLst/>
                        </a:rPr>
                        <a:t>Data structure (One variable / Two variables; Numerical or Categorical; Independent or Paired; # Groups)</a:t>
                      </a:r>
                      <a:endParaRPr lang="en-GB" sz="900" b="1" i="0" u="none" strike="noStrike" dirty="0">
                        <a:solidFill>
                          <a:srgbClr val="000000"/>
                        </a:solidFill>
                        <a:effectLst/>
                        <a:latin typeface="Aptos Narrow" panose="020B0004020202020204" pitchFamily="34" charset="0"/>
                      </a:endParaRPr>
                    </a:p>
                  </a:txBody>
                  <a:tcPr marL="5773" marR="5773" marT="5773" marB="0" anchor="ctr"/>
                </a:tc>
                <a:tc>
                  <a:txBody>
                    <a:bodyPr/>
                    <a:lstStyle/>
                    <a:p>
                      <a:pPr algn="ctr" fontAlgn="ctr">
                        <a:buNone/>
                      </a:pPr>
                      <a:r>
                        <a:rPr lang="en-GB" sz="900" b="1" u="none" strike="noStrike" dirty="0">
                          <a:effectLst/>
                        </a:rPr>
                        <a:t>Key assumption</a:t>
                      </a:r>
                      <a:endParaRPr lang="en-GB" sz="900" b="1" i="0" u="none" strike="noStrike" dirty="0">
                        <a:solidFill>
                          <a:srgbClr val="000000"/>
                        </a:solidFill>
                        <a:effectLst/>
                        <a:latin typeface="Aptos Narrow" panose="020B0004020202020204" pitchFamily="34" charset="0"/>
                      </a:endParaRPr>
                    </a:p>
                  </a:txBody>
                  <a:tcPr marL="5773" marR="5773" marT="5773" marB="0" anchor="ctr"/>
                </a:tc>
                <a:tc>
                  <a:txBody>
                    <a:bodyPr/>
                    <a:lstStyle/>
                    <a:p>
                      <a:pPr algn="ctr" fontAlgn="ctr">
                        <a:buNone/>
                      </a:pPr>
                      <a:r>
                        <a:rPr lang="en-GB" sz="900" b="1" u="none" strike="noStrike" dirty="0">
                          <a:effectLst/>
                        </a:rPr>
                        <a:t>Statistical method</a:t>
                      </a:r>
                      <a:endParaRPr lang="en-GB" sz="900" b="1" i="0" u="none" strike="noStrike" dirty="0">
                        <a:solidFill>
                          <a:srgbClr val="000000"/>
                        </a:solidFill>
                        <a:effectLst/>
                        <a:latin typeface="Aptos Narrow" panose="020B0004020202020204" pitchFamily="34" charset="0"/>
                      </a:endParaRPr>
                    </a:p>
                  </a:txBody>
                  <a:tcPr marL="5773" marR="5773" marT="5773" marB="0" anchor="ctr"/>
                </a:tc>
                <a:tc>
                  <a:txBody>
                    <a:bodyPr/>
                    <a:lstStyle/>
                    <a:p>
                      <a:pPr algn="ctr" fontAlgn="ctr">
                        <a:buNone/>
                      </a:pPr>
                      <a:r>
                        <a:rPr lang="en-GB" sz="900" b="1" u="none" strike="noStrike" dirty="0">
                          <a:effectLst/>
                        </a:rPr>
                        <a:t>Visualisation</a:t>
                      </a:r>
                      <a:endParaRPr lang="en-GB" sz="900" b="1" i="0" u="none" strike="noStrike" dirty="0">
                        <a:solidFill>
                          <a:srgbClr val="000000"/>
                        </a:solidFill>
                        <a:effectLst/>
                        <a:latin typeface="Aptos Narrow" panose="020B0004020202020204" pitchFamily="34" charset="0"/>
                      </a:endParaRPr>
                    </a:p>
                  </a:txBody>
                  <a:tcPr marL="5773" marR="5773" marT="5773" marB="0" anchor="ctr"/>
                </a:tc>
                <a:extLst>
                  <a:ext uri="{0D108BD9-81ED-4DB2-BD59-A6C34878D82A}">
                    <a16:rowId xmlns:a16="http://schemas.microsoft.com/office/drawing/2014/main" val="2627361539"/>
                  </a:ext>
                </a:extLst>
              </a:tr>
              <a:tr h="244956">
                <a:tc>
                  <a:txBody>
                    <a:bodyPr/>
                    <a:lstStyle/>
                    <a:p>
                      <a:pPr algn="ctr" fontAlgn="ctr">
                        <a:buNone/>
                      </a:pPr>
                      <a:r>
                        <a:rPr lang="en-GB" sz="900" b="1" u="none" strike="noStrike" dirty="0">
                          <a:effectLst/>
                        </a:rPr>
                        <a:t>1</a:t>
                      </a:r>
                      <a:endParaRPr lang="en-GB" sz="900" b="1" i="0" u="none" strike="noStrike" dirty="0">
                        <a:solidFill>
                          <a:srgbClr val="000000"/>
                        </a:solidFill>
                        <a:effectLst/>
                        <a:latin typeface="Aptos Narrow" panose="020B0004020202020204" pitchFamily="34" charset="0"/>
                      </a:endParaRPr>
                    </a:p>
                  </a:txBody>
                  <a:tcPr marL="5773" marR="5773" marT="5773" marB="0" anchor="ctr"/>
                </a:tc>
                <a:tc>
                  <a:txBody>
                    <a:bodyPr/>
                    <a:lstStyle/>
                    <a:p>
                      <a:pPr algn="ctr" fontAlgn="ctr">
                        <a:buNone/>
                      </a:pPr>
                      <a:r>
                        <a:rPr lang="en-GB" sz="900" u="none" strike="noStrike">
                          <a:effectLst/>
                        </a:rPr>
                        <a:t>Is mean mass different from 10 g?</a:t>
                      </a:r>
                      <a:endParaRPr lang="en-GB" sz="900" b="0" i="0" u="none" strike="noStrike">
                        <a:solidFill>
                          <a:srgbClr val="000000"/>
                        </a:solidFill>
                        <a:effectLst/>
                        <a:latin typeface="Aptos Narrow" panose="020B0004020202020204" pitchFamily="34" charset="0"/>
                      </a:endParaRPr>
                    </a:p>
                  </a:txBody>
                  <a:tcPr marL="5773" marR="5773" marT="5773" marB="0" anchor="ctr"/>
                </a:tc>
                <a:tc>
                  <a:txBody>
                    <a:bodyPr/>
                    <a:lstStyle/>
                    <a:p>
                      <a:pPr algn="ctr" fontAlgn="ctr">
                        <a:buNone/>
                      </a:pPr>
                      <a:r>
                        <a:rPr lang="en-GB" sz="900" u="none" strike="noStrike">
                          <a:effectLst/>
                        </a:rPr>
                        <a:t>One variable; Numerical; One sample</a:t>
                      </a:r>
                      <a:endParaRPr lang="en-GB" sz="900" b="0" i="0" u="none" strike="noStrike">
                        <a:solidFill>
                          <a:srgbClr val="000000"/>
                        </a:solidFill>
                        <a:effectLst/>
                        <a:latin typeface="Aptos Narrow" panose="020B0004020202020204" pitchFamily="34" charset="0"/>
                      </a:endParaRPr>
                    </a:p>
                  </a:txBody>
                  <a:tcPr marL="5773" marR="5773" marT="5773" marB="0" anchor="ctr"/>
                </a:tc>
                <a:tc>
                  <a:txBody>
                    <a:bodyPr/>
                    <a:lstStyle/>
                    <a:p>
                      <a:pPr algn="ctr" fontAlgn="ctr">
                        <a:buNone/>
                      </a:pPr>
                      <a:r>
                        <a:rPr lang="en-GB" sz="900" u="none" strike="noStrike">
                          <a:effectLst/>
                        </a:rPr>
                        <a:t>Approx. normal</a:t>
                      </a:r>
                      <a:endParaRPr lang="en-GB" sz="900" b="0" i="0" u="none" strike="noStrike">
                        <a:solidFill>
                          <a:srgbClr val="000000"/>
                        </a:solidFill>
                        <a:effectLst/>
                        <a:latin typeface="Aptos Narrow" panose="020B0004020202020204" pitchFamily="34" charset="0"/>
                      </a:endParaRPr>
                    </a:p>
                  </a:txBody>
                  <a:tcPr marL="5773" marR="5773" marT="5773" marB="0" anchor="ctr"/>
                </a:tc>
                <a:tc>
                  <a:txBody>
                    <a:bodyPr/>
                    <a:lstStyle/>
                    <a:p>
                      <a:pPr algn="ctr" fontAlgn="ctr">
                        <a:buNone/>
                      </a:pPr>
                      <a:r>
                        <a:rPr lang="en-GB" sz="900" u="none" strike="noStrike">
                          <a:effectLst/>
                        </a:rPr>
                        <a:t>One-sample t-test</a:t>
                      </a:r>
                      <a:endParaRPr lang="en-GB" sz="900" b="0" i="0" u="none" strike="noStrike">
                        <a:solidFill>
                          <a:srgbClr val="000000"/>
                        </a:solidFill>
                        <a:effectLst/>
                        <a:latin typeface="Aptos Narrow" panose="020B0004020202020204" pitchFamily="34" charset="0"/>
                      </a:endParaRPr>
                    </a:p>
                  </a:txBody>
                  <a:tcPr marL="5773" marR="5773" marT="5773" marB="0" anchor="ctr"/>
                </a:tc>
                <a:tc>
                  <a:txBody>
                    <a:bodyPr/>
                    <a:lstStyle/>
                    <a:p>
                      <a:pPr algn="ctr" fontAlgn="ctr">
                        <a:buNone/>
                      </a:pPr>
                      <a:r>
                        <a:rPr lang="en-GB" sz="900" u="none" strike="noStrike">
                          <a:effectLst/>
                        </a:rPr>
                        <a:t>Histogram + mean &amp; CI</a:t>
                      </a:r>
                      <a:endParaRPr lang="en-GB" sz="900" b="0" i="0" u="none" strike="noStrike">
                        <a:solidFill>
                          <a:srgbClr val="000000"/>
                        </a:solidFill>
                        <a:effectLst/>
                        <a:latin typeface="Aptos Narrow" panose="020B0004020202020204" pitchFamily="34" charset="0"/>
                      </a:endParaRPr>
                    </a:p>
                  </a:txBody>
                  <a:tcPr marL="5773" marR="5773" marT="5773" marB="0" anchor="ctr"/>
                </a:tc>
                <a:extLst>
                  <a:ext uri="{0D108BD9-81ED-4DB2-BD59-A6C34878D82A}">
                    <a16:rowId xmlns:a16="http://schemas.microsoft.com/office/drawing/2014/main" val="1693181553"/>
                  </a:ext>
                </a:extLst>
              </a:tr>
              <a:tr h="278188">
                <a:tc>
                  <a:txBody>
                    <a:bodyPr/>
                    <a:lstStyle/>
                    <a:p>
                      <a:pPr algn="ctr" fontAlgn="ctr">
                        <a:buNone/>
                      </a:pPr>
                      <a:r>
                        <a:rPr lang="en-GB" sz="900" b="1" u="none" strike="noStrike">
                          <a:effectLst/>
                        </a:rPr>
                        <a:t>2</a:t>
                      </a:r>
                      <a:endParaRPr lang="en-GB" sz="900" b="1" i="0" u="none" strike="noStrike">
                        <a:solidFill>
                          <a:srgbClr val="000000"/>
                        </a:solidFill>
                        <a:effectLst/>
                        <a:latin typeface="Aptos Narrow" panose="020B0004020202020204" pitchFamily="34" charset="0"/>
                      </a:endParaRPr>
                    </a:p>
                  </a:txBody>
                  <a:tcPr marL="5773" marR="5773" marT="5773" marB="0" anchor="ctr"/>
                </a:tc>
                <a:tc>
                  <a:txBody>
                    <a:bodyPr/>
                    <a:lstStyle/>
                    <a:p>
                      <a:pPr algn="ctr" fontAlgn="ctr">
                        <a:buNone/>
                      </a:pPr>
                      <a:r>
                        <a:rPr lang="en-GB" sz="900" u="none" strike="noStrike">
                          <a:effectLst/>
                        </a:rPr>
                        <a:t>Is germination rate different from 50%?</a:t>
                      </a:r>
                      <a:endParaRPr lang="en-GB" sz="900" b="0" i="0" u="none" strike="noStrike">
                        <a:solidFill>
                          <a:srgbClr val="000000"/>
                        </a:solidFill>
                        <a:effectLst/>
                        <a:latin typeface="Aptos Narrow" panose="020B0004020202020204" pitchFamily="34" charset="0"/>
                      </a:endParaRPr>
                    </a:p>
                  </a:txBody>
                  <a:tcPr marL="5773" marR="5773" marT="5773" marB="0" anchor="ctr"/>
                </a:tc>
                <a:tc>
                  <a:txBody>
                    <a:bodyPr/>
                    <a:lstStyle/>
                    <a:p>
                      <a:pPr algn="ctr" fontAlgn="ctr">
                        <a:buNone/>
                      </a:pPr>
                      <a:r>
                        <a:rPr lang="en-GB" sz="900" u="none" strike="noStrike" dirty="0">
                          <a:effectLst/>
                        </a:rPr>
                        <a:t>One variable; Categorical (success/failure); One sample</a:t>
                      </a:r>
                      <a:endParaRPr lang="en-GB" sz="900" b="0" i="0" u="none" strike="noStrike" dirty="0">
                        <a:solidFill>
                          <a:srgbClr val="000000"/>
                        </a:solidFill>
                        <a:effectLst/>
                        <a:latin typeface="Aptos Narrow" panose="020B0004020202020204" pitchFamily="34" charset="0"/>
                      </a:endParaRPr>
                    </a:p>
                  </a:txBody>
                  <a:tcPr marL="5773" marR="5773" marT="5773" marB="0" anchor="ctr"/>
                </a:tc>
                <a:tc>
                  <a:txBody>
                    <a:bodyPr/>
                    <a:lstStyle/>
                    <a:p>
                      <a:pPr algn="ctr" fontAlgn="ctr">
                        <a:buNone/>
                      </a:pPr>
                      <a:r>
                        <a:rPr lang="en-GB" sz="900" u="none" strike="noStrike">
                          <a:effectLst/>
                        </a:rPr>
                        <a:t>Independent trials; binomial setting</a:t>
                      </a:r>
                      <a:endParaRPr lang="en-GB" sz="900" b="0" i="0" u="none" strike="noStrike">
                        <a:solidFill>
                          <a:srgbClr val="000000"/>
                        </a:solidFill>
                        <a:effectLst/>
                        <a:latin typeface="Aptos Narrow" panose="020B0004020202020204" pitchFamily="34" charset="0"/>
                      </a:endParaRPr>
                    </a:p>
                  </a:txBody>
                  <a:tcPr marL="5773" marR="5773" marT="5773" marB="0" anchor="ctr"/>
                </a:tc>
                <a:tc>
                  <a:txBody>
                    <a:bodyPr/>
                    <a:lstStyle/>
                    <a:p>
                      <a:pPr algn="ctr" fontAlgn="ctr">
                        <a:buNone/>
                      </a:pPr>
                      <a:r>
                        <a:rPr lang="en-GB" sz="900" u="none" strike="noStrike">
                          <a:effectLst/>
                        </a:rPr>
                        <a:t>Binomial test</a:t>
                      </a:r>
                      <a:endParaRPr lang="en-GB" sz="900" b="0" i="0" u="none" strike="noStrike">
                        <a:solidFill>
                          <a:srgbClr val="000000"/>
                        </a:solidFill>
                        <a:effectLst/>
                        <a:latin typeface="Aptos Narrow" panose="020B0004020202020204" pitchFamily="34" charset="0"/>
                      </a:endParaRPr>
                    </a:p>
                  </a:txBody>
                  <a:tcPr marL="5773" marR="5773" marT="5773" marB="0" anchor="ctr"/>
                </a:tc>
                <a:tc>
                  <a:txBody>
                    <a:bodyPr/>
                    <a:lstStyle/>
                    <a:p>
                      <a:pPr algn="ctr" fontAlgn="ctr">
                        <a:buNone/>
                      </a:pPr>
                      <a:r>
                        <a:rPr lang="en-GB" sz="900" u="none" strike="noStrike">
                          <a:effectLst/>
                        </a:rPr>
                        <a:t>Bar plot (proportion)</a:t>
                      </a:r>
                      <a:endParaRPr lang="en-GB" sz="900" b="0" i="0" u="none" strike="noStrike">
                        <a:solidFill>
                          <a:srgbClr val="000000"/>
                        </a:solidFill>
                        <a:effectLst/>
                        <a:latin typeface="Aptos Narrow" panose="020B0004020202020204" pitchFamily="34" charset="0"/>
                      </a:endParaRPr>
                    </a:p>
                  </a:txBody>
                  <a:tcPr marL="5773" marR="5773" marT="5773" marB="0" anchor="ctr"/>
                </a:tc>
                <a:extLst>
                  <a:ext uri="{0D108BD9-81ED-4DB2-BD59-A6C34878D82A}">
                    <a16:rowId xmlns:a16="http://schemas.microsoft.com/office/drawing/2014/main" val="3398200442"/>
                  </a:ext>
                </a:extLst>
              </a:tr>
              <a:tr h="278188">
                <a:tc>
                  <a:txBody>
                    <a:bodyPr/>
                    <a:lstStyle/>
                    <a:p>
                      <a:pPr algn="ctr" fontAlgn="ctr">
                        <a:buNone/>
                      </a:pPr>
                      <a:r>
                        <a:rPr lang="en-GB" sz="900" b="1" u="none" strike="noStrike">
                          <a:effectLst/>
                        </a:rPr>
                        <a:t>3</a:t>
                      </a:r>
                      <a:endParaRPr lang="en-GB" sz="900" b="1" i="0" u="none" strike="noStrike">
                        <a:solidFill>
                          <a:srgbClr val="000000"/>
                        </a:solidFill>
                        <a:effectLst/>
                        <a:latin typeface="Aptos Narrow" panose="020B0004020202020204" pitchFamily="34" charset="0"/>
                      </a:endParaRPr>
                    </a:p>
                  </a:txBody>
                  <a:tcPr marL="5773" marR="5773" marT="5773" marB="0" anchor="ctr"/>
                </a:tc>
                <a:tc>
                  <a:txBody>
                    <a:bodyPr/>
                    <a:lstStyle/>
                    <a:p>
                      <a:pPr algn="ctr" fontAlgn="ctr">
                        <a:buNone/>
                      </a:pPr>
                      <a:r>
                        <a:rPr lang="en-GB" sz="900" u="none" strike="noStrike">
                          <a:effectLst/>
                        </a:rPr>
                        <a:t>Do parasite counts follow a Poisson distribution?</a:t>
                      </a:r>
                      <a:endParaRPr lang="en-GB" sz="900" b="0" i="0" u="none" strike="noStrike">
                        <a:solidFill>
                          <a:srgbClr val="000000"/>
                        </a:solidFill>
                        <a:effectLst/>
                        <a:latin typeface="Aptos Narrow" panose="020B0004020202020204" pitchFamily="34" charset="0"/>
                      </a:endParaRPr>
                    </a:p>
                  </a:txBody>
                  <a:tcPr marL="5773" marR="5773" marT="5773" marB="0" anchor="ctr"/>
                </a:tc>
                <a:tc>
                  <a:txBody>
                    <a:bodyPr/>
                    <a:lstStyle/>
                    <a:p>
                      <a:pPr algn="ctr" fontAlgn="ctr">
                        <a:buNone/>
                      </a:pPr>
                      <a:r>
                        <a:rPr lang="en-GB" sz="900" u="none" strike="noStrike" dirty="0">
                          <a:effectLst/>
                        </a:rPr>
                        <a:t>One variable; Categorical (counts in categories)</a:t>
                      </a:r>
                      <a:endParaRPr lang="en-GB" sz="900" b="0" i="0" u="none" strike="noStrike" dirty="0">
                        <a:solidFill>
                          <a:srgbClr val="000000"/>
                        </a:solidFill>
                        <a:effectLst/>
                        <a:latin typeface="Aptos Narrow" panose="020B0004020202020204" pitchFamily="34" charset="0"/>
                      </a:endParaRPr>
                    </a:p>
                  </a:txBody>
                  <a:tcPr marL="5773" marR="5773" marT="5773" marB="0" anchor="ctr"/>
                </a:tc>
                <a:tc>
                  <a:txBody>
                    <a:bodyPr/>
                    <a:lstStyle/>
                    <a:p>
                      <a:pPr algn="ctr" fontAlgn="ctr">
                        <a:buNone/>
                      </a:pPr>
                      <a:r>
                        <a:rPr lang="en-GB" sz="900" u="none" strike="noStrike">
                          <a:effectLst/>
                        </a:rPr>
                        <a:t>Expected frequencies adequate</a:t>
                      </a:r>
                      <a:endParaRPr lang="en-GB" sz="900" b="0" i="0" u="none" strike="noStrike">
                        <a:solidFill>
                          <a:srgbClr val="000000"/>
                        </a:solidFill>
                        <a:effectLst/>
                        <a:latin typeface="Aptos Narrow" panose="020B0004020202020204" pitchFamily="34" charset="0"/>
                      </a:endParaRPr>
                    </a:p>
                  </a:txBody>
                  <a:tcPr marL="5773" marR="5773" marT="5773" marB="0" anchor="ctr"/>
                </a:tc>
                <a:tc>
                  <a:txBody>
                    <a:bodyPr/>
                    <a:lstStyle/>
                    <a:p>
                      <a:pPr algn="ctr" fontAlgn="ctr">
                        <a:buNone/>
                      </a:pPr>
                      <a:r>
                        <a:rPr lang="en-GB" sz="900" u="none" strike="noStrike">
                          <a:effectLst/>
                        </a:rPr>
                        <a:t>Chi-square goodness-of-fit</a:t>
                      </a:r>
                      <a:endParaRPr lang="en-GB" sz="900" b="0" i="0" u="none" strike="noStrike">
                        <a:solidFill>
                          <a:srgbClr val="000000"/>
                        </a:solidFill>
                        <a:effectLst/>
                        <a:latin typeface="Aptos Narrow" panose="020B0004020202020204" pitchFamily="34" charset="0"/>
                      </a:endParaRPr>
                    </a:p>
                  </a:txBody>
                  <a:tcPr marL="5773" marR="5773" marT="5773" marB="0" anchor="ctr"/>
                </a:tc>
                <a:tc>
                  <a:txBody>
                    <a:bodyPr/>
                    <a:lstStyle/>
                    <a:p>
                      <a:pPr algn="ctr" fontAlgn="ctr">
                        <a:buNone/>
                      </a:pPr>
                      <a:r>
                        <a:rPr lang="en-GB" sz="900" u="none" strike="noStrike">
                          <a:effectLst/>
                        </a:rPr>
                        <a:t>Observed vs expected bar plot</a:t>
                      </a:r>
                      <a:endParaRPr lang="en-GB" sz="900" b="0" i="0" u="none" strike="noStrike">
                        <a:solidFill>
                          <a:srgbClr val="000000"/>
                        </a:solidFill>
                        <a:effectLst/>
                        <a:latin typeface="Aptos Narrow" panose="020B0004020202020204" pitchFamily="34" charset="0"/>
                      </a:endParaRPr>
                    </a:p>
                  </a:txBody>
                  <a:tcPr marL="5773" marR="5773" marT="5773" marB="0" anchor="ctr"/>
                </a:tc>
                <a:extLst>
                  <a:ext uri="{0D108BD9-81ED-4DB2-BD59-A6C34878D82A}">
                    <a16:rowId xmlns:a16="http://schemas.microsoft.com/office/drawing/2014/main" val="1463565979"/>
                  </a:ext>
                </a:extLst>
              </a:tr>
              <a:tr h="365998">
                <a:tc>
                  <a:txBody>
                    <a:bodyPr/>
                    <a:lstStyle/>
                    <a:p>
                      <a:pPr algn="ctr" fontAlgn="ctr">
                        <a:buNone/>
                      </a:pPr>
                      <a:r>
                        <a:rPr lang="en-GB" sz="900" b="1" u="none" strike="noStrike" dirty="0">
                          <a:effectLst/>
                        </a:rPr>
                        <a:t>4</a:t>
                      </a:r>
                      <a:endParaRPr lang="en-GB" sz="900" b="1" i="0" u="none" strike="noStrike" dirty="0">
                        <a:solidFill>
                          <a:srgbClr val="000000"/>
                        </a:solidFill>
                        <a:effectLst/>
                        <a:latin typeface="Aptos Narrow" panose="020B0004020202020204" pitchFamily="34" charset="0"/>
                      </a:endParaRPr>
                    </a:p>
                  </a:txBody>
                  <a:tcPr marL="5773" marR="5773" marT="5773" marB="0" anchor="ctr"/>
                </a:tc>
                <a:tc>
                  <a:txBody>
                    <a:bodyPr/>
                    <a:lstStyle/>
                    <a:p>
                      <a:pPr algn="ctr" fontAlgn="ctr">
                        <a:buNone/>
                      </a:pPr>
                      <a:r>
                        <a:rPr lang="en-GB" sz="900" u="none" strike="noStrike">
                          <a:effectLst/>
                        </a:rPr>
                        <a:t>Do treatments differ in mean height?</a:t>
                      </a:r>
                      <a:endParaRPr lang="en-GB" sz="900" b="0" i="0" u="none" strike="noStrike">
                        <a:solidFill>
                          <a:srgbClr val="000000"/>
                        </a:solidFill>
                        <a:effectLst/>
                        <a:latin typeface="Aptos Narrow" panose="020B0004020202020204" pitchFamily="34" charset="0"/>
                      </a:endParaRPr>
                    </a:p>
                  </a:txBody>
                  <a:tcPr marL="5773" marR="5773" marT="5773" marB="0" anchor="ctr"/>
                </a:tc>
                <a:tc>
                  <a:txBody>
                    <a:bodyPr/>
                    <a:lstStyle/>
                    <a:p>
                      <a:pPr algn="ctr" fontAlgn="ctr">
                        <a:buNone/>
                      </a:pPr>
                      <a:r>
                        <a:rPr lang="en-GB" sz="900" u="none" strike="noStrike">
                          <a:effectLst/>
                        </a:rPr>
                        <a:t>Two variables; Numerical response; Categorical explanatory (2 groups); Independent</a:t>
                      </a:r>
                      <a:endParaRPr lang="en-GB" sz="900" b="0" i="0" u="none" strike="noStrike">
                        <a:solidFill>
                          <a:srgbClr val="000000"/>
                        </a:solidFill>
                        <a:effectLst/>
                        <a:latin typeface="Aptos Narrow" panose="020B0004020202020204" pitchFamily="34" charset="0"/>
                      </a:endParaRPr>
                    </a:p>
                  </a:txBody>
                  <a:tcPr marL="5773" marR="5773" marT="5773" marB="0" anchor="ctr"/>
                </a:tc>
                <a:tc>
                  <a:txBody>
                    <a:bodyPr/>
                    <a:lstStyle/>
                    <a:p>
                      <a:pPr algn="ctr" fontAlgn="ctr">
                        <a:buNone/>
                      </a:pPr>
                      <a:r>
                        <a:rPr lang="en-GB" sz="900" u="none" strike="noStrike">
                          <a:effectLst/>
                        </a:rPr>
                        <a:t>Approx. normal; unequal variance</a:t>
                      </a:r>
                      <a:endParaRPr lang="en-GB" sz="900" b="0" i="0" u="none" strike="noStrike">
                        <a:solidFill>
                          <a:srgbClr val="000000"/>
                        </a:solidFill>
                        <a:effectLst/>
                        <a:latin typeface="Aptos Narrow" panose="020B0004020202020204" pitchFamily="34" charset="0"/>
                      </a:endParaRPr>
                    </a:p>
                  </a:txBody>
                  <a:tcPr marL="5773" marR="5773" marT="5773" marB="0" anchor="ctr"/>
                </a:tc>
                <a:tc>
                  <a:txBody>
                    <a:bodyPr/>
                    <a:lstStyle/>
                    <a:p>
                      <a:pPr algn="ctr" fontAlgn="ctr">
                        <a:buNone/>
                      </a:pPr>
                      <a:r>
                        <a:rPr lang="en-GB" sz="900" u="none" strike="noStrike">
                          <a:effectLst/>
                        </a:rPr>
                        <a:t>Welch’s t-test</a:t>
                      </a:r>
                      <a:endParaRPr lang="en-GB" sz="900" b="0" i="0" u="none" strike="noStrike">
                        <a:solidFill>
                          <a:srgbClr val="000000"/>
                        </a:solidFill>
                        <a:effectLst/>
                        <a:latin typeface="Aptos Narrow" panose="020B0004020202020204" pitchFamily="34" charset="0"/>
                      </a:endParaRPr>
                    </a:p>
                  </a:txBody>
                  <a:tcPr marL="5773" marR="5773" marT="5773" marB="0" anchor="ctr"/>
                </a:tc>
                <a:tc>
                  <a:txBody>
                    <a:bodyPr/>
                    <a:lstStyle/>
                    <a:p>
                      <a:pPr algn="ctr" fontAlgn="ctr">
                        <a:buNone/>
                      </a:pPr>
                      <a:r>
                        <a:rPr lang="en-GB" sz="900" u="none" strike="noStrike" dirty="0">
                          <a:effectLst/>
                        </a:rPr>
                        <a:t>Boxplot (2 groups)</a:t>
                      </a:r>
                      <a:endParaRPr lang="en-GB" sz="900" b="0" i="0" u="none" strike="noStrike" dirty="0">
                        <a:solidFill>
                          <a:srgbClr val="000000"/>
                        </a:solidFill>
                        <a:effectLst/>
                        <a:latin typeface="Aptos Narrow" panose="020B0004020202020204" pitchFamily="34" charset="0"/>
                      </a:endParaRPr>
                    </a:p>
                  </a:txBody>
                  <a:tcPr marL="5773" marR="5773" marT="5773" marB="0" anchor="ctr"/>
                </a:tc>
                <a:extLst>
                  <a:ext uri="{0D108BD9-81ED-4DB2-BD59-A6C34878D82A}">
                    <a16:rowId xmlns:a16="http://schemas.microsoft.com/office/drawing/2014/main" val="3227729051"/>
                  </a:ext>
                </a:extLst>
              </a:tr>
              <a:tr h="365998">
                <a:tc>
                  <a:txBody>
                    <a:bodyPr/>
                    <a:lstStyle/>
                    <a:p>
                      <a:pPr algn="ctr" fontAlgn="ctr">
                        <a:buNone/>
                      </a:pPr>
                      <a:r>
                        <a:rPr lang="en-GB" sz="900" b="1" u="none" strike="noStrike" dirty="0">
                          <a:effectLst/>
                        </a:rPr>
                        <a:t>5</a:t>
                      </a:r>
                      <a:endParaRPr lang="en-GB" sz="900" b="1" i="0" u="none" strike="noStrike" dirty="0">
                        <a:solidFill>
                          <a:srgbClr val="000000"/>
                        </a:solidFill>
                        <a:effectLst/>
                        <a:latin typeface="Aptos Narrow" panose="020B0004020202020204" pitchFamily="34" charset="0"/>
                      </a:endParaRPr>
                    </a:p>
                  </a:txBody>
                  <a:tcPr marL="5773" marR="5773" marT="5773" marB="0" anchor="ctr"/>
                </a:tc>
                <a:tc>
                  <a:txBody>
                    <a:bodyPr/>
                    <a:lstStyle/>
                    <a:p>
                      <a:pPr algn="ctr" fontAlgn="ctr">
                        <a:buNone/>
                      </a:pPr>
                      <a:r>
                        <a:rPr lang="en-GB" sz="900" u="none" strike="noStrike">
                          <a:effectLst/>
                        </a:rPr>
                        <a:t>Do treatments differ in recovery time?</a:t>
                      </a:r>
                      <a:endParaRPr lang="en-GB" sz="900" b="0" i="0" u="none" strike="noStrike">
                        <a:solidFill>
                          <a:srgbClr val="000000"/>
                        </a:solidFill>
                        <a:effectLst/>
                        <a:latin typeface="Aptos Narrow" panose="020B0004020202020204" pitchFamily="34" charset="0"/>
                      </a:endParaRPr>
                    </a:p>
                  </a:txBody>
                  <a:tcPr marL="5773" marR="5773" marT="5773" marB="0" anchor="ctr"/>
                </a:tc>
                <a:tc>
                  <a:txBody>
                    <a:bodyPr/>
                    <a:lstStyle/>
                    <a:p>
                      <a:pPr algn="ctr" fontAlgn="ctr">
                        <a:buNone/>
                      </a:pPr>
                      <a:r>
                        <a:rPr lang="en-GB" sz="900" u="none" strike="noStrike">
                          <a:effectLst/>
                        </a:rPr>
                        <a:t>Two variables; Numerical response; Categorical explanatory (2 groups); Independent</a:t>
                      </a:r>
                      <a:endParaRPr lang="en-GB" sz="900" b="0" i="0" u="none" strike="noStrike">
                        <a:solidFill>
                          <a:srgbClr val="000000"/>
                        </a:solidFill>
                        <a:effectLst/>
                        <a:latin typeface="Aptos Narrow" panose="020B0004020202020204" pitchFamily="34" charset="0"/>
                      </a:endParaRPr>
                    </a:p>
                  </a:txBody>
                  <a:tcPr marL="5773" marR="5773" marT="5773" marB="0" anchor="ctr"/>
                </a:tc>
                <a:tc>
                  <a:txBody>
                    <a:bodyPr/>
                    <a:lstStyle/>
                    <a:p>
                      <a:pPr algn="ctr" fontAlgn="ctr">
                        <a:buNone/>
                      </a:pPr>
                      <a:r>
                        <a:rPr lang="en-GB" sz="900" u="none" strike="noStrike">
                          <a:effectLst/>
                        </a:rPr>
                        <a:t>Non-normal distribution</a:t>
                      </a:r>
                      <a:endParaRPr lang="en-GB" sz="900" b="0" i="0" u="none" strike="noStrike">
                        <a:solidFill>
                          <a:srgbClr val="000000"/>
                        </a:solidFill>
                        <a:effectLst/>
                        <a:latin typeface="Aptos Narrow" panose="020B0004020202020204" pitchFamily="34" charset="0"/>
                      </a:endParaRPr>
                    </a:p>
                  </a:txBody>
                  <a:tcPr marL="5773" marR="5773" marT="5773" marB="0" anchor="ctr"/>
                </a:tc>
                <a:tc>
                  <a:txBody>
                    <a:bodyPr/>
                    <a:lstStyle/>
                    <a:p>
                      <a:pPr algn="ctr" fontAlgn="ctr">
                        <a:buNone/>
                      </a:pPr>
                      <a:r>
                        <a:rPr lang="en-GB" sz="900" u="none" strike="noStrike">
                          <a:effectLst/>
                        </a:rPr>
                        <a:t>Mann–Whitney U</a:t>
                      </a:r>
                      <a:endParaRPr lang="en-GB" sz="900" b="0" i="0" u="none" strike="noStrike">
                        <a:solidFill>
                          <a:srgbClr val="000000"/>
                        </a:solidFill>
                        <a:effectLst/>
                        <a:latin typeface="Aptos Narrow" panose="020B0004020202020204" pitchFamily="34" charset="0"/>
                      </a:endParaRPr>
                    </a:p>
                  </a:txBody>
                  <a:tcPr marL="5773" marR="5773" marT="5773" marB="0" anchor="ctr"/>
                </a:tc>
                <a:tc>
                  <a:txBody>
                    <a:bodyPr/>
                    <a:lstStyle/>
                    <a:p>
                      <a:pPr algn="ctr" fontAlgn="ctr">
                        <a:buNone/>
                      </a:pPr>
                      <a:r>
                        <a:rPr lang="en-GB" sz="900" u="none" strike="noStrike">
                          <a:effectLst/>
                        </a:rPr>
                        <a:t>Boxplot / violin</a:t>
                      </a:r>
                      <a:endParaRPr lang="en-GB" sz="900" b="0" i="0" u="none" strike="noStrike">
                        <a:solidFill>
                          <a:srgbClr val="000000"/>
                        </a:solidFill>
                        <a:effectLst/>
                        <a:latin typeface="Aptos Narrow" panose="020B0004020202020204" pitchFamily="34" charset="0"/>
                      </a:endParaRPr>
                    </a:p>
                  </a:txBody>
                  <a:tcPr marL="5773" marR="5773" marT="5773" marB="0" anchor="ctr"/>
                </a:tc>
                <a:extLst>
                  <a:ext uri="{0D108BD9-81ED-4DB2-BD59-A6C34878D82A}">
                    <a16:rowId xmlns:a16="http://schemas.microsoft.com/office/drawing/2014/main" val="3017714306"/>
                  </a:ext>
                </a:extLst>
              </a:tr>
              <a:tr h="278188">
                <a:tc>
                  <a:txBody>
                    <a:bodyPr/>
                    <a:lstStyle/>
                    <a:p>
                      <a:pPr algn="ctr" fontAlgn="ctr">
                        <a:buNone/>
                      </a:pPr>
                      <a:r>
                        <a:rPr lang="en-GB" sz="900" b="1" u="none" strike="noStrike" dirty="0">
                          <a:effectLst/>
                        </a:rPr>
                        <a:t>6</a:t>
                      </a:r>
                      <a:endParaRPr lang="en-GB" sz="900" b="1" i="0" u="none" strike="noStrike" dirty="0">
                        <a:solidFill>
                          <a:srgbClr val="000000"/>
                        </a:solidFill>
                        <a:effectLst/>
                        <a:latin typeface="Aptos Narrow" panose="020B0004020202020204" pitchFamily="34" charset="0"/>
                      </a:endParaRPr>
                    </a:p>
                  </a:txBody>
                  <a:tcPr marL="5773" marR="5773" marT="5773" marB="0" anchor="ctr"/>
                </a:tc>
                <a:tc>
                  <a:txBody>
                    <a:bodyPr/>
                    <a:lstStyle/>
                    <a:p>
                      <a:pPr algn="ctr" fontAlgn="ctr">
                        <a:buNone/>
                      </a:pPr>
                      <a:r>
                        <a:rPr lang="en-GB" sz="900" u="none" strike="noStrike">
                          <a:effectLst/>
                        </a:rPr>
                        <a:t>Does treatment change blood pressure?</a:t>
                      </a:r>
                      <a:endParaRPr lang="en-GB" sz="900" b="0" i="0" u="none" strike="noStrike">
                        <a:solidFill>
                          <a:srgbClr val="000000"/>
                        </a:solidFill>
                        <a:effectLst/>
                        <a:latin typeface="Aptos Narrow" panose="020B0004020202020204" pitchFamily="34" charset="0"/>
                      </a:endParaRPr>
                    </a:p>
                  </a:txBody>
                  <a:tcPr marL="5773" marR="5773" marT="5773" marB="0" anchor="ctr"/>
                </a:tc>
                <a:tc>
                  <a:txBody>
                    <a:bodyPr/>
                    <a:lstStyle/>
                    <a:p>
                      <a:pPr algn="ctr" fontAlgn="ctr">
                        <a:buNone/>
                      </a:pPr>
                      <a:r>
                        <a:rPr lang="en-GB" sz="900" u="none" strike="noStrike">
                          <a:effectLst/>
                        </a:rPr>
                        <a:t>Two variables; Numerical response; Paired measurements</a:t>
                      </a:r>
                      <a:endParaRPr lang="en-GB" sz="900" b="0" i="0" u="none" strike="noStrike">
                        <a:solidFill>
                          <a:srgbClr val="000000"/>
                        </a:solidFill>
                        <a:effectLst/>
                        <a:latin typeface="Aptos Narrow" panose="020B0004020202020204" pitchFamily="34" charset="0"/>
                      </a:endParaRPr>
                    </a:p>
                  </a:txBody>
                  <a:tcPr marL="5773" marR="5773" marT="5773" marB="0" anchor="ctr"/>
                </a:tc>
                <a:tc>
                  <a:txBody>
                    <a:bodyPr/>
                    <a:lstStyle/>
                    <a:p>
                      <a:pPr algn="ctr" fontAlgn="ctr">
                        <a:buNone/>
                      </a:pPr>
                      <a:r>
                        <a:rPr lang="en-GB" sz="900" u="none" strike="noStrike">
                          <a:effectLst/>
                        </a:rPr>
                        <a:t>Approx. normal differences</a:t>
                      </a:r>
                      <a:endParaRPr lang="en-GB" sz="900" b="0" i="0" u="none" strike="noStrike">
                        <a:solidFill>
                          <a:srgbClr val="000000"/>
                        </a:solidFill>
                        <a:effectLst/>
                        <a:latin typeface="Aptos Narrow" panose="020B0004020202020204" pitchFamily="34" charset="0"/>
                      </a:endParaRPr>
                    </a:p>
                  </a:txBody>
                  <a:tcPr marL="5773" marR="5773" marT="5773" marB="0" anchor="ctr"/>
                </a:tc>
                <a:tc>
                  <a:txBody>
                    <a:bodyPr/>
                    <a:lstStyle/>
                    <a:p>
                      <a:pPr algn="ctr" fontAlgn="ctr">
                        <a:buNone/>
                      </a:pPr>
                      <a:r>
                        <a:rPr lang="en-GB" sz="900" u="none" strike="noStrike">
                          <a:effectLst/>
                        </a:rPr>
                        <a:t>Paired t-test (Sign test if non-normal)</a:t>
                      </a:r>
                      <a:endParaRPr lang="en-GB" sz="900" b="0" i="0" u="none" strike="noStrike">
                        <a:solidFill>
                          <a:srgbClr val="000000"/>
                        </a:solidFill>
                        <a:effectLst/>
                        <a:latin typeface="Aptos Narrow" panose="020B0004020202020204" pitchFamily="34" charset="0"/>
                      </a:endParaRPr>
                    </a:p>
                  </a:txBody>
                  <a:tcPr marL="5773" marR="5773" marT="5773" marB="0" anchor="ctr"/>
                </a:tc>
                <a:tc>
                  <a:txBody>
                    <a:bodyPr/>
                    <a:lstStyle/>
                    <a:p>
                      <a:pPr algn="ctr" fontAlgn="ctr">
                        <a:buNone/>
                      </a:pPr>
                      <a:r>
                        <a:rPr lang="en-GB" sz="900" u="none" strike="noStrike">
                          <a:effectLst/>
                        </a:rPr>
                        <a:t>Paired dot plot</a:t>
                      </a:r>
                      <a:endParaRPr lang="en-GB" sz="900" b="0" i="0" u="none" strike="noStrike">
                        <a:solidFill>
                          <a:srgbClr val="000000"/>
                        </a:solidFill>
                        <a:effectLst/>
                        <a:latin typeface="Aptos Narrow" panose="020B0004020202020204" pitchFamily="34" charset="0"/>
                      </a:endParaRPr>
                    </a:p>
                  </a:txBody>
                  <a:tcPr marL="5773" marR="5773" marT="5773" marB="0" anchor="ctr"/>
                </a:tc>
                <a:extLst>
                  <a:ext uri="{0D108BD9-81ED-4DB2-BD59-A6C34878D82A}">
                    <a16:rowId xmlns:a16="http://schemas.microsoft.com/office/drawing/2014/main" val="758592929"/>
                  </a:ext>
                </a:extLst>
              </a:tr>
              <a:tr h="278188">
                <a:tc>
                  <a:txBody>
                    <a:bodyPr/>
                    <a:lstStyle/>
                    <a:p>
                      <a:pPr algn="ctr" fontAlgn="ctr">
                        <a:buNone/>
                      </a:pPr>
                      <a:r>
                        <a:rPr lang="en-GB" sz="900" b="1" u="none" strike="noStrike" dirty="0">
                          <a:effectLst/>
                        </a:rPr>
                        <a:t>7</a:t>
                      </a:r>
                      <a:endParaRPr lang="en-GB" sz="900" b="1" i="0" u="none" strike="noStrike" dirty="0">
                        <a:solidFill>
                          <a:srgbClr val="000000"/>
                        </a:solidFill>
                        <a:effectLst/>
                        <a:latin typeface="Aptos Narrow" panose="020B0004020202020204" pitchFamily="34" charset="0"/>
                      </a:endParaRPr>
                    </a:p>
                  </a:txBody>
                  <a:tcPr marL="5773" marR="5773" marT="5773" marB="0" anchor="ctr"/>
                </a:tc>
                <a:tc>
                  <a:txBody>
                    <a:bodyPr/>
                    <a:lstStyle/>
                    <a:p>
                      <a:pPr algn="ctr" fontAlgn="ctr">
                        <a:buNone/>
                      </a:pPr>
                      <a:r>
                        <a:rPr lang="en-GB" sz="900" u="none" strike="noStrike">
                          <a:effectLst/>
                        </a:rPr>
                        <a:t>Is disease associated with smoking?</a:t>
                      </a:r>
                      <a:endParaRPr lang="en-GB" sz="900" b="0" i="0" u="none" strike="noStrike">
                        <a:solidFill>
                          <a:srgbClr val="000000"/>
                        </a:solidFill>
                        <a:effectLst/>
                        <a:latin typeface="Aptos Narrow" panose="020B0004020202020204" pitchFamily="34" charset="0"/>
                      </a:endParaRPr>
                    </a:p>
                  </a:txBody>
                  <a:tcPr marL="5773" marR="5773" marT="5773" marB="0" anchor="ctr"/>
                </a:tc>
                <a:tc>
                  <a:txBody>
                    <a:bodyPr/>
                    <a:lstStyle/>
                    <a:p>
                      <a:pPr algn="ctr" fontAlgn="ctr">
                        <a:buNone/>
                      </a:pPr>
                      <a:r>
                        <a:rPr lang="en-GB" sz="900" u="none" strike="noStrike">
                          <a:effectLst/>
                        </a:rPr>
                        <a:t>Two variables; Both categorical; Independent; 2×2 table</a:t>
                      </a:r>
                      <a:endParaRPr lang="en-GB" sz="900" b="0" i="0" u="none" strike="noStrike">
                        <a:solidFill>
                          <a:srgbClr val="000000"/>
                        </a:solidFill>
                        <a:effectLst/>
                        <a:latin typeface="Aptos Narrow" panose="020B0004020202020204" pitchFamily="34" charset="0"/>
                      </a:endParaRPr>
                    </a:p>
                  </a:txBody>
                  <a:tcPr marL="5773" marR="5773" marT="5773" marB="0" anchor="ctr"/>
                </a:tc>
                <a:tc>
                  <a:txBody>
                    <a:bodyPr/>
                    <a:lstStyle/>
                    <a:p>
                      <a:pPr algn="ctr" fontAlgn="ctr">
                        <a:buNone/>
                      </a:pPr>
                      <a:r>
                        <a:rPr lang="en-GB" sz="900" u="none" strike="noStrike">
                          <a:effectLst/>
                        </a:rPr>
                        <a:t>Expected counts adequate</a:t>
                      </a:r>
                      <a:endParaRPr lang="en-GB" sz="900" b="0" i="0" u="none" strike="noStrike">
                        <a:solidFill>
                          <a:srgbClr val="000000"/>
                        </a:solidFill>
                        <a:effectLst/>
                        <a:latin typeface="Aptos Narrow" panose="020B0004020202020204" pitchFamily="34" charset="0"/>
                      </a:endParaRPr>
                    </a:p>
                  </a:txBody>
                  <a:tcPr marL="5773" marR="5773" marT="5773" marB="0" anchor="ctr"/>
                </a:tc>
                <a:tc>
                  <a:txBody>
                    <a:bodyPr/>
                    <a:lstStyle/>
                    <a:p>
                      <a:pPr algn="ctr" fontAlgn="ctr">
                        <a:buNone/>
                      </a:pPr>
                      <a:r>
                        <a:rPr lang="en-GB" sz="900" u="none" strike="noStrike">
                          <a:effectLst/>
                        </a:rPr>
                        <a:t>Chi-square independence (+ OR/RR)</a:t>
                      </a:r>
                      <a:endParaRPr lang="en-GB" sz="900" b="0" i="0" u="none" strike="noStrike">
                        <a:solidFill>
                          <a:srgbClr val="000000"/>
                        </a:solidFill>
                        <a:effectLst/>
                        <a:latin typeface="Aptos Narrow" panose="020B0004020202020204" pitchFamily="34" charset="0"/>
                      </a:endParaRPr>
                    </a:p>
                  </a:txBody>
                  <a:tcPr marL="5773" marR="5773" marT="5773" marB="0" anchor="ctr"/>
                </a:tc>
                <a:tc>
                  <a:txBody>
                    <a:bodyPr/>
                    <a:lstStyle/>
                    <a:p>
                      <a:pPr algn="ctr" fontAlgn="ctr">
                        <a:buNone/>
                      </a:pPr>
                      <a:r>
                        <a:rPr lang="en-GB" sz="900" u="none" strike="noStrike">
                          <a:effectLst/>
                        </a:rPr>
                        <a:t>Mosaic plot</a:t>
                      </a:r>
                      <a:endParaRPr lang="en-GB" sz="900" b="0" i="0" u="none" strike="noStrike">
                        <a:solidFill>
                          <a:srgbClr val="000000"/>
                        </a:solidFill>
                        <a:effectLst/>
                        <a:latin typeface="Aptos Narrow" panose="020B0004020202020204" pitchFamily="34" charset="0"/>
                      </a:endParaRPr>
                    </a:p>
                  </a:txBody>
                  <a:tcPr marL="5773" marR="5773" marT="5773" marB="0" anchor="ctr"/>
                </a:tc>
                <a:extLst>
                  <a:ext uri="{0D108BD9-81ED-4DB2-BD59-A6C34878D82A}">
                    <a16:rowId xmlns:a16="http://schemas.microsoft.com/office/drawing/2014/main" val="3973250388"/>
                  </a:ext>
                </a:extLst>
              </a:tr>
              <a:tr h="365998">
                <a:tc>
                  <a:txBody>
                    <a:bodyPr/>
                    <a:lstStyle/>
                    <a:p>
                      <a:pPr algn="ctr" fontAlgn="ctr">
                        <a:buNone/>
                      </a:pPr>
                      <a:r>
                        <a:rPr lang="en-GB" sz="900" b="1" u="none" strike="noStrike" dirty="0">
                          <a:effectLst/>
                        </a:rPr>
                        <a:t>8</a:t>
                      </a:r>
                      <a:endParaRPr lang="en-GB" sz="900" b="1" i="0" u="none" strike="noStrike" dirty="0">
                        <a:solidFill>
                          <a:srgbClr val="000000"/>
                        </a:solidFill>
                        <a:effectLst/>
                        <a:latin typeface="Aptos Narrow" panose="020B0004020202020204" pitchFamily="34" charset="0"/>
                      </a:endParaRPr>
                    </a:p>
                  </a:txBody>
                  <a:tcPr marL="5773" marR="5773" marT="5773" marB="0" anchor="ctr"/>
                </a:tc>
                <a:tc>
                  <a:txBody>
                    <a:bodyPr/>
                    <a:lstStyle/>
                    <a:p>
                      <a:pPr algn="ctr" fontAlgn="ctr">
                        <a:buNone/>
                      </a:pPr>
                      <a:r>
                        <a:rPr lang="en-GB" sz="900" u="none" strike="noStrike" dirty="0">
                          <a:effectLst/>
                        </a:rPr>
                        <a:t>Do means differ among temperatures?</a:t>
                      </a:r>
                      <a:endParaRPr lang="en-GB" sz="900" b="0" i="0" u="none" strike="noStrike" dirty="0">
                        <a:solidFill>
                          <a:srgbClr val="000000"/>
                        </a:solidFill>
                        <a:effectLst/>
                        <a:latin typeface="Aptos Narrow" panose="020B0004020202020204" pitchFamily="34" charset="0"/>
                      </a:endParaRPr>
                    </a:p>
                  </a:txBody>
                  <a:tcPr marL="5773" marR="5773" marT="5773" marB="0" anchor="ctr"/>
                </a:tc>
                <a:tc>
                  <a:txBody>
                    <a:bodyPr/>
                    <a:lstStyle/>
                    <a:p>
                      <a:pPr algn="ctr" fontAlgn="ctr">
                        <a:buNone/>
                      </a:pPr>
                      <a:r>
                        <a:rPr lang="en-GB" sz="900" u="none" strike="noStrike">
                          <a:effectLst/>
                        </a:rPr>
                        <a:t>Two variables; Numerical response; Categorical explanatory (&gt;2 groups); Independent</a:t>
                      </a:r>
                      <a:endParaRPr lang="en-GB" sz="900" b="0" i="0" u="none" strike="noStrike">
                        <a:solidFill>
                          <a:srgbClr val="000000"/>
                        </a:solidFill>
                        <a:effectLst/>
                        <a:latin typeface="Aptos Narrow" panose="020B0004020202020204" pitchFamily="34" charset="0"/>
                      </a:endParaRPr>
                    </a:p>
                  </a:txBody>
                  <a:tcPr marL="5773" marR="5773" marT="5773" marB="0" anchor="ctr"/>
                </a:tc>
                <a:tc>
                  <a:txBody>
                    <a:bodyPr/>
                    <a:lstStyle/>
                    <a:p>
                      <a:pPr algn="ctr" fontAlgn="ctr">
                        <a:buNone/>
                      </a:pPr>
                      <a:r>
                        <a:rPr lang="en-GB" sz="900" u="none" strike="noStrike">
                          <a:effectLst/>
                        </a:rPr>
                        <a:t>Approx. normal</a:t>
                      </a:r>
                      <a:endParaRPr lang="en-GB" sz="900" b="0" i="0" u="none" strike="noStrike">
                        <a:solidFill>
                          <a:srgbClr val="000000"/>
                        </a:solidFill>
                        <a:effectLst/>
                        <a:latin typeface="Aptos Narrow" panose="020B0004020202020204" pitchFamily="34" charset="0"/>
                      </a:endParaRPr>
                    </a:p>
                  </a:txBody>
                  <a:tcPr marL="5773" marR="5773" marT="5773" marB="0" anchor="ctr"/>
                </a:tc>
                <a:tc>
                  <a:txBody>
                    <a:bodyPr/>
                    <a:lstStyle/>
                    <a:p>
                      <a:pPr algn="ctr" fontAlgn="ctr">
                        <a:buNone/>
                      </a:pPr>
                      <a:r>
                        <a:rPr lang="en-GB" sz="900" u="none" strike="noStrike">
                          <a:effectLst/>
                        </a:rPr>
                        <a:t>ANOVA (Kruskal–Wallis if non-normal)</a:t>
                      </a:r>
                      <a:endParaRPr lang="en-GB" sz="900" b="0" i="0" u="none" strike="noStrike">
                        <a:solidFill>
                          <a:srgbClr val="000000"/>
                        </a:solidFill>
                        <a:effectLst/>
                        <a:latin typeface="Aptos Narrow" panose="020B0004020202020204" pitchFamily="34" charset="0"/>
                      </a:endParaRPr>
                    </a:p>
                  </a:txBody>
                  <a:tcPr marL="5773" marR="5773" marT="5773" marB="0" anchor="ctr"/>
                </a:tc>
                <a:tc>
                  <a:txBody>
                    <a:bodyPr/>
                    <a:lstStyle/>
                    <a:p>
                      <a:pPr algn="ctr" fontAlgn="ctr">
                        <a:buNone/>
                      </a:pPr>
                      <a:r>
                        <a:rPr lang="en-GB" sz="900" u="none" strike="noStrike" dirty="0">
                          <a:effectLst/>
                        </a:rPr>
                        <a:t>Bar plot with error bars</a:t>
                      </a:r>
                      <a:endParaRPr lang="en-GB" sz="900" b="0" i="0" u="none" strike="noStrike" dirty="0">
                        <a:solidFill>
                          <a:srgbClr val="000000"/>
                        </a:solidFill>
                        <a:effectLst/>
                        <a:latin typeface="Aptos Narrow" panose="020B0004020202020204" pitchFamily="34" charset="0"/>
                      </a:endParaRPr>
                    </a:p>
                  </a:txBody>
                  <a:tcPr marL="5773" marR="5773" marT="5773" marB="0" anchor="ctr"/>
                </a:tc>
                <a:extLst>
                  <a:ext uri="{0D108BD9-81ED-4DB2-BD59-A6C34878D82A}">
                    <a16:rowId xmlns:a16="http://schemas.microsoft.com/office/drawing/2014/main" val="2363156800"/>
                  </a:ext>
                </a:extLst>
              </a:tr>
            </a:tbl>
          </a:graphicData>
        </a:graphic>
      </p:graphicFrame>
      <p:sp>
        <p:nvSpPr>
          <p:cNvPr id="6" name="Title 1">
            <a:extLst>
              <a:ext uri="{FF2B5EF4-FFF2-40B4-BE49-F238E27FC236}">
                <a16:creationId xmlns:a16="http://schemas.microsoft.com/office/drawing/2014/main" id="{809C579F-51C4-8403-090E-F6FC0D8EE4FE}"/>
              </a:ext>
            </a:extLst>
          </p:cNvPr>
          <p:cNvSpPr txBox="1">
            <a:spLocks/>
          </p:cNvSpPr>
          <p:nvPr/>
        </p:nvSpPr>
        <p:spPr>
          <a:xfrm>
            <a:off x="3523971" y="127637"/>
            <a:ext cx="1757415" cy="487143"/>
          </a:xfrm>
          <a:prstGeom prst="rect">
            <a:avLst/>
          </a:prstGeom>
        </p:spPr>
        <p:txBody>
          <a:bodyPr vert="horz" lIns="74295" tIns="37148" rIns="74295" bIns="37148"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2600" dirty="0">
                <a:latin typeface="Cascadia Code" panose="020B0609020000020004" pitchFamily="49" charset="0"/>
                <a:ea typeface="Cascadia Code" panose="020B0609020000020004" pitchFamily="49" charset="0"/>
                <a:cs typeface="Cascadia Code" panose="020B0609020000020004" pitchFamily="49" charset="0"/>
              </a:rPr>
              <a:t>SOLUTIONS</a:t>
            </a:r>
          </a:p>
        </p:txBody>
      </p:sp>
    </p:spTree>
    <p:extLst>
      <p:ext uri="{BB962C8B-B14F-4D97-AF65-F5344CB8AC3E}">
        <p14:creationId xmlns:p14="http://schemas.microsoft.com/office/powerpoint/2010/main" val="42806344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4C7D7E8-6D98-1E70-C8E5-32751DDB81E9}"/>
              </a:ext>
            </a:extLst>
          </p:cNvPr>
          <p:cNvSpPr txBox="1"/>
          <p:nvPr/>
        </p:nvSpPr>
        <p:spPr>
          <a:xfrm rot="16200000">
            <a:off x="1671161" y="2719082"/>
            <a:ext cx="2301598" cy="4470134"/>
          </a:xfrm>
          <a:prstGeom prst="rect">
            <a:avLst/>
          </a:prstGeom>
          <a:noFill/>
        </p:spPr>
        <p:txBody>
          <a:bodyPr wrap="square">
            <a:spAutoFit/>
          </a:bodyPr>
          <a:lstStyle/>
          <a:p>
            <a:pPr>
              <a:buNone/>
            </a:pPr>
            <a:r>
              <a:rPr lang="en-GB" sz="1138" b="1" dirty="0"/>
              <a:t>🔵 GROUP 1</a:t>
            </a:r>
          </a:p>
          <a:p>
            <a:pPr>
              <a:buNone/>
            </a:pPr>
            <a:r>
              <a:rPr lang="en-GB" sz="1138" dirty="0"/>
              <a:t>Cases:</a:t>
            </a:r>
            <a:br>
              <a:rPr lang="en-GB" sz="1138" dirty="0"/>
            </a:br>
            <a:r>
              <a:rPr lang="en-GB" sz="1138" dirty="0"/>
              <a:t>1 (One-sample t-test)</a:t>
            </a:r>
            <a:br>
              <a:rPr lang="en-GB" sz="1138" dirty="0"/>
            </a:br>
            <a:r>
              <a:rPr lang="en-GB" sz="1138" dirty="0"/>
              <a:t>7 (Chi-square independence)</a:t>
            </a:r>
            <a:br>
              <a:rPr lang="en-GB" sz="1138" dirty="0"/>
            </a:br>
            <a:r>
              <a:rPr lang="en-GB" sz="1138" dirty="0"/>
              <a:t>9 (Binomial probability)</a:t>
            </a:r>
          </a:p>
          <a:p>
            <a:pPr>
              <a:buNone/>
            </a:pPr>
            <a:endParaRPr lang="en-GB" sz="1138" dirty="0"/>
          </a:p>
          <a:p>
            <a:pPr>
              <a:buNone/>
            </a:pPr>
            <a:r>
              <a:rPr lang="en-GB" sz="1138" dirty="0"/>
              <a:t>Tools:</a:t>
            </a:r>
            <a:br>
              <a:rPr lang="en-GB" sz="1138" dirty="0"/>
            </a:br>
            <a:r>
              <a:rPr lang="en-GB" sz="1138" dirty="0"/>
              <a:t>1 (One-sample t-test) ✅ matches Case 1</a:t>
            </a:r>
            <a:br>
              <a:rPr lang="en-GB" sz="1138" dirty="0"/>
            </a:br>
            <a:r>
              <a:rPr lang="en-GB" sz="1138" dirty="0"/>
              <a:t>5 (Mann–Whitney)</a:t>
            </a:r>
            <a:br>
              <a:rPr lang="en-GB" sz="1138" dirty="0"/>
            </a:br>
            <a:r>
              <a:rPr lang="en-GB" sz="1138" dirty="0"/>
              <a:t>11 (Probability tree)</a:t>
            </a:r>
          </a:p>
          <a:p>
            <a:pPr>
              <a:buNone/>
            </a:pPr>
            <a:endParaRPr lang="en-GB" sz="1138" dirty="0"/>
          </a:p>
          <a:p>
            <a:pPr>
              <a:buNone/>
            </a:pPr>
            <a:r>
              <a:rPr lang="en-GB" sz="1138" dirty="0"/>
              <a:t>Visualisations:</a:t>
            </a:r>
            <a:br>
              <a:rPr lang="en-GB" sz="1138" dirty="0"/>
            </a:br>
            <a:r>
              <a:rPr lang="en-GB" sz="1138" dirty="0"/>
              <a:t>1 (Histogram + CI) ✅ matches Case 1</a:t>
            </a:r>
            <a:br>
              <a:rPr lang="en-GB" sz="1138" dirty="0"/>
            </a:br>
            <a:r>
              <a:rPr lang="en-GB" sz="1138" dirty="0"/>
              <a:t>7 (Mosaic plot)</a:t>
            </a:r>
            <a:br>
              <a:rPr lang="en-GB" sz="1138" dirty="0"/>
            </a:br>
            <a:r>
              <a:rPr lang="en-GB" sz="1138" dirty="0"/>
              <a:t>10 (Bar/pie chart)</a:t>
            </a:r>
          </a:p>
          <a:p>
            <a:pPr>
              <a:buNone/>
            </a:pPr>
            <a:endParaRPr lang="en-GB" sz="1138" dirty="0"/>
          </a:p>
          <a:p>
            <a:pPr>
              <a:buNone/>
            </a:pPr>
            <a:r>
              <a:rPr lang="en-GB" sz="1138" dirty="0"/>
              <a:t>They can correctly solve Case 1 themselves.</a:t>
            </a:r>
            <a:br>
              <a:rPr lang="en-GB" sz="1138" dirty="0"/>
            </a:br>
            <a:r>
              <a:rPr lang="en-GB" sz="1138" dirty="0"/>
              <a:t>They must look at the board to place:</a:t>
            </a:r>
          </a:p>
          <a:p>
            <a:pPr>
              <a:buFont typeface="Arial" panose="020B0604020202020204" pitchFamily="34" charset="0"/>
              <a:buChar char="•"/>
            </a:pPr>
            <a:r>
              <a:rPr lang="en-GB" sz="1138" dirty="0"/>
              <a:t>Mosaic plot</a:t>
            </a:r>
          </a:p>
          <a:p>
            <a:pPr>
              <a:buFont typeface="Arial" panose="020B0604020202020204" pitchFamily="34" charset="0"/>
              <a:buChar char="•"/>
            </a:pPr>
            <a:r>
              <a:rPr lang="en-GB" sz="1138" dirty="0"/>
              <a:t>Probability tree</a:t>
            </a:r>
          </a:p>
          <a:p>
            <a:pPr>
              <a:buFont typeface="Arial" panose="020B0604020202020204" pitchFamily="34" charset="0"/>
              <a:buChar char="•"/>
            </a:pPr>
            <a:r>
              <a:rPr lang="en-GB" sz="1138" dirty="0"/>
              <a:t>Mann–Whitney</a:t>
            </a:r>
          </a:p>
        </p:txBody>
      </p:sp>
      <p:sp>
        <p:nvSpPr>
          <p:cNvPr id="7" name="TextBox 6">
            <a:extLst>
              <a:ext uri="{FF2B5EF4-FFF2-40B4-BE49-F238E27FC236}">
                <a16:creationId xmlns:a16="http://schemas.microsoft.com/office/drawing/2014/main" id="{594F056D-F46B-5348-B708-61F216442D4E}"/>
              </a:ext>
            </a:extLst>
          </p:cNvPr>
          <p:cNvSpPr txBox="1"/>
          <p:nvPr/>
        </p:nvSpPr>
        <p:spPr>
          <a:xfrm rot="16200000">
            <a:off x="1496113" y="242792"/>
            <a:ext cx="2301597" cy="4119910"/>
          </a:xfrm>
          <a:prstGeom prst="rect">
            <a:avLst/>
          </a:prstGeom>
          <a:noFill/>
        </p:spPr>
        <p:txBody>
          <a:bodyPr wrap="square">
            <a:spAutoFit/>
          </a:bodyPr>
          <a:lstStyle/>
          <a:p>
            <a:pPr>
              <a:buNone/>
            </a:pPr>
            <a:r>
              <a:rPr lang="en-GB" sz="1138" b="1" dirty="0"/>
              <a:t>🟢 GROUP 2</a:t>
            </a:r>
          </a:p>
          <a:p>
            <a:pPr>
              <a:buNone/>
            </a:pPr>
            <a:r>
              <a:rPr lang="en-GB" sz="1138" dirty="0"/>
              <a:t>Cases:</a:t>
            </a:r>
            <a:br>
              <a:rPr lang="en-GB" sz="1138" dirty="0"/>
            </a:br>
            <a:r>
              <a:rPr lang="en-GB" sz="1138" dirty="0"/>
              <a:t>2 (Binomial test)</a:t>
            </a:r>
            <a:br>
              <a:rPr lang="en-GB" sz="1138" dirty="0"/>
            </a:br>
            <a:r>
              <a:rPr lang="en-GB" sz="1138" dirty="0"/>
              <a:t>4 (Welch t-test)</a:t>
            </a:r>
            <a:br>
              <a:rPr lang="en-GB" sz="1138" dirty="0"/>
            </a:br>
            <a:r>
              <a:rPr lang="en-GB" sz="1138" dirty="0"/>
              <a:t>10 (Addition rule probability)</a:t>
            </a:r>
          </a:p>
          <a:p>
            <a:pPr>
              <a:buNone/>
            </a:pPr>
            <a:endParaRPr lang="en-GB" sz="1138" dirty="0"/>
          </a:p>
          <a:p>
            <a:pPr>
              <a:buNone/>
            </a:pPr>
            <a:r>
              <a:rPr lang="en-GB" sz="1138" dirty="0"/>
              <a:t>Tools:</a:t>
            </a:r>
            <a:br>
              <a:rPr lang="en-GB" sz="1138" dirty="0"/>
            </a:br>
            <a:r>
              <a:rPr lang="en-GB" sz="1138" dirty="0"/>
              <a:t>2 (Binomial test) ✅ matches Case 2</a:t>
            </a:r>
            <a:br>
              <a:rPr lang="en-GB" sz="1138" dirty="0"/>
            </a:br>
            <a:r>
              <a:rPr lang="en-GB" sz="1138" dirty="0"/>
              <a:t>8 (ANOVA)</a:t>
            </a:r>
            <a:br>
              <a:rPr lang="en-GB" sz="1138" dirty="0"/>
            </a:br>
            <a:r>
              <a:rPr lang="en-GB" sz="1138" dirty="0"/>
              <a:t>12 (Multiplication rule)</a:t>
            </a:r>
          </a:p>
          <a:p>
            <a:pPr>
              <a:buNone/>
            </a:pPr>
            <a:endParaRPr lang="en-GB" sz="1138" dirty="0"/>
          </a:p>
          <a:p>
            <a:pPr>
              <a:buNone/>
            </a:pPr>
            <a:r>
              <a:rPr lang="en-GB" sz="1138" dirty="0"/>
              <a:t>Visualisations:</a:t>
            </a:r>
            <a:br>
              <a:rPr lang="en-GB" sz="1138" dirty="0"/>
            </a:br>
            <a:r>
              <a:rPr lang="en-GB" sz="1138" dirty="0"/>
              <a:t>2 (Bar plot proportion) ✅ matches Case 2</a:t>
            </a:r>
            <a:br>
              <a:rPr lang="en-GB" sz="1138" dirty="0"/>
            </a:br>
            <a:r>
              <a:rPr lang="en-GB" sz="1138" dirty="0"/>
              <a:t>4 (Boxplot 2 groups)</a:t>
            </a:r>
            <a:br>
              <a:rPr lang="en-GB" sz="1138" dirty="0"/>
            </a:br>
            <a:r>
              <a:rPr lang="en-GB" sz="1138" dirty="0"/>
              <a:t>12 (Tree diagram independent)</a:t>
            </a:r>
          </a:p>
          <a:p>
            <a:pPr>
              <a:buNone/>
            </a:pPr>
            <a:endParaRPr lang="en-GB" sz="1138" dirty="0"/>
          </a:p>
          <a:p>
            <a:pPr>
              <a:buNone/>
            </a:pPr>
            <a:r>
              <a:rPr lang="en-GB" sz="1138" dirty="0"/>
              <a:t>They can correctly solve Case 2 themselves.</a:t>
            </a:r>
            <a:br>
              <a:rPr lang="en-GB" sz="1138" dirty="0"/>
            </a:br>
            <a:r>
              <a:rPr lang="en-GB" sz="1138" dirty="0"/>
              <a:t>Must read board for:</a:t>
            </a:r>
          </a:p>
          <a:p>
            <a:pPr>
              <a:buFont typeface="Arial" panose="020B0604020202020204" pitchFamily="34" charset="0"/>
              <a:buChar char="•"/>
            </a:pPr>
            <a:r>
              <a:rPr lang="en-GB" sz="1138" dirty="0"/>
              <a:t>Welch t-test</a:t>
            </a:r>
          </a:p>
          <a:p>
            <a:pPr>
              <a:buFont typeface="Arial" panose="020B0604020202020204" pitchFamily="34" charset="0"/>
              <a:buChar char="•"/>
            </a:pPr>
            <a:r>
              <a:rPr lang="en-GB" sz="1138" dirty="0"/>
              <a:t>Addition rule</a:t>
            </a:r>
          </a:p>
        </p:txBody>
      </p:sp>
      <p:sp>
        <p:nvSpPr>
          <p:cNvPr id="2" name="Title 1">
            <a:extLst>
              <a:ext uri="{FF2B5EF4-FFF2-40B4-BE49-F238E27FC236}">
                <a16:creationId xmlns:a16="http://schemas.microsoft.com/office/drawing/2014/main" id="{B91EFD21-B07D-F163-DD15-B354290078AC}"/>
              </a:ext>
            </a:extLst>
          </p:cNvPr>
          <p:cNvSpPr txBox="1">
            <a:spLocks/>
          </p:cNvSpPr>
          <p:nvPr/>
        </p:nvSpPr>
        <p:spPr>
          <a:xfrm rot="16200000">
            <a:off x="-3084006" y="3018338"/>
            <a:ext cx="6655158" cy="487143"/>
          </a:xfrm>
          <a:prstGeom prst="rect">
            <a:avLst/>
          </a:prstGeom>
        </p:spPr>
        <p:txBody>
          <a:bodyPr vert="horz" lIns="74295" tIns="37148" rIns="74295" bIns="37148"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2275" dirty="0">
                <a:latin typeface="Cascadia Code" panose="020B0609020000020004" pitchFamily="49" charset="0"/>
                <a:ea typeface="Cascadia Code" panose="020B0609020000020004" pitchFamily="49" charset="0"/>
                <a:cs typeface="Cascadia Code" panose="020B0609020000020004" pitchFamily="49" charset="0"/>
              </a:rPr>
              <a:t>Elements to deliver to each group:</a:t>
            </a:r>
          </a:p>
        </p:txBody>
      </p:sp>
      <p:sp>
        <p:nvSpPr>
          <p:cNvPr id="3" name="TextBox 2">
            <a:extLst>
              <a:ext uri="{FF2B5EF4-FFF2-40B4-BE49-F238E27FC236}">
                <a16:creationId xmlns:a16="http://schemas.microsoft.com/office/drawing/2014/main" id="{9FA935AC-6CFB-1501-59F2-0A2D67E030D3}"/>
              </a:ext>
            </a:extLst>
          </p:cNvPr>
          <p:cNvSpPr txBox="1"/>
          <p:nvPr/>
        </p:nvSpPr>
        <p:spPr>
          <a:xfrm rot="16200000">
            <a:off x="6348573" y="2772017"/>
            <a:ext cx="2195730" cy="4470134"/>
          </a:xfrm>
          <a:prstGeom prst="rect">
            <a:avLst/>
          </a:prstGeom>
          <a:noFill/>
        </p:spPr>
        <p:txBody>
          <a:bodyPr wrap="square">
            <a:spAutoFit/>
          </a:bodyPr>
          <a:lstStyle/>
          <a:p>
            <a:pPr>
              <a:buNone/>
            </a:pPr>
            <a:r>
              <a:rPr lang="en-GB" sz="1138" b="1" dirty="0"/>
              <a:t>🟡 GROUP 3</a:t>
            </a:r>
          </a:p>
          <a:p>
            <a:pPr>
              <a:buNone/>
            </a:pPr>
            <a:r>
              <a:rPr lang="en-GB" sz="1138" dirty="0"/>
              <a:t>Cases:</a:t>
            </a:r>
            <a:br>
              <a:rPr lang="en-GB" sz="1138" dirty="0"/>
            </a:br>
            <a:r>
              <a:rPr lang="en-GB" sz="1138" dirty="0"/>
              <a:t>3 (Chi-square GOF)</a:t>
            </a:r>
            <a:br>
              <a:rPr lang="en-GB" sz="1138" dirty="0"/>
            </a:br>
            <a:r>
              <a:rPr lang="en-GB" sz="1138" dirty="0"/>
              <a:t>6 (Paired t-test)</a:t>
            </a:r>
            <a:br>
              <a:rPr lang="en-GB" sz="1138" dirty="0"/>
            </a:br>
            <a:r>
              <a:rPr lang="en-GB" sz="1138" dirty="0"/>
              <a:t>11 (Conditional probability)</a:t>
            </a:r>
          </a:p>
          <a:p>
            <a:pPr>
              <a:buNone/>
            </a:pPr>
            <a:endParaRPr lang="en-GB" sz="1138" dirty="0"/>
          </a:p>
          <a:p>
            <a:pPr>
              <a:buNone/>
            </a:pPr>
            <a:r>
              <a:rPr lang="en-GB" sz="1138" dirty="0"/>
              <a:t>Tools:</a:t>
            </a:r>
            <a:br>
              <a:rPr lang="en-GB" sz="1138" dirty="0"/>
            </a:br>
            <a:r>
              <a:rPr lang="en-GB" sz="1138" dirty="0"/>
              <a:t>6 (Paired t-test) ✅ matches Case 6</a:t>
            </a:r>
            <a:br>
              <a:rPr lang="en-GB" sz="1138" dirty="0"/>
            </a:br>
            <a:r>
              <a:rPr lang="en-GB" sz="1138" dirty="0"/>
              <a:t>3 (Chi-square GOF)</a:t>
            </a:r>
            <a:br>
              <a:rPr lang="en-GB" sz="1138" dirty="0"/>
            </a:br>
            <a:r>
              <a:rPr lang="en-GB" sz="1138" dirty="0"/>
              <a:t>9 (Binomial formula)</a:t>
            </a:r>
          </a:p>
          <a:p>
            <a:pPr>
              <a:buNone/>
            </a:pPr>
            <a:endParaRPr lang="en-GB" sz="1138" dirty="0"/>
          </a:p>
          <a:p>
            <a:pPr>
              <a:buNone/>
            </a:pPr>
            <a:r>
              <a:rPr lang="en-GB" sz="1138" dirty="0"/>
              <a:t>Visualisations:</a:t>
            </a:r>
            <a:br>
              <a:rPr lang="en-GB" sz="1138" dirty="0"/>
            </a:br>
            <a:r>
              <a:rPr lang="en-GB" sz="1138" dirty="0"/>
              <a:t>6 (Paired dot plot) ✅ matches Case 6</a:t>
            </a:r>
            <a:br>
              <a:rPr lang="en-GB" sz="1138" dirty="0"/>
            </a:br>
            <a:r>
              <a:rPr lang="en-GB" sz="1138" dirty="0"/>
              <a:t>3 (Observed vs expected bars)</a:t>
            </a:r>
            <a:br>
              <a:rPr lang="en-GB" sz="1138" dirty="0"/>
            </a:br>
            <a:r>
              <a:rPr lang="en-GB" sz="1138" dirty="0"/>
              <a:t>11 (Probability tree)</a:t>
            </a:r>
          </a:p>
          <a:p>
            <a:pPr>
              <a:buNone/>
            </a:pPr>
            <a:endParaRPr lang="en-GB" sz="1138" dirty="0"/>
          </a:p>
          <a:p>
            <a:pPr>
              <a:buNone/>
            </a:pPr>
            <a:r>
              <a:rPr lang="en-GB" sz="1138" dirty="0"/>
              <a:t>They can correctly solve Case 6.</a:t>
            </a:r>
            <a:br>
              <a:rPr lang="en-GB" sz="1138" dirty="0"/>
            </a:br>
            <a:r>
              <a:rPr lang="en-GB" sz="1138" dirty="0"/>
              <a:t>But they have correct tool for Case 3 — so that’s interesting:</a:t>
            </a:r>
            <a:br>
              <a:rPr lang="en-GB" sz="1138" dirty="0"/>
            </a:br>
            <a:r>
              <a:rPr lang="en-GB" sz="1138" dirty="0"/>
              <a:t>They’ll realise they can solve two of their own cases.</a:t>
            </a:r>
            <a:br>
              <a:rPr lang="en-GB" sz="1138" dirty="0"/>
            </a:br>
            <a:r>
              <a:rPr lang="en-GB" sz="1138" dirty="0"/>
              <a:t>Still must read board for conditional probability.</a:t>
            </a:r>
          </a:p>
        </p:txBody>
      </p:sp>
      <p:sp>
        <p:nvSpPr>
          <p:cNvPr id="4" name="TextBox 3">
            <a:extLst>
              <a:ext uri="{FF2B5EF4-FFF2-40B4-BE49-F238E27FC236}">
                <a16:creationId xmlns:a16="http://schemas.microsoft.com/office/drawing/2014/main" id="{8949666F-A346-DF24-8B71-6ED6F50E567F}"/>
              </a:ext>
            </a:extLst>
          </p:cNvPr>
          <p:cNvSpPr txBox="1"/>
          <p:nvPr/>
        </p:nvSpPr>
        <p:spPr>
          <a:xfrm rot="16200000">
            <a:off x="5653653" y="136731"/>
            <a:ext cx="2757272" cy="3769686"/>
          </a:xfrm>
          <a:prstGeom prst="rect">
            <a:avLst/>
          </a:prstGeom>
          <a:noFill/>
        </p:spPr>
        <p:txBody>
          <a:bodyPr wrap="square">
            <a:spAutoFit/>
          </a:bodyPr>
          <a:lstStyle/>
          <a:p>
            <a:pPr>
              <a:buNone/>
            </a:pPr>
            <a:r>
              <a:rPr lang="en-GB" sz="1138" b="1" dirty="0"/>
              <a:t>🔴 GROUP 4</a:t>
            </a:r>
          </a:p>
          <a:p>
            <a:pPr>
              <a:buNone/>
            </a:pPr>
            <a:r>
              <a:rPr lang="en-GB" sz="1138" dirty="0"/>
              <a:t>Cases:</a:t>
            </a:r>
            <a:br>
              <a:rPr lang="en-GB" sz="1138" dirty="0"/>
            </a:br>
            <a:r>
              <a:rPr lang="en-GB" sz="1138" dirty="0"/>
              <a:t>5 (Mann–Whitney)</a:t>
            </a:r>
            <a:br>
              <a:rPr lang="en-GB" sz="1138" dirty="0"/>
            </a:br>
            <a:r>
              <a:rPr lang="en-GB" sz="1138" dirty="0"/>
              <a:t>8 (ANOVA)</a:t>
            </a:r>
            <a:br>
              <a:rPr lang="en-GB" sz="1138" dirty="0"/>
            </a:br>
            <a:r>
              <a:rPr lang="en-GB" sz="1138" dirty="0"/>
              <a:t>12 (Multiplication rule probability)</a:t>
            </a:r>
          </a:p>
          <a:p>
            <a:pPr>
              <a:buNone/>
            </a:pPr>
            <a:endParaRPr lang="en-GB" sz="1138" dirty="0"/>
          </a:p>
          <a:p>
            <a:pPr>
              <a:buNone/>
            </a:pPr>
            <a:r>
              <a:rPr lang="en-GB" sz="1138" dirty="0"/>
              <a:t>Tools:</a:t>
            </a:r>
            <a:br>
              <a:rPr lang="en-GB" sz="1138" dirty="0"/>
            </a:br>
            <a:r>
              <a:rPr lang="en-GB" sz="1138" dirty="0"/>
              <a:t>4 (Welch t-test)</a:t>
            </a:r>
            <a:br>
              <a:rPr lang="en-GB" sz="1138" dirty="0"/>
            </a:br>
            <a:r>
              <a:rPr lang="en-GB" sz="1138" dirty="0"/>
              <a:t>7 (Chi-square independence)</a:t>
            </a:r>
            <a:br>
              <a:rPr lang="en-GB" sz="1138" dirty="0"/>
            </a:br>
            <a:r>
              <a:rPr lang="en-GB" sz="1138" dirty="0"/>
              <a:t>10 (Addition rule)</a:t>
            </a:r>
          </a:p>
          <a:p>
            <a:pPr>
              <a:buNone/>
            </a:pPr>
            <a:endParaRPr lang="en-GB" sz="1138" dirty="0"/>
          </a:p>
          <a:p>
            <a:pPr>
              <a:buNone/>
            </a:pPr>
            <a:r>
              <a:rPr lang="en-GB" sz="1138" dirty="0"/>
              <a:t>Visualisations:</a:t>
            </a:r>
            <a:br>
              <a:rPr lang="en-GB" sz="1138" dirty="0"/>
            </a:br>
            <a:r>
              <a:rPr lang="en-GB" sz="1138" dirty="0"/>
              <a:t>5 (Boxplot skewed)</a:t>
            </a:r>
            <a:br>
              <a:rPr lang="en-GB" sz="1138" dirty="0"/>
            </a:br>
            <a:r>
              <a:rPr lang="en-GB" sz="1138" dirty="0"/>
              <a:t>8 (Boxplot &gt;2 groups)</a:t>
            </a:r>
            <a:br>
              <a:rPr lang="en-GB" sz="1138" dirty="0"/>
            </a:br>
            <a:r>
              <a:rPr lang="en-GB" sz="1138" dirty="0"/>
              <a:t>9 (Binomial PMF)</a:t>
            </a:r>
          </a:p>
          <a:p>
            <a:pPr>
              <a:buNone/>
            </a:pPr>
            <a:endParaRPr lang="en-GB" sz="1138" dirty="0"/>
          </a:p>
          <a:p>
            <a:pPr>
              <a:buNone/>
            </a:pPr>
            <a:r>
              <a:rPr lang="en-GB" sz="1138" dirty="0"/>
              <a:t>This group initially has ZERO direct matches.</a:t>
            </a:r>
            <a:br>
              <a:rPr lang="en-GB" sz="1138" dirty="0"/>
            </a:br>
            <a:r>
              <a:rPr lang="en-GB" sz="1138" dirty="0"/>
              <a:t>They must rely entirely on reasoning + checking other groups.</a:t>
            </a:r>
          </a:p>
          <a:p>
            <a:pPr>
              <a:buNone/>
            </a:pPr>
            <a:r>
              <a:rPr lang="en-GB" sz="1138" dirty="0"/>
              <a:t>This creates asymmetry — which is good.</a:t>
            </a:r>
          </a:p>
        </p:txBody>
      </p:sp>
    </p:spTree>
    <p:extLst>
      <p:ext uri="{BB962C8B-B14F-4D97-AF65-F5344CB8AC3E}">
        <p14:creationId xmlns:p14="http://schemas.microsoft.com/office/powerpoint/2010/main" val="16277793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0A79D7-4D34-31F9-3547-CFAC8FB69716}"/>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E1E860E0-1592-A8BB-25F4-8F8A117BB127}"/>
              </a:ext>
            </a:extLst>
          </p:cNvPr>
          <p:cNvPicPr>
            <a:picLocks noChangeAspect="1"/>
          </p:cNvPicPr>
          <p:nvPr/>
        </p:nvPicPr>
        <p:blipFill>
          <a:blip r:embed="rId3"/>
          <a:srcRect t="16876"/>
          <a:stretch>
            <a:fillRect/>
          </a:stretch>
        </p:blipFill>
        <p:spPr>
          <a:xfrm>
            <a:off x="3138828" y="1930126"/>
            <a:ext cx="7074076" cy="3205615"/>
          </a:xfrm>
          <a:prstGeom prst="rect">
            <a:avLst/>
          </a:prstGeom>
        </p:spPr>
      </p:pic>
      <p:sp>
        <p:nvSpPr>
          <p:cNvPr id="14" name="TextBox 13">
            <a:extLst>
              <a:ext uri="{FF2B5EF4-FFF2-40B4-BE49-F238E27FC236}">
                <a16:creationId xmlns:a16="http://schemas.microsoft.com/office/drawing/2014/main" id="{BE3AB2E1-CABC-95F8-BBCC-6534A6B5BA8A}"/>
              </a:ext>
            </a:extLst>
          </p:cNvPr>
          <p:cNvSpPr txBox="1"/>
          <p:nvPr/>
        </p:nvSpPr>
        <p:spPr>
          <a:xfrm>
            <a:off x="152400" y="1029705"/>
            <a:ext cx="9601200" cy="392415"/>
          </a:xfrm>
          <a:prstGeom prst="rect">
            <a:avLst/>
          </a:prstGeom>
          <a:noFill/>
        </p:spPr>
        <p:txBody>
          <a:bodyPr wrap="square">
            <a:spAutoFit/>
          </a:bodyPr>
          <a:lstStyle/>
          <a:p>
            <a:r>
              <a:rPr lang="en-GB" sz="1950" dirty="0">
                <a:latin typeface="Cascadia Code" panose="020B0609020000020004" pitchFamily="49" charset="0"/>
                <a:ea typeface="Cascadia Code" panose="020B0609020000020004" pitchFamily="49" charset="0"/>
                <a:cs typeface="Cascadia Code" panose="020B0609020000020004" pitchFamily="49" charset="0"/>
              </a:rPr>
              <a:t>Are you calculating a probability or analysing collected data?</a:t>
            </a:r>
          </a:p>
        </p:txBody>
      </p:sp>
      <p:pic>
        <p:nvPicPr>
          <p:cNvPr id="24" name="Picture 23">
            <a:extLst>
              <a:ext uri="{FF2B5EF4-FFF2-40B4-BE49-F238E27FC236}">
                <a16:creationId xmlns:a16="http://schemas.microsoft.com/office/drawing/2014/main" id="{282DA3D0-A073-4C46-E6D5-2214B99EAF97}"/>
              </a:ext>
            </a:extLst>
          </p:cNvPr>
          <p:cNvPicPr>
            <a:picLocks noChangeAspect="1"/>
          </p:cNvPicPr>
          <p:nvPr/>
        </p:nvPicPr>
        <p:blipFill>
          <a:blip r:embed="rId4"/>
          <a:stretch>
            <a:fillRect/>
          </a:stretch>
        </p:blipFill>
        <p:spPr>
          <a:xfrm>
            <a:off x="31955" y="1826193"/>
            <a:ext cx="3297119" cy="3205615"/>
          </a:xfrm>
          <a:prstGeom prst="rect">
            <a:avLst/>
          </a:prstGeom>
        </p:spPr>
      </p:pic>
      <p:pic>
        <p:nvPicPr>
          <p:cNvPr id="25" name="Picture 24">
            <a:extLst>
              <a:ext uri="{FF2B5EF4-FFF2-40B4-BE49-F238E27FC236}">
                <a16:creationId xmlns:a16="http://schemas.microsoft.com/office/drawing/2014/main" id="{9B334E55-BD69-2EFE-4D23-C9F5D88CBFCA}"/>
              </a:ext>
            </a:extLst>
          </p:cNvPr>
          <p:cNvPicPr>
            <a:picLocks noChangeAspect="1"/>
          </p:cNvPicPr>
          <p:nvPr/>
        </p:nvPicPr>
        <p:blipFill>
          <a:blip r:embed="rId3"/>
          <a:srcRect r="78772" b="93484"/>
          <a:stretch>
            <a:fillRect/>
          </a:stretch>
        </p:blipFill>
        <p:spPr>
          <a:xfrm>
            <a:off x="3329074" y="1722260"/>
            <a:ext cx="1501661" cy="251278"/>
          </a:xfrm>
          <a:prstGeom prst="rect">
            <a:avLst/>
          </a:prstGeom>
        </p:spPr>
      </p:pic>
    </p:spTree>
    <p:extLst>
      <p:ext uri="{BB962C8B-B14F-4D97-AF65-F5344CB8AC3E}">
        <p14:creationId xmlns:p14="http://schemas.microsoft.com/office/powerpoint/2010/main" val="15438348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381158-EB67-EB17-22B7-FDD12D99D61B}"/>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63513EBF-4B3A-21CD-FCB6-99BE7AC2489A}"/>
              </a:ext>
            </a:extLst>
          </p:cNvPr>
          <p:cNvPicPr>
            <a:picLocks noChangeAspect="1"/>
          </p:cNvPicPr>
          <p:nvPr/>
        </p:nvPicPr>
        <p:blipFill>
          <a:blip r:embed="rId3"/>
          <a:srcRect t="16876"/>
          <a:stretch>
            <a:fillRect/>
          </a:stretch>
        </p:blipFill>
        <p:spPr>
          <a:xfrm>
            <a:off x="3138828" y="1930126"/>
            <a:ext cx="7074076" cy="3205615"/>
          </a:xfrm>
          <a:prstGeom prst="rect">
            <a:avLst/>
          </a:prstGeom>
        </p:spPr>
      </p:pic>
      <p:sp>
        <p:nvSpPr>
          <p:cNvPr id="14" name="TextBox 13">
            <a:extLst>
              <a:ext uri="{FF2B5EF4-FFF2-40B4-BE49-F238E27FC236}">
                <a16:creationId xmlns:a16="http://schemas.microsoft.com/office/drawing/2014/main" id="{03AADEC7-3717-6927-AF98-F0BB5327ADE7}"/>
              </a:ext>
            </a:extLst>
          </p:cNvPr>
          <p:cNvSpPr txBox="1"/>
          <p:nvPr/>
        </p:nvSpPr>
        <p:spPr>
          <a:xfrm>
            <a:off x="152400" y="1029705"/>
            <a:ext cx="9601200" cy="392415"/>
          </a:xfrm>
          <a:prstGeom prst="rect">
            <a:avLst/>
          </a:prstGeom>
          <a:noFill/>
        </p:spPr>
        <p:txBody>
          <a:bodyPr wrap="square">
            <a:spAutoFit/>
          </a:bodyPr>
          <a:lstStyle/>
          <a:p>
            <a:r>
              <a:rPr lang="en-GB" sz="1950" dirty="0">
                <a:latin typeface="Cascadia Code" panose="020B0609020000020004" pitchFamily="49" charset="0"/>
                <a:ea typeface="Cascadia Code" panose="020B0609020000020004" pitchFamily="49" charset="0"/>
                <a:cs typeface="Cascadia Code" panose="020B0609020000020004" pitchFamily="49" charset="0"/>
              </a:rPr>
              <a:t>Are you calculating a probability or analysing collected data?</a:t>
            </a:r>
          </a:p>
        </p:txBody>
      </p:sp>
      <p:pic>
        <p:nvPicPr>
          <p:cNvPr id="24" name="Picture 23">
            <a:extLst>
              <a:ext uri="{FF2B5EF4-FFF2-40B4-BE49-F238E27FC236}">
                <a16:creationId xmlns:a16="http://schemas.microsoft.com/office/drawing/2014/main" id="{149B73D0-5DAF-5B3B-E933-CD71335C2E36}"/>
              </a:ext>
            </a:extLst>
          </p:cNvPr>
          <p:cNvPicPr>
            <a:picLocks noChangeAspect="1"/>
          </p:cNvPicPr>
          <p:nvPr/>
        </p:nvPicPr>
        <p:blipFill>
          <a:blip r:embed="rId4"/>
          <a:stretch>
            <a:fillRect/>
          </a:stretch>
        </p:blipFill>
        <p:spPr>
          <a:xfrm>
            <a:off x="31955" y="1826193"/>
            <a:ext cx="3297119" cy="3205615"/>
          </a:xfrm>
          <a:prstGeom prst="rect">
            <a:avLst/>
          </a:prstGeom>
        </p:spPr>
      </p:pic>
      <p:pic>
        <p:nvPicPr>
          <p:cNvPr id="25" name="Picture 24">
            <a:extLst>
              <a:ext uri="{FF2B5EF4-FFF2-40B4-BE49-F238E27FC236}">
                <a16:creationId xmlns:a16="http://schemas.microsoft.com/office/drawing/2014/main" id="{7FB1A068-1C44-AC7F-83E1-F7597C4BE65F}"/>
              </a:ext>
            </a:extLst>
          </p:cNvPr>
          <p:cNvPicPr>
            <a:picLocks noChangeAspect="1"/>
          </p:cNvPicPr>
          <p:nvPr/>
        </p:nvPicPr>
        <p:blipFill>
          <a:blip r:embed="rId3"/>
          <a:srcRect r="78772" b="93484"/>
          <a:stretch>
            <a:fillRect/>
          </a:stretch>
        </p:blipFill>
        <p:spPr>
          <a:xfrm>
            <a:off x="3329074" y="1722260"/>
            <a:ext cx="1501661" cy="251278"/>
          </a:xfrm>
          <a:prstGeom prst="rect">
            <a:avLst/>
          </a:prstGeom>
        </p:spPr>
      </p:pic>
    </p:spTree>
    <p:extLst>
      <p:ext uri="{BB962C8B-B14F-4D97-AF65-F5344CB8AC3E}">
        <p14:creationId xmlns:p14="http://schemas.microsoft.com/office/powerpoint/2010/main" val="3156090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0B716A-BF9E-0015-0F2F-78120812CC33}"/>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9E030681-DE42-0A2B-7592-461987DA0D3C}"/>
              </a:ext>
            </a:extLst>
          </p:cNvPr>
          <p:cNvPicPr>
            <a:picLocks noChangeAspect="1"/>
          </p:cNvPicPr>
          <p:nvPr/>
        </p:nvPicPr>
        <p:blipFill>
          <a:blip r:embed="rId3"/>
          <a:srcRect t="16876"/>
          <a:stretch>
            <a:fillRect/>
          </a:stretch>
        </p:blipFill>
        <p:spPr>
          <a:xfrm>
            <a:off x="3138828" y="1930126"/>
            <a:ext cx="7074076" cy="3205615"/>
          </a:xfrm>
          <a:prstGeom prst="rect">
            <a:avLst/>
          </a:prstGeom>
        </p:spPr>
      </p:pic>
      <p:sp>
        <p:nvSpPr>
          <p:cNvPr id="14" name="TextBox 13">
            <a:extLst>
              <a:ext uri="{FF2B5EF4-FFF2-40B4-BE49-F238E27FC236}">
                <a16:creationId xmlns:a16="http://schemas.microsoft.com/office/drawing/2014/main" id="{3E83E161-2306-A70B-5445-FD0A6DEA3091}"/>
              </a:ext>
            </a:extLst>
          </p:cNvPr>
          <p:cNvSpPr txBox="1"/>
          <p:nvPr/>
        </p:nvSpPr>
        <p:spPr>
          <a:xfrm>
            <a:off x="152400" y="1029705"/>
            <a:ext cx="9601200" cy="392415"/>
          </a:xfrm>
          <a:prstGeom prst="rect">
            <a:avLst/>
          </a:prstGeom>
          <a:noFill/>
        </p:spPr>
        <p:txBody>
          <a:bodyPr wrap="square">
            <a:spAutoFit/>
          </a:bodyPr>
          <a:lstStyle/>
          <a:p>
            <a:r>
              <a:rPr lang="en-GB" sz="1950" dirty="0">
                <a:latin typeface="Cascadia Code" panose="020B0609020000020004" pitchFamily="49" charset="0"/>
                <a:ea typeface="Cascadia Code" panose="020B0609020000020004" pitchFamily="49" charset="0"/>
                <a:cs typeface="Cascadia Code" panose="020B0609020000020004" pitchFamily="49" charset="0"/>
              </a:rPr>
              <a:t>Are you calculating a probability or analysing collected data?</a:t>
            </a:r>
          </a:p>
        </p:txBody>
      </p:sp>
      <p:pic>
        <p:nvPicPr>
          <p:cNvPr id="24" name="Picture 23">
            <a:extLst>
              <a:ext uri="{FF2B5EF4-FFF2-40B4-BE49-F238E27FC236}">
                <a16:creationId xmlns:a16="http://schemas.microsoft.com/office/drawing/2014/main" id="{EE83D536-A861-7A1A-E805-DCAA28B51211}"/>
              </a:ext>
            </a:extLst>
          </p:cNvPr>
          <p:cNvPicPr>
            <a:picLocks noChangeAspect="1"/>
          </p:cNvPicPr>
          <p:nvPr/>
        </p:nvPicPr>
        <p:blipFill>
          <a:blip r:embed="rId4"/>
          <a:stretch>
            <a:fillRect/>
          </a:stretch>
        </p:blipFill>
        <p:spPr>
          <a:xfrm>
            <a:off x="31955" y="1826193"/>
            <a:ext cx="3297119" cy="3205615"/>
          </a:xfrm>
          <a:prstGeom prst="rect">
            <a:avLst/>
          </a:prstGeom>
        </p:spPr>
      </p:pic>
      <p:pic>
        <p:nvPicPr>
          <p:cNvPr id="25" name="Picture 24">
            <a:extLst>
              <a:ext uri="{FF2B5EF4-FFF2-40B4-BE49-F238E27FC236}">
                <a16:creationId xmlns:a16="http://schemas.microsoft.com/office/drawing/2014/main" id="{36D71250-89A0-660F-CDD4-A7A3B1E52305}"/>
              </a:ext>
            </a:extLst>
          </p:cNvPr>
          <p:cNvPicPr>
            <a:picLocks noChangeAspect="1"/>
          </p:cNvPicPr>
          <p:nvPr/>
        </p:nvPicPr>
        <p:blipFill>
          <a:blip r:embed="rId3"/>
          <a:srcRect r="78772" b="93484"/>
          <a:stretch>
            <a:fillRect/>
          </a:stretch>
        </p:blipFill>
        <p:spPr>
          <a:xfrm>
            <a:off x="3329074" y="1722260"/>
            <a:ext cx="1501661" cy="251278"/>
          </a:xfrm>
          <a:prstGeom prst="rect">
            <a:avLst/>
          </a:prstGeom>
        </p:spPr>
      </p:pic>
    </p:spTree>
    <p:extLst>
      <p:ext uri="{BB962C8B-B14F-4D97-AF65-F5344CB8AC3E}">
        <p14:creationId xmlns:p14="http://schemas.microsoft.com/office/powerpoint/2010/main" val="274007593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F84970-A7EC-C342-307B-096757388618}"/>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CFFF52A4-A6F5-E34F-9F92-9947AB372711}"/>
              </a:ext>
            </a:extLst>
          </p:cNvPr>
          <p:cNvPicPr>
            <a:picLocks noChangeAspect="1"/>
          </p:cNvPicPr>
          <p:nvPr/>
        </p:nvPicPr>
        <p:blipFill>
          <a:blip r:embed="rId3"/>
          <a:srcRect t="16876"/>
          <a:stretch>
            <a:fillRect/>
          </a:stretch>
        </p:blipFill>
        <p:spPr>
          <a:xfrm>
            <a:off x="3138828" y="1930126"/>
            <a:ext cx="7074076" cy="3205615"/>
          </a:xfrm>
          <a:prstGeom prst="rect">
            <a:avLst/>
          </a:prstGeom>
        </p:spPr>
      </p:pic>
      <p:sp>
        <p:nvSpPr>
          <p:cNvPr id="14" name="TextBox 13">
            <a:extLst>
              <a:ext uri="{FF2B5EF4-FFF2-40B4-BE49-F238E27FC236}">
                <a16:creationId xmlns:a16="http://schemas.microsoft.com/office/drawing/2014/main" id="{CF769D1D-8A78-2BDA-6EFB-973D192A677D}"/>
              </a:ext>
            </a:extLst>
          </p:cNvPr>
          <p:cNvSpPr txBox="1"/>
          <p:nvPr/>
        </p:nvSpPr>
        <p:spPr>
          <a:xfrm>
            <a:off x="152400" y="1029705"/>
            <a:ext cx="9601200" cy="392415"/>
          </a:xfrm>
          <a:prstGeom prst="rect">
            <a:avLst/>
          </a:prstGeom>
          <a:noFill/>
        </p:spPr>
        <p:txBody>
          <a:bodyPr wrap="square">
            <a:spAutoFit/>
          </a:bodyPr>
          <a:lstStyle/>
          <a:p>
            <a:r>
              <a:rPr lang="en-GB" sz="1950" dirty="0">
                <a:latin typeface="Cascadia Code" panose="020B0609020000020004" pitchFamily="49" charset="0"/>
                <a:ea typeface="Cascadia Code" panose="020B0609020000020004" pitchFamily="49" charset="0"/>
                <a:cs typeface="Cascadia Code" panose="020B0609020000020004" pitchFamily="49" charset="0"/>
              </a:rPr>
              <a:t>Are you calculating a probability or analysing collected data?</a:t>
            </a:r>
          </a:p>
        </p:txBody>
      </p:sp>
      <p:pic>
        <p:nvPicPr>
          <p:cNvPr id="24" name="Picture 23">
            <a:extLst>
              <a:ext uri="{FF2B5EF4-FFF2-40B4-BE49-F238E27FC236}">
                <a16:creationId xmlns:a16="http://schemas.microsoft.com/office/drawing/2014/main" id="{D75A0DCC-4656-DD0D-A274-2B33F9794412}"/>
              </a:ext>
            </a:extLst>
          </p:cNvPr>
          <p:cNvPicPr>
            <a:picLocks noChangeAspect="1"/>
          </p:cNvPicPr>
          <p:nvPr/>
        </p:nvPicPr>
        <p:blipFill>
          <a:blip r:embed="rId4"/>
          <a:stretch>
            <a:fillRect/>
          </a:stretch>
        </p:blipFill>
        <p:spPr>
          <a:xfrm>
            <a:off x="31955" y="1826193"/>
            <a:ext cx="3297119" cy="3205615"/>
          </a:xfrm>
          <a:prstGeom prst="rect">
            <a:avLst/>
          </a:prstGeom>
        </p:spPr>
      </p:pic>
      <p:pic>
        <p:nvPicPr>
          <p:cNvPr id="25" name="Picture 24">
            <a:extLst>
              <a:ext uri="{FF2B5EF4-FFF2-40B4-BE49-F238E27FC236}">
                <a16:creationId xmlns:a16="http://schemas.microsoft.com/office/drawing/2014/main" id="{5E8755C2-D231-328C-48D2-3F0AABAC22D7}"/>
              </a:ext>
            </a:extLst>
          </p:cNvPr>
          <p:cNvPicPr>
            <a:picLocks noChangeAspect="1"/>
          </p:cNvPicPr>
          <p:nvPr/>
        </p:nvPicPr>
        <p:blipFill>
          <a:blip r:embed="rId3"/>
          <a:srcRect r="78772" b="93484"/>
          <a:stretch>
            <a:fillRect/>
          </a:stretch>
        </p:blipFill>
        <p:spPr>
          <a:xfrm>
            <a:off x="3329074" y="1722260"/>
            <a:ext cx="1501661" cy="251278"/>
          </a:xfrm>
          <a:prstGeom prst="rect">
            <a:avLst/>
          </a:prstGeom>
        </p:spPr>
      </p:pic>
    </p:spTree>
    <p:extLst>
      <p:ext uri="{BB962C8B-B14F-4D97-AF65-F5344CB8AC3E}">
        <p14:creationId xmlns:p14="http://schemas.microsoft.com/office/powerpoint/2010/main" val="93523632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396</TotalTime>
  <Words>3474</Words>
  <Application>Microsoft Office PowerPoint</Application>
  <PresentationFormat>A4 Paper (210x297 mm)</PresentationFormat>
  <Paragraphs>335</Paragraphs>
  <Slides>32</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32</vt:i4>
      </vt:variant>
    </vt:vector>
  </HeadingPairs>
  <TitlesOfParts>
    <vt:vector size="38" baseType="lpstr">
      <vt:lpstr>Aptos</vt:lpstr>
      <vt:lpstr>Aptos Display</vt:lpstr>
      <vt:lpstr>Aptos Narrow</vt:lpstr>
      <vt:lpstr>Arial</vt:lpstr>
      <vt:lpstr>Cascadia Code</vt:lpstr>
      <vt:lpstr>Office Theme</vt:lpstr>
      <vt:lpstr>Horses for courses The Game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Erola Fenollosa Romani</dc:creator>
  <cp:lastModifiedBy>Erola Fenollosa Romani</cp:lastModifiedBy>
  <cp:revision>35</cp:revision>
  <cp:lastPrinted>2026-03-03T18:46:38Z</cp:lastPrinted>
  <dcterms:created xsi:type="dcterms:W3CDTF">2026-03-02T21:35:38Z</dcterms:created>
  <dcterms:modified xsi:type="dcterms:W3CDTF">2026-03-04T15:13:23Z</dcterms:modified>
</cp:coreProperties>
</file>